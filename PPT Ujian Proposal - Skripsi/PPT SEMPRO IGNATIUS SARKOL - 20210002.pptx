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0" r:id="rId2"/>
    <p:sldId id="256" r:id="rId3"/>
    <p:sldId id="280" r:id="rId4"/>
    <p:sldId id="274" r:id="rId5"/>
    <p:sldId id="275" r:id="rId6"/>
    <p:sldId id="276" r:id="rId7"/>
    <p:sldId id="299" r:id="rId8"/>
    <p:sldId id="278" r:id="rId9"/>
    <p:sldId id="285" r:id="rId10"/>
    <p:sldId id="29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nu" id="{7C1E8890-FA89-4067-8127-B126D3414730}">
          <p14:sldIdLst>
            <p14:sldId id="290"/>
            <p14:sldId id="256"/>
          </p14:sldIdLst>
        </p14:section>
        <p14:section name="BAB I" id="{1844FD13-8DFC-47AB-8652-9078CDDAC569}">
          <p14:sldIdLst>
            <p14:sldId id="280"/>
            <p14:sldId id="274"/>
            <p14:sldId id="275"/>
            <p14:sldId id="276"/>
            <p14:sldId id="299"/>
          </p14:sldIdLst>
        </p14:section>
        <p14:section name="BAB II" id="{849D6138-0935-4144-908D-EF2606140EC7}">
          <p14:sldIdLst>
            <p14:sldId id="278"/>
          </p14:sldIdLst>
        </p14:section>
        <p14:section name="BAB III" id="{EBD0E867-329D-4F52-BFF4-9BD7F77BC775}">
          <p14:sldIdLst>
            <p14:sldId id="285"/>
          </p14:sldIdLst>
        </p14:section>
        <p14:section name="Terimakasih" id="{F98DBA9D-3642-4931-AA09-BCE1BB87C450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464"/>
    <a:srgbClr val="E8AA42"/>
    <a:srgbClr val="00425A"/>
    <a:srgbClr val="E57C23"/>
    <a:srgbClr val="B32B2B"/>
    <a:srgbClr val="FDE7E0"/>
    <a:srgbClr val="C62F30"/>
    <a:srgbClr val="EB5C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195" autoAdjust="0"/>
  </p:normalViewPr>
  <p:slideViewPr>
    <p:cSldViewPr snapToGrid="0">
      <p:cViewPr varScale="1">
        <p:scale>
          <a:sx n="70" d="100"/>
          <a:sy n="70" d="100"/>
        </p:scale>
        <p:origin x="642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5E5143-DE56-F7A3-836A-6AC9827289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D"/>
              <a:t>BAB 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4FC60-B304-658B-9114-D3C403006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C4390-5395-4C26-ADC8-DA2722844EE7}" type="datetimeFigureOut">
              <a:rPr lang="en-ID" smtClean="0"/>
              <a:t>24/06/2024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472FA-FF5E-50AE-E738-1B9A1976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72808-3BC5-7A12-EA50-A47B89AFF7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5D436-7B9E-4B71-911E-42FCB3AC13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65196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D"/>
              <a:t>BAB 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170D0-3263-4DC4-9A60-CA5BAF3ADBB3}" type="datetimeFigureOut">
              <a:rPr lang="en-ID" smtClean="0"/>
              <a:t>24/06/2024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041C6-9854-43EF-94AF-B68287E8063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38830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Perkembangan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teknologi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informasi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pada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saat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mengalami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kemajuan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pesat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berbagai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sektor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kehidupan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Salah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satunya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Pada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sektor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pendidikan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sebagian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besar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perguruan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tinggi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baik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negeri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maupun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swasta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mulai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menerapkan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penggunaan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teknologi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informasi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mendukung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jalannya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berbagai</a:t>
            </a:r>
            <a:r>
              <a:rPr lang="en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aktivitas</a:t>
            </a:r>
            <a:endParaRPr lang="en-ID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 indent="-228600">
              <a:buAutoNum type="arabicPeriod"/>
            </a:pPr>
            <a:endParaRPr lang="en-ID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 indent="-228600">
              <a:buAutoNum type="arabicPeriod"/>
            </a:pPr>
            <a:r>
              <a:rPr lang="en-ID" b="1" dirty="0" err="1"/>
              <a:t>Pemantauan</a:t>
            </a:r>
            <a:r>
              <a:rPr lang="en-ID" b="1" dirty="0"/>
              <a:t> </a:t>
            </a:r>
            <a:r>
              <a:rPr lang="en-ID" b="1" dirty="0" err="1"/>
              <a:t>kegiatan</a:t>
            </a:r>
            <a:r>
              <a:rPr lang="en-ID" b="1" dirty="0"/>
              <a:t> </a:t>
            </a:r>
            <a:r>
              <a:rPr lang="en-ID" b="1" dirty="0" err="1"/>
              <a:t>akademik</a:t>
            </a:r>
            <a:r>
              <a:rPr lang="en-ID" b="1" dirty="0"/>
              <a:t> </a:t>
            </a:r>
            <a:r>
              <a:rPr lang="en-ID" b="1" dirty="0" err="1"/>
              <a:t>mahasiswa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penyelesaian</a:t>
            </a:r>
            <a:r>
              <a:rPr lang="en-ID" b="1" dirty="0"/>
              <a:t> </a:t>
            </a:r>
            <a:r>
              <a:rPr lang="en-ID" b="1" dirty="0" err="1"/>
              <a:t>skripsi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Pemantauan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sangatlah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,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skripsi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masa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.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pelacakan</a:t>
            </a:r>
            <a:r>
              <a:rPr lang="en-ID" dirty="0"/>
              <a:t> </a:t>
            </a:r>
            <a:r>
              <a:rPr lang="en-ID" dirty="0" err="1"/>
              <a:t>progres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,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umpan</a:t>
            </a:r>
            <a:r>
              <a:rPr lang="en-ID" dirty="0"/>
              <a:t> </a:t>
            </a:r>
            <a:r>
              <a:rPr lang="en-ID" dirty="0" err="1"/>
              <a:t>balik</a:t>
            </a:r>
            <a:r>
              <a:rPr lang="en-ID" dirty="0"/>
              <a:t> yang </a:t>
            </a:r>
            <a:r>
              <a:rPr lang="en-ID" dirty="0" err="1"/>
              <a:t>konstruktif</a:t>
            </a:r>
            <a:r>
              <a:rPr lang="en-ID" dirty="0"/>
              <a:t>, dan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dukungan</a:t>
            </a:r>
            <a:r>
              <a:rPr lang="en-ID" dirty="0"/>
              <a:t> yang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mengatasi</a:t>
            </a:r>
            <a:r>
              <a:rPr lang="en-ID" dirty="0"/>
              <a:t> </a:t>
            </a:r>
            <a:r>
              <a:rPr lang="en-ID" dirty="0" err="1"/>
              <a:t>hambatan</a:t>
            </a:r>
            <a:r>
              <a:rPr lang="en-ID" dirty="0"/>
              <a:t>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dihadapi</a:t>
            </a:r>
            <a:r>
              <a:rPr lang="en-ID" dirty="0"/>
              <a:t> oleh </a:t>
            </a:r>
            <a:r>
              <a:rPr lang="en-ID" dirty="0" err="1"/>
              <a:t>mahasiswa</a:t>
            </a:r>
            <a:r>
              <a:rPr lang="en-ID" dirty="0"/>
              <a:t>.</a:t>
            </a:r>
          </a:p>
          <a:p>
            <a:pPr marL="228600" indent="-228600">
              <a:buAutoNum type="arabicPeriod"/>
            </a:pPr>
            <a:endParaRPr lang="en-ID" b="0" dirty="0"/>
          </a:p>
          <a:p>
            <a:pPr marL="228600" indent="-228600">
              <a:buAutoNum type="arabicPeriod"/>
            </a:pPr>
            <a:r>
              <a:rPr lang="en-ID" b="1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adanya</a:t>
            </a:r>
            <a:r>
              <a:rPr lang="en-ID" b="1" dirty="0"/>
              <a:t> data yang </a:t>
            </a:r>
            <a:r>
              <a:rPr lang="en-ID" b="1" dirty="0" err="1"/>
              <a:t>lengkap</a:t>
            </a:r>
            <a:r>
              <a:rPr lang="en-ID" b="1" dirty="0"/>
              <a:t> dan </a:t>
            </a:r>
            <a:r>
              <a:rPr lang="en-ID" b="1" dirty="0" err="1"/>
              <a:t>terstruktur</a:t>
            </a:r>
            <a:r>
              <a:rPr lang="en-ID" b="1" dirty="0"/>
              <a:t>: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sejauh</a:t>
            </a:r>
            <a:r>
              <a:rPr lang="en-ID" dirty="0"/>
              <a:t> mana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bimbingan</a:t>
            </a:r>
            <a:r>
              <a:rPr lang="en-ID" dirty="0"/>
              <a:t> </a:t>
            </a:r>
            <a:r>
              <a:rPr lang="en-ID" dirty="0" err="1"/>
              <a:t>skripsi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data yang </a:t>
            </a:r>
            <a:r>
              <a:rPr lang="en-ID" dirty="0" err="1"/>
              <a:t>lengkap</a:t>
            </a:r>
            <a:r>
              <a:rPr lang="en-ID" dirty="0"/>
              <a:t> dan </a:t>
            </a:r>
            <a:r>
              <a:rPr lang="en-ID" dirty="0" err="1"/>
              <a:t>terstruktur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progres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skripsi</a:t>
            </a:r>
            <a:r>
              <a:rPr lang="en-ID" dirty="0"/>
              <a:t>. Data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teratur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menghambat</a:t>
            </a:r>
            <a:r>
              <a:rPr lang="en-ID" dirty="0"/>
              <a:t> proses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pemantauan</a:t>
            </a:r>
            <a:r>
              <a:rPr lang="en-ID" dirty="0"/>
              <a:t> dan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akurat</a:t>
            </a:r>
            <a:r>
              <a:rPr lang="en-ID" dirty="0"/>
              <a:t>.</a:t>
            </a:r>
          </a:p>
          <a:p>
            <a:pPr marL="228600" indent="-228600">
              <a:buAutoNum type="arabicPeriod"/>
            </a:pPr>
            <a:endParaRPr lang="en-ID" dirty="0"/>
          </a:p>
          <a:p>
            <a:pPr marL="228600" indent="-228600">
              <a:buAutoNum type="arabicPeriod"/>
            </a:pPr>
            <a:r>
              <a:rPr lang="en-ID" b="1" dirty="0" err="1"/>
              <a:t>Pertemuan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rangka</a:t>
            </a:r>
            <a:r>
              <a:rPr lang="en-ID" b="1" dirty="0"/>
              <a:t> </a:t>
            </a:r>
            <a:r>
              <a:rPr lang="en-ID" b="1" dirty="0" err="1"/>
              <a:t>bimbingan</a:t>
            </a:r>
            <a:r>
              <a:rPr lang="en-ID" b="1" dirty="0"/>
              <a:t> </a:t>
            </a:r>
            <a:r>
              <a:rPr lang="en-ID" b="1" dirty="0" err="1"/>
              <a:t>antara</a:t>
            </a:r>
            <a:r>
              <a:rPr lang="en-ID" b="1" dirty="0"/>
              <a:t> </a:t>
            </a:r>
            <a:r>
              <a:rPr lang="en-ID" b="1" dirty="0" err="1"/>
              <a:t>mahasiswa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dosen</a:t>
            </a:r>
            <a:r>
              <a:rPr lang="en-ID" b="1" dirty="0"/>
              <a:t> </a:t>
            </a:r>
            <a:r>
              <a:rPr lang="en-ID" b="1" dirty="0" err="1"/>
              <a:t>seringkali</a:t>
            </a:r>
            <a:r>
              <a:rPr lang="en-ID" b="1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terlaksana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Pertemuan</a:t>
            </a:r>
            <a:r>
              <a:rPr lang="en-ID" dirty="0"/>
              <a:t> </a:t>
            </a:r>
            <a:r>
              <a:rPr lang="en-ID" dirty="0" err="1"/>
              <a:t>bimbingan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dan </a:t>
            </a:r>
            <a:r>
              <a:rPr lang="en-ID" dirty="0" err="1"/>
              <a:t>dosen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terlaksana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hambatan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proses </a:t>
            </a:r>
            <a:r>
              <a:rPr lang="en-ID" dirty="0" err="1"/>
              <a:t>penyelesaian</a:t>
            </a:r>
            <a:r>
              <a:rPr lang="en-ID" dirty="0"/>
              <a:t> </a:t>
            </a:r>
            <a:r>
              <a:rPr lang="en-ID" dirty="0" err="1"/>
              <a:t>skripsi</a:t>
            </a:r>
            <a:r>
              <a:rPr lang="en-ID" dirty="0"/>
              <a:t>. </a:t>
            </a:r>
            <a:r>
              <a:rPr lang="en-ID" dirty="0" err="1"/>
              <a:t>Penyebabnya</a:t>
            </a:r>
            <a:r>
              <a:rPr lang="en-ID" dirty="0"/>
              <a:t> </a:t>
            </a:r>
            <a:r>
              <a:rPr lang="en-ID" dirty="0" err="1"/>
              <a:t>beragam</a:t>
            </a:r>
            <a:r>
              <a:rPr lang="en-ID" dirty="0"/>
              <a:t>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sinkron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yang </a:t>
            </a:r>
            <a:r>
              <a:rPr lang="en-ID" dirty="0" err="1"/>
              <a:t>efektif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mengakibatkan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bimbingan</a:t>
            </a:r>
            <a:r>
              <a:rPr lang="en-ID" dirty="0"/>
              <a:t> yang </a:t>
            </a:r>
            <a:r>
              <a:rPr lang="en-ID" dirty="0" err="1"/>
              <a:t>memadai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memperlambat</a:t>
            </a:r>
            <a:r>
              <a:rPr lang="en-ID" dirty="0"/>
              <a:t> </a:t>
            </a:r>
            <a:r>
              <a:rPr lang="en-ID" dirty="0" err="1"/>
              <a:t>progres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8486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E874-9CA4-8649-96B8-F61224A1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79E3-35B6-AAE0-1A04-F10F48D2D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C82-ED7A-FD65-B55F-FDC81642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21F18-5A35-4195-A52B-AEB69A51CB16}" type="datetime1">
              <a:rPr lang="en-ID" smtClean="0"/>
              <a:t>24/06/2024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96062-0B43-49F3-507C-CBD625A3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2D367-E788-D23C-C30E-3D3D1D7E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523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E5A9-BB42-3297-9100-968378CD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31A55-A5AD-FA80-D4CF-3C2C1211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9DFE2-EA36-E84F-C167-8CD54AAB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DEAF-9884-4278-945D-B9C8ADFFB6FA}" type="datetime1">
              <a:rPr lang="en-ID" smtClean="0"/>
              <a:t>24/06/2024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C6839-040C-CE2B-5290-573FDC3C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C25A7-8A70-EFA4-FF50-9F9FA9B9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708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37E0-E1DA-4222-E05B-165D9649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4D0A6-D377-B64E-3EEB-75B089BC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EF7E0-2213-C61B-D6CC-E07FDE07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E540-E83A-4DA7-8EE2-3B63BDFDBCDD}" type="datetime1">
              <a:rPr lang="en-ID" smtClean="0"/>
              <a:t>24/06/2024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1A51-0863-A292-8698-EB7264DF0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5DC8B-989E-031E-F8F4-636FB09D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0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2AF4-09BC-1F62-C972-6AED238D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12A52-494D-CEB0-A3AA-CCCC48DB8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58DAA-5184-8D9E-B2C4-5FBA921ED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2EE47-83A8-8F9E-9239-C32A381A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D76E-55D8-462E-9D2D-A322433B31D1}" type="datetime1">
              <a:rPr lang="en-ID" smtClean="0"/>
              <a:t>24/06/2024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EDC3E-6577-0429-80D8-1701CD0A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09E84-70E3-DE07-4286-8DF66C40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454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DD8C-4AD5-AFE2-BCC2-CD006F2F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559C-13A4-D004-0D1F-B53768BF5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BDF5F-F38F-C797-6881-B840EE457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AAE73-7887-5483-BAE1-874399C42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DE55-C013-1726-DBCA-20030D0BD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D3AFD-C5BD-F9AB-BBC9-74F54472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FDE9-26DF-44C6-8E31-B36D61C609AB}" type="datetime1">
              <a:rPr lang="en-ID" smtClean="0"/>
              <a:t>24/06/2024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7DB3C-B331-0220-5E66-6724F9BA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969A8-EC58-3555-365F-48A759AE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132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6D5C-1682-560B-A139-57A1E482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92546-C7BC-E2E7-518A-27BBBB40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B815E-FC67-48B3-A349-126794635DF3}" type="datetime1">
              <a:rPr lang="en-ID" smtClean="0"/>
              <a:t>24/06/2024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AFF62-E268-C20C-370B-EFD2C516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4693F-0579-114A-D159-294F826D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923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EB72A-3162-C9CE-5F4C-23708918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3695-24A1-4E10-840B-F92F612350E9}" type="datetime1">
              <a:rPr lang="en-ID" smtClean="0"/>
              <a:t>24/06/2024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DF5E2-04B6-E229-9CFC-CE99C295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C2393-0C84-9581-D819-F3225765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365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D7C2-AFF1-31F2-7E36-4099391E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5650-EF72-361B-0580-8694E1BBF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1584C-F6D0-7B91-BEC8-22281FFAD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18665-D075-BDFA-2240-6B250230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E098-BD57-412A-B263-D1862CC0DB9D}" type="datetime1">
              <a:rPr lang="en-ID" smtClean="0"/>
              <a:t>24/06/2024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E5119-F28A-93A7-5334-0B2186DC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ED611-06C2-5E21-BBC2-0880D237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157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32FE-788C-80D3-52D0-D72E834C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6B4CE-211F-A4FB-4784-E3FB72489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0E83B-2925-01B2-A3EC-336387014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F7CA1-91BA-0212-C4DF-C2E42441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D867-5BC9-44E9-8E10-70A914F9754C}" type="datetime1">
              <a:rPr lang="en-ID" smtClean="0"/>
              <a:t>24/06/2024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5F027-5FA9-013D-A92B-38DDD044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D6435-F33A-0B6D-53D7-D37E6A55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802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AFBD-8105-892D-B724-53DDCE17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BE9D5-50BB-314B-659C-F7E30D837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D8CA7-C217-CDF5-54C2-4825226E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ADF-CE8D-4A5E-86BE-457EDC5FAC58}" type="datetime1">
              <a:rPr lang="en-ID" smtClean="0"/>
              <a:t>24/06/2024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5DDA-2043-B774-AD6C-0AFEDEF4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BE426-98AE-B1F2-976B-70D326F3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038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63D76-9FA8-CC9A-17A9-FFBE72487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4BF7C-F0D2-3358-375E-DBA1B6038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5B433-A0F8-F7A5-4967-610C8819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5D1F-C1F5-40CF-9C76-C27868207E49}" type="datetime1">
              <a:rPr lang="en-ID" smtClean="0"/>
              <a:t>24/06/2024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08544-D11D-6BFC-CD7A-3B649C4A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86052-5B6E-94DF-A650-0B4DE21D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639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F85AD-D21E-1A6B-5BA8-0E336509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E16BA-ADA7-475C-CC58-85136EB0A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30D2-63F4-31F9-B4D5-77D65269F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62557-C456-4F07-B157-62BA9F14AB94}" type="datetime1">
              <a:rPr lang="en-ID" smtClean="0"/>
              <a:t>24/06/2024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49ACF-54B9-AEAB-698A-A3E55CDBD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0F2B8-9D71-2314-9659-FB582A1EC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915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slide" Target="slide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slide" Target="slide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B I" hidden="1">
            <a:extLst>
              <a:ext uri="{FF2B5EF4-FFF2-40B4-BE49-F238E27FC236}">
                <a16:creationId xmlns:a16="http://schemas.microsoft.com/office/drawing/2014/main" id="{D66DE9AA-D5DE-AFF6-03E8-430D3B460E4A}"/>
              </a:ext>
            </a:extLst>
          </p:cNvPr>
          <p:cNvSpPr/>
          <p:nvPr/>
        </p:nvSpPr>
        <p:spPr>
          <a:xfrm>
            <a:off x="4796464" y="2175982"/>
            <a:ext cx="2506035" cy="2506035"/>
          </a:xfrm>
          <a:prstGeom prst="roundRect">
            <a:avLst/>
          </a:prstGeom>
          <a:solidFill>
            <a:srgbClr val="00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Gotham Rounded Medium" panose="02000000000000000000" pitchFamily="50" charset="0"/>
              </a:rPr>
              <a:t>BAB I</a:t>
            </a:r>
            <a:endParaRPr lang="en-ID" sz="4000" dirty="0">
              <a:latin typeface="Gotham Rounded Medium" panose="02000000000000000000" pitchFamily="50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3BDD26-3843-28E0-233E-7DDF2775C87E}"/>
              </a:ext>
            </a:extLst>
          </p:cNvPr>
          <p:cNvGrpSpPr/>
          <p:nvPr/>
        </p:nvGrpSpPr>
        <p:grpSpPr>
          <a:xfrm>
            <a:off x="4285334" y="1690577"/>
            <a:ext cx="3488388" cy="3488382"/>
            <a:chOff x="4285334" y="1690577"/>
            <a:chExt cx="3488388" cy="348838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C3CF3D-3880-528D-C2A2-DE067F49B044}"/>
                </a:ext>
              </a:extLst>
            </p:cNvPr>
            <p:cNvSpPr/>
            <p:nvPr/>
          </p:nvSpPr>
          <p:spPr>
            <a:xfrm>
              <a:off x="4285334" y="1690577"/>
              <a:ext cx="3488388" cy="3488382"/>
            </a:xfrm>
            <a:prstGeom prst="ellipse">
              <a:avLst/>
            </a:prstGeom>
            <a:solidFill>
              <a:srgbClr val="E57C23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0922A9-BB13-A736-E61F-FD1E14C44C30}"/>
                </a:ext>
              </a:extLst>
            </p:cNvPr>
            <p:cNvSpPr/>
            <p:nvPr/>
          </p:nvSpPr>
          <p:spPr>
            <a:xfrm>
              <a:off x="4517122" y="1922365"/>
              <a:ext cx="3024810" cy="3024805"/>
            </a:xfrm>
            <a:prstGeom prst="ellipse">
              <a:avLst/>
            </a:prstGeom>
            <a:solidFill>
              <a:srgbClr val="E57C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BE8036E-9F92-D7FD-B7DD-D756E1C023E3}"/>
                </a:ext>
              </a:extLst>
            </p:cNvPr>
            <p:cNvSpPr/>
            <p:nvPr/>
          </p:nvSpPr>
          <p:spPr>
            <a:xfrm>
              <a:off x="4642156" y="2047398"/>
              <a:ext cx="2774742" cy="27747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1B475D55-7FA3-A982-20A4-2139DE2EA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5748" y="2293339"/>
            <a:ext cx="2275322" cy="22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69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BA01286D-B612-577C-C32A-441DEDF8CF2D}"/>
              </a:ext>
            </a:extLst>
          </p:cNvPr>
          <p:cNvSpPr/>
          <p:nvPr/>
        </p:nvSpPr>
        <p:spPr>
          <a:xfrm>
            <a:off x="2813923" y="292100"/>
            <a:ext cx="6210300" cy="6210300"/>
          </a:xfrm>
          <a:prstGeom prst="ellipse">
            <a:avLst/>
          </a:prstGeom>
          <a:noFill/>
          <a:ln w="28575">
            <a:solidFill>
              <a:srgbClr val="E8A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F12A5D-FCBC-E05D-4C1C-B4DD236E8338}"/>
              </a:ext>
            </a:extLst>
          </p:cNvPr>
          <p:cNvSpPr/>
          <p:nvPr/>
        </p:nvSpPr>
        <p:spPr>
          <a:xfrm>
            <a:off x="1121546" y="739302"/>
            <a:ext cx="4974454" cy="53113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3A46622-1FCA-3F53-7EF2-4A14332F8A56}"/>
              </a:ext>
            </a:extLst>
          </p:cNvPr>
          <p:cNvSpPr/>
          <p:nvPr/>
        </p:nvSpPr>
        <p:spPr>
          <a:xfrm>
            <a:off x="6096000" y="739302"/>
            <a:ext cx="4974454" cy="53113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9EE4E-DDAC-031F-369B-F087A447EB80}"/>
              </a:ext>
            </a:extLst>
          </p:cNvPr>
          <p:cNvSpPr txBox="1"/>
          <p:nvPr/>
        </p:nvSpPr>
        <p:spPr>
          <a:xfrm>
            <a:off x="1662405" y="989137"/>
            <a:ext cx="3424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itchFamily="2" charset="0"/>
              </a:rPr>
              <a:t>JUDUL PENELITIAN</a:t>
            </a:r>
            <a:endParaRPr lang="en-ID" sz="2400" b="1" dirty="0">
              <a:latin typeface="Montserra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0CD5E-44F4-6FBA-6D03-77D3579603CC}"/>
              </a:ext>
            </a:extLst>
          </p:cNvPr>
          <p:cNvSpPr txBox="1"/>
          <p:nvPr/>
        </p:nvSpPr>
        <p:spPr>
          <a:xfrm>
            <a:off x="6688551" y="1035303"/>
            <a:ext cx="441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UNIVERSITAS NEGERI MANADO</a:t>
            </a:r>
            <a:endParaRPr lang="en-ID" dirty="0">
              <a:latin typeface="Montserrat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DC503D-1A93-2630-F6DE-F004186C12F0}"/>
              </a:ext>
            </a:extLst>
          </p:cNvPr>
          <p:cNvSpPr txBox="1"/>
          <p:nvPr/>
        </p:nvSpPr>
        <p:spPr>
          <a:xfrm>
            <a:off x="1437510" y="5264141"/>
            <a:ext cx="4418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tserrat" pitchFamily="2" charset="0"/>
              </a:rPr>
              <a:t>Penyaji</a:t>
            </a:r>
            <a:r>
              <a:rPr lang="en-US" sz="1600" dirty="0">
                <a:latin typeface="Montserrat" pitchFamily="2" charset="0"/>
              </a:rPr>
              <a:t> :</a:t>
            </a:r>
          </a:p>
          <a:p>
            <a:r>
              <a:rPr lang="en-US" sz="1600" b="1" i="1" dirty="0">
                <a:latin typeface="Montserrat" pitchFamily="2" charset="0"/>
              </a:rPr>
              <a:t>Ignatius Mario Sarkol - 20210002</a:t>
            </a:r>
            <a:endParaRPr lang="en-ID" sz="1600" b="1" i="1" dirty="0">
              <a:latin typeface="Montserrat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B15187-441D-C120-1800-501046E2F7F6}"/>
              </a:ext>
            </a:extLst>
          </p:cNvPr>
          <p:cNvSpPr/>
          <p:nvPr/>
        </p:nvSpPr>
        <p:spPr>
          <a:xfrm>
            <a:off x="1115197" y="1700001"/>
            <a:ext cx="9948908" cy="3469534"/>
          </a:xfrm>
          <a:prstGeom prst="rect">
            <a:avLst/>
          </a:prstGeom>
          <a:solidFill>
            <a:srgbClr val="00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C4CD5-E1C7-CCB1-9082-8EE567D4B99B}"/>
              </a:ext>
            </a:extLst>
          </p:cNvPr>
          <p:cNvSpPr/>
          <p:nvPr/>
        </p:nvSpPr>
        <p:spPr>
          <a:xfrm>
            <a:off x="6053909" y="1688465"/>
            <a:ext cx="5022895" cy="34695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C30B78-05E5-56BA-4DA0-7D731898AF8C}"/>
              </a:ext>
            </a:extLst>
          </p:cNvPr>
          <p:cNvSpPr txBox="1"/>
          <p:nvPr/>
        </p:nvSpPr>
        <p:spPr>
          <a:xfrm>
            <a:off x="1358731" y="2039707"/>
            <a:ext cx="38328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Penerapan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Algoritma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Vector Space Model Pada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Sistem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Monitoring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Bimbingan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Skripsi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Berbasis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Web di Prodi Teknik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Informatika</a:t>
            </a:r>
            <a:r>
              <a:rPr lang="en-US" sz="2400" b="1" i="1" dirty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Montserrat Medium" pitchFamily="2" charset="0"/>
              </a:rPr>
              <a:t>Unima</a:t>
            </a:r>
            <a:endParaRPr lang="en-ID" sz="2400" b="1" i="1" dirty="0">
              <a:solidFill>
                <a:schemeClr val="bg1"/>
              </a:solidFill>
              <a:latin typeface="Montserrat Medium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0E0F15-B9C3-8D52-9435-08EA8CB4FF82}"/>
              </a:ext>
            </a:extLst>
          </p:cNvPr>
          <p:cNvSpPr txBox="1"/>
          <p:nvPr/>
        </p:nvSpPr>
        <p:spPr>
          <a:xfrm>
            <a:off x="6567029" y="5264141"/>
            <a:ext cx="4418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ontserrat" pitchFamily="2" charset="0"/>
              </a:rPr>
              <a:t>Dosen </a:t>
            </a:r>
            <a:r>
              <a:rPr lang="en-US" sz="1600" dirty="0" err="1">
                <a:latin typeface="Montserrat" pitchFamily="2" charset="0"/>
              </a:rPr>
              <a:t>Pembimbing</a:t>
            </a:r>
            <a:r>
              <a:rPr lang="en-US" sz="1600" dirty="0">
                <a:latin typeface="Montserrat" pitchFamily="2" charset="0"/>
              </a:rPr>
              <a:t> :</a:t>
            </a:r>
          </a:p>
          <a:p>
            <a:r>
              <a:rPr lang="en-US" sz="1600" b="1" i="1" dirty="0" err="1">
                <a:latin typeface="Montserrat" pitchFamily="2" charset="0"/>
              </a:rPr>
              <a:t>Alfiansyah</a:t>
            </a:r>
            <a:r>
              <a:rPr lang="en-US" sz="1600" b="1" i="1" dirty="0">
                <a:latin typeface="Montserrat" pitchFamily="2" charset="0"/>
              </a:rPr>
              <a:t> </a:t>
            </a:r>
            <a:r>
              <a:rPr lang="en-US" sz="1600" b="1" i="1" dirty="0" err="1">
                <a:latin typeface="Montserrat" pitchFamily="2" charset="0"/>
              </a:rPr>
              <a:t>Hasibuan</a:t>
            </a:r>
            <a:r>
              <a:rPr lang="en-US" sz="1600" b="1" i="1" dirty="0">
                <a:latin typeface="Montserrat" pitchFamily="2" charset="0"/>
              </a:rPr>
              <a:t>, </a:t>
            </a:r>
            <a:r>
              <a:rPr lang="en-US" sz="1600" b="1" i="1" dirty="0" err="1">
                <a:latin typeface="Montserrat" pitchFamily="2" charset="0"/>
              </a:rPr>
              <a:t>S.Kom</a:t>
            </a:r>
            <a:r>
              <a:rPr lang="en-US" sz="1600" b="1" i="1" dirty="0">
                <a:latin typeface="Montserrat" pitchFamily="2" charset="0"/>
              </a:rPr>
              <a:t>., </a:t>
            </a:r>
            <a:r>
              <a:rPr lang="en-US" sz="1600" b="1" i="1" dirty="0" err="1">
                <a:latin typeface="Montserrat" pitchFamily="2" charset="0"/>
              </a:rPr>
              <a:t>M.Kom</a:t>
            </a:r>
            <a:r>
              <a:rPr lang="en-US" sz="1600" b="1" i="1" dirty="0">
                <a:latin typeface="Montserrat" pitchFamily="2" charset="0"/>
              </a:rPr>
              <a:t>.</a:t>
            </a:r>
            <a:endParaRPr lang="en-ID" sz="1600" b="1" i="1" dirty="0">
              <a:latin typeface="Montserrat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F2FBA0-ED5A-CAB0-129F-63629FC7493A}"/>
              </a:ext>
            </a:extLst>
          </p:cNvPr>
          <p:cNvCxnSpPr>
            <a:cxnSpLocks/>
          </p:cNvCxnSpPr>
          <p:nvPr/>
        </p:nvCxnSpPr>
        <p:spPr>
          <a:xfrm>
            <a:off x="486497" y="0"/>
            <a:ext cx="0" cy="3060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BA7CA1-66EA-E1BE-4B67-41BCB4354578}"/>
              </a:ext>
            </a:extLst>
          </p:cNvPr>
          <p:cNvSpPr txBox="1"/>
          <p:nvPr/>
        </p:nvSpPr>
        <p:spPr>
          <a:xfrm rot="16200000">
            <a:off x="-859886" y="4036312"/>
            <a:ext cx="269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Teknik </a:t>
            </a:r>
            <a:r>
              <a:rPr lang="en-US" dirty="0" err="1">
                <a:solidFill>
                  <a:schemeClr val="bg1"/>
                </a:solidFill>
                <a:latin typeface="Montserrat" pitchFamily="2" charset="0"/>
              </a:rPr>
              <a:t>Informatika</a:t>
            </a:r>
            <a:endParaRPr lang="en-ID" dirty="0">
              <a:solidFill>
                <a:schemeClr val="bg1"/>
              </a:solidFill>
              <a:latin typeface="Montserrat" pitchFamily="2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83FFD2-8D2D-220B-6071-6FF5A4C9438E}"/>
              </a:ext>
            </a:extLst>
          </p:cNvPr>
          <p:cNvCxnSpPr>
            <a:cxnSpLocks/>
          </p:cNvCxnSpPr>
          <p:nvPr/>
        </p:nvCxnSpPr>
        <p:spPr>
          <a:xfrm rot="10800000">
            <a:off x="11705503" y="3797300"/>
            <a:ext cx="0" cy="3060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A8899F0-A8FC-65B7-109E-F110F6CD23FB}"/>
              </a:ext>
            </a:extLst>
          </p:cNvPr>
          <p:cNvSpPr txBox="1"/>
          <p:nvPr/>
        </p:nvSpPr>
        <p:spPr>
          <a:xfrm rot="5400000">
            <a:off x="10347459" y="2419709"/>
            <a:ext cx="269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Teknik </a:t>
            </a:r>
            <a:r>
              <a:rPr lang="en-US" dirty="0" err="1">
                <a:solidFill>
                  <a:schemeClr val="bg1"/>
                </a:solidFill>
                <a:latin typeface="Montserrat" pitchFamily="2" charset="0"/>
              </a:rPr>
              <a:t>Informatika</a:t>
            </a:r>
            <a:endParaRPr lang="en-ID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08629-51C9-E210-9155-B7A578E78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50" y="1685597"/>
            <a:ext cx="5004929" cy="346953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FE201E4E-3F92-AD6E-5AD5-86BB72EF8CC1}"/>
              </a:ext>
            </a:extLst>
          </p:cNvPr>
          <p:cNvSpPr/>
          <p:nvPr/>
        </p:nvSpPr>
        <p:spPr>
          <a:xfrm>
            <a:off x="5311109" y="2716349"/>
            <a:ext cx="1436836" cy="1436836"/>
          </a:xfrm>
          <a:prstGeom prst="ellipse">
            <a:avLst/>
          </a:prstGeom>
          <a:solidFill>
            <a:srgbClr val="E57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8216FD-7E5F-3D2B-6EC3-378269602115}"/>
              </a:ext>
            </a:extLst>
          </p:cNvPr>
          <p:cNvSpPr/>
          <p:nvPr/>
        </p:nvSpPr>
        <p:spPr>
          <a:xfrm>
            <a:off x="5201006" y="2606246"/>
            <a:ext cx="1657043" cy="1657043"/>
          </a:xfrm>
          <a:prstGeom prst="ellipse">
            <a:avLst/>
          </a:prstGeom>
          <a:solidFill>
            <a:srgbClr val="E57C23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10A1AE5-D083-55C7-1E6B-0BD1315DB968}"/>
              </a:ext>
            </a:extLst>
          </p:cNvPr>
          <p:cNvSpPr/>
          <p:nvPr/>
        </p:nvSpPr>
        <p:spPr>
          <a:xfrm>
            <a:off x="5360090" y="2769975"/>
            <a:ext cx="1318049" cy="13180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0EFE59D-E04A-E0B9-7BDF-AE93DD124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0801" y="2878780"/>
            <a:ext cx="1080816" cy="10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38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5FD8C-E23C-C660-360A-5A627B8FA748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4" name="TextBox 3">
            <a:hlinkClick r:id="rId3" action="ppaction://hlinksldjump"/>
            <a:extLst>
              <a:ext uri="{FF2B5EF4-FFF2-40B4-BE49-F238E27FC236}">
                <a16:creationId xmlns:a16="http://schemas.microsoft.com/office/drawing/2014/main" id="{09A9C827-E9D9-AAC9-8975-19E69403BE4D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43A052BB-3CDA-6FB3-D827-0612FACDF6F7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5" action="ppaction://hlinksldjump"/>
            <a:extLst>
              <a:ext uri="{FF2B5EF4-FFF2-40B4-BE49-F238E27FC236}">
                <a16:creationId xmlns:a16="http://schemas.microsoft.com/office/drawing/2014/main" id="{BD236426-171F-07DF-F3CF-3C3788E93925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6" action="ppaction://hlinksldjump"/>
            <a:extLst>
              <a:ext uri="{FF2B5EF4-FFF2-40B4-BE49-F238E27FC236}">
                <a16:creationId xmlns:a16="http://schemas.microsoft.com/office/drawing/2014/main" id="{0044E27E-62AF-6496-00A5-1E419B2D095A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6932" y="768412"/>
            <a:ext cx="398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Latar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Belakang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7936BF-C84F-7D65-2BF2-2317C10E14C9}"/>
              </a:ext>
            </a:extLst>
          </p:cNvPr>
          <p:cNvGrpSpPr/>
          <p:nvPr/>
        </p:nvGrpSpPr>
        <p:grpSpPr>
          <a:xfrm>
            <a:off x="1172579" y="2309591"/>
            <a:ext cx="3563627" cy="2138589"/>
            <a:chOff x="1329956" y="3116024"/>
            <a:chExt cx="2934559" cy="176107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8666174-804A-E433-1548-F2C41BC1A903}"/>
                </a:ext>
              </a:extLst>
            </p:cNvPr>
            <p:cNvSpPr/>
            <p:nvPr/>
          </p:nvSpPr>
          <p:spPr>
            <a:xfrm>
              <a:off x="1329956" y="3825058"/>
              <a:ext cx="2934559" cy="362931"/>
            </a:xfrm>
            <a:custGeom>
              <a:avLst/>
              <a:gdLst>
                <a:gd name="connsiteX0" fmla="*/ 2753094 w 2934559"/>
                <a:gd name="connsiteY0" fmla="*/ 0 h 362931"/>
                <a:gd name="connsiteX1" fmla="*/ 2934560 w 2934559"/>
                <a:gd name="connsiteY1" fmla="*/ 181466 h 362931"/>
                <a:gd name="connsiteX2" fmla="*/ 2934560 w 2934559"/>
                <a:gd name="connsiteY2" fmla="*/ 181466 h 362931"/>
                <a:gd name="connsiteX3" fmla="*/ 2753094 w 2934559"/>
                <a:gd name="connsiteY3" fmla="*/ 362932 h 362931"/>
                <a:gd name="connsiteX4" fmla="*/ 181466 w 2934559"/>
                <a:gd name="connsiteY4" fmla="*/ 362932 h 362931"/>
                <a:gd name="connsiteX5" fmla="*/ 0 w 2934559"/>
                <a:gd name="connsiteY5" fmla="*/ 181466 h 362931"/>
                <a:gd name="connsiteX6" fmla="*/ 0 w 2934559"/>
                <a:gd name="connsiteY6" fmla="*/ 181466 h 362931"/>
                <a:gd name="connsiteX7" fmla="*/ 181466 w 2934559"/>
                <a:gd name="connsiteY7" fmla="*/ 0 h 3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34559" h="362931">
                  <a:moveTo>
                    <a:pt x="2753094" y="0"/>
                  </a:moveTo>
                  <a:cubicBezTo>
                    <a:pt x="2853315" y="0"/>
                    <a:pt x="2934560" y="81245"/>
                    <a:pt x="2934560" y="181466"/>
                  </a:cubicBezTo>
                  <a:lnTo>
                    <a:pt x="2934560" y="181466"/>
                  </a:lnTo>
                  <a:cubicBezTo>
                    <a:pt x="2934560" y="281687"/>
                    <a:pt x="2853315" y="362932"/>
                    <a:pt x="2753094" y="362932"/>
                  </a:cubicBezTo>
                  <a:lnTo>
                    <a:pt x="181466" y="362932"/>
                  </a:lnTo>
                  <a:cubicBezTo>
                    <a:pt x="81245" y="362932"/>
                    <a:pt x="0" y="281687"/>
                    <a:pt x="0" y="181466"/>
                  </a:cubicBezTo>
                  <a:lnTo>
                    <a:pt x="0" y="181466"/>
                  </a:lnTo>
                  <a:cubicBezTo>
                    <a:pt x="0" y="81245"/>
                    <a:pt x="81245" y="0"/>
                    <a:pt x="181466" y="0"/>
                  </a:cubicBezTo>
                  <a:close/>
                </a:path>
              </a:pathLst>
            </a:custGeom>
            <a:solidFill>
              <a:srgbClr val="025464"/>
            </a:solidFill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>
                <a:solidFill>
                  <a:srgbClr val="025464"/>
                </a:solidFill>
              </a:endParaRPr>
            </a:p>
          </p:txBody>
        </p:sp>
        <p:grpSp>
          <p:nvGrpSpPr>
            <p:cNvPr id="29" name="Graphic 9">
              <a:extLst>
                <a:ext uri="{FF2B5EF4-FFF2-40B4-BE49-F238E27FC236}">
                  <a16:creationId xmlns:a16="http://schemas.microsoft.com/office/drawing/2014/main" id="{B0301F40-4D75-F600-2656-52691CD5447C}"/>
                </a:ext>
              </a:extLst>
            </p:cNvPr>
            <p:cNvGrpSpPr/>
            <p:nvPr/>
          </p:nvGrpSpPr>
          <p:grpSpPr>
            <a:xfrm>
              <a:off x="2670653" y="4412412"/>
              <a:ext cx="498197" cy="464688"/>
              <a:chOff x="6607653" y="2299688"/>
              <a:chExt cx="498197" cy="464688"/>
            </a:xfrm>
            <a:solidFill>
              <a:srgbClr val="484662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98BAE83-A4B9-FBBD-A005-F4F7EB5D9981}"/>
                  </a:ext>
                </a:extLst>
              </p:cNvPr>
              <p:cNvSpPr/>
              <p:nvPr/>
            </p:nvSpPr>
            <p:spPr>
              <a:xfrm>
                <a:off x="6607653" y="2299688"/>
                <a:ext cx="329686" cy="329686"/>
              </a:xfrm>
              <a:custGeom>
                <a:avLst/>
                <a:gdLst>
                  <a:gd name="connsiteX0" fmla="*/ 164841 w 329686"/>
                  <a:gd name="connsiteY0" fmla="*/ 329687 h 329686"/>
                  <a:gd name="connsiteX1" fmla="*/ 0 w 329686"/>
                  <a:gd name="connsiteY1" fmla="*/ 164846 h 329686"/>
                  <a:gd name="connsiteX2" fmla="*/ 164841 w 329686"/>
                  <a:gd name="connsiteY2" fmla="*/ 0 h 329686"/>
                  <a:gd name="connsiteX3" fmla="*/ 329687 w 329686"/>
                  <a:gd name="connsiteY3" fmla="*/ 164846 h 329686"/>
                  <a:gd name="connsiteX4" fmla="*/ 164841 w 329686"/>
                  <a:gd name="connsiteY4" fmla="*/ 329687 h 329686"/>
                  <a:gd name="connsiteX5" fmla="*/ 164841 w 329686"/>
                  <a:gd name="connsiteY5" fmla="*/ 44795 h 329686"/>
                  <a:gd name="connsiteX6" fmla="*/ 44795 w 329686"/>
                  <a:gd name="connsiteY6" fmla="*/ 164846 h 329686"/>
                  <a:gd name="connsiteX7" fmla="*/ 164841 w 329686"/>
                  <a:gd name="connsiteY7" fmla="*/ 284892 h 329686"/>
                  <a:gd name="connsiteX8" fmla="*/ 284892 w 329686"/>
                  <a:gd name="connsiteY8" fmla="*/ 164846 h 329686"/>
                  <a:gd name="connsiteX9" fmla="*/ 164841 w 329686"/>
                  <a:gd name="connsiteY9" fmla="*/ 44795 h 32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686" h="329686">
                    <a:moveTo>
                      <a:pt x="164841" y="329687"/>
                    </a:moveTo>
                    <a:cubicBezTo>
                      <a:pt x="73946" y="329687"/>
                      <a:pt x="0" y="255741"/>
                      <a:pt x="0" y="164846"/>
                    </a:cubicBezTo>
                    <a:cubicBezTo>
                      <a:pt x="0" y="73951"/>
                      <a:pt x="73946" y="0"/>
                      <a:pt x="164841" y="0"/>
                    </a:cubicBezTo>
                    <a:cubicBezTo>
                      <a:pt x="255736" y="0"/>
                      <a:pt x="329687" y="73951"/>
                      <a:pt x="329687" y="164846"/>
                    </a:cubicBezTo>
                    <a:cubicBezTo>
                      <a:pt x="329687" y="255741"/>
                      <a:pt x="255736" y="329687"/>
                      <a:pt x="164841" y="329687"/>
                    </a:cubicBezTo>
                    <a:close/>
                    <a:moveTo>
                      <a:pt x="164841" y="44795"/>
                    </a:moveTo>
                    <a:cubicBezTo>
                      <a:pt x="98645" y="44795"/>
                      <a:pt x="44795" y="98650"/>
                      <a:pt x="44795" y="164846"/>
                    </a:cubicBezTo>
                    <a:cubicBezTo>
                      <a:pt x="44795" y="231042"/>
                      <a:pt x="98645" y="284892"/>
                      <a:pt x="164841" y="284892"/>
                    </a:cubicBezTo>
                    <a:cubicBezTo>
                      <a:pt x="231037" y="284892"/>
                      <a:pt x="284892" y="231042"/>
                      <a:pt x="284892" y="164846"/>
                    </a:cubicBezTo>
                    <a:cubicBezTo>
                      <a:pt x="284892" y="98650"/>
                      <a:pt x="231037" y="44795"/>
                      <a:pt x="164841" y="44795"/>
                    </a:cubicBezTo>
                    <a:close/>
                  </a:path>
                </a:pathLst>
              </a:custGeom>
              <a:solidFill>
                <a:srgbClr val="484662"/>
              </a:solidFill>
              <a:ln w="55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7F95786-714A-45CA-5772-F5ED30EC85A0}"/>
                  </a:ext>
                </a:extLst>
              </p:cNvPr>
              <p:cNvSpPr/>
              <p:nvPr/>
            </p:nvSpPr>
            <p:spPr>
              <a:xfrm>
                <a:off x="6852685" y="2540904"/>
                <a:ext cx="253164" cy="223472"/>
              </a:xfrm>
              <a:custGeom>
                <a:avLst/>
                <a:gdLst>
                  <a:gd name="connsiteX0" fmla="*/ 230759 w 253164"/>
                  <a:gd name="connsiteY0" fmla="*/ 223472 h 223472"/>
                  <a:gd name="connsiteX1" fmla="*/ 216190 w 253164"/>
                  <a:gd name="connsiteY1" fmla="*/ 218075 h 223472"/>
                  <a:gd name="connsiteX2" fmla="*/ 7819 w 253164"/>
                  <a:gd name="connsiteY2" fmla="*/ 39404 h 223472"/>
                  <a:gd name="connsiteX3" fmla="*/ 5395 w 253164"/>
                  <a:gd name="connsiteY3" fmla="*/ 7817 h 223472"/>
                  <a:gd name="connsiteX4" fmla="*/ 36975 w 253164"/>
                  <a:gd name="connsiteY4" fmla="*/ 5393 h 223472"/>
                  <a:gd name="connsiteX5" fmla="*/ 245346 w 253164"/>
                  <a:gd name="connsiteY5" fmla="*/ 184070 h 223472"/>
                  <a:gd name="connsiteX6" fmla="*/ 247770 w 253164"/>
                  <a:gd name="connsiteY6" fmla="*/ 215656 h 223472"/>
                  <a:gd name="connsiteX7" fmla="*/ 230759 w 253164"/>
                  <a:gd name="connsiteY7" fmla="*/ 223472 h 223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3164" h="223472">
                    <a:moveTo>
                      <a:pt x="230759" y="223472"/>
                    </a:moveTo>
                    <a:cubicBezTo>
                      <a:pt x="225597" y="223472"/>
                      <a:pt x="220412" y="221697"/>
                      <a:pt x="216190" y="218075"/>
                    </a:cubicBezTo>
                    <a:lnTo>
                      <a:pt x="7819" y="39404"/>
                    </a:lnTo>
                    <a:cubicBezTo>
                      <a:pt x="-1571" y="31352"/>
                      <a:pt x="-2657" y="17207"/>
                      <a:pt x="5395" y="7817"/>
                    </a:cubicBezTo>
                    <a:cubicBezTo>
                      <a:pt x="13447" y="-1567"/>
                      <a:pt x="27585" y="-2659"/>
                      <a:pt x="36975" y="5393"/>
                    </a:cubicBezTo>
                    <a:lnTo>
                      <a:pt x="245346" y="184070"/>
                    </a:lnTo>
                    <a:cubicBezTo>
                      <a:pt x="254736" y="192121"/>
                      <a:pt x="255822" y="206265"/>
                      <a:pt x="247770" y="215656"/>
                    </a:cubicBezTo>
                    <a:cubicBezTo>
                      <a:pt x="243341" y="220818"/>
                      <a:pt x="237070" y="223472"/>
                      <a:pt x="230759" y="223472"/>
                    </a:cubicBezTo>
                    <a:close/>
                  </a:path>
                </a:pathLst>
              </a:custGeom>
              <a:solidFill>
                <a:srgbClr val="484662"/>
              </a:solidFill>
              <a:ln w="55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EBD71E-E705-8355-352F-18F0D0FBE348}"/>
                </a:ext>
              </a:extLst>
            </p:cNvPr>
            <p:cNvSpPr/>
            <p:nvPr/>
          </p:nvSpPr>
          <p:spPr>
            <a:xfrm>
              <a:off x="3684491" y="3642102"/>
              <a:ext cx="580024" cy="46083"/>
            </a:xfrm>
            <a:custGeom>
              <a:avLst/>
              <a:gdLst>
                <a:gd name="connsiteX0" fmla="*/ 556983 w 580024"/>
                <a:gd name="connsiteY0" fmla="*/ 0 h 46083"/>
                <a:gd name="connsiteX1" fmla="*/ 580025 w 580024"/>
                <a:gd name="connsiteY1" fmla="*/ 23042 h 46083"/>
                <a:gd name="connsiteX2" fmla="*/ 580025 w 580024"/>
                <a:gd name="connsiteY2" fmla="*/ 23042 h 46083"/>
                <a:gd name="connsiteX3" fmla="*/ 556983 w 580024"/>
                <a:gd name="connsiteY3" fmla="*/ 46084 h 46083"/>
                <a:gd name="connsiteX4" fmla="*/ 23042 w 580024"/>
                <a:gd name="connsiteY4" fmla="*/ 46084 h 46083"/>
                <a:gd name="connsiteX5" fmla="*/ 0 w 580024"/>
                <a:gd name="connsiteY5" fmla="*/ 23042 h 46083"/>
                <a:gd name="connsiteX6" fmla="*/ 0 w 580024"/>
                <a:gd name="connsiteY6" fmla="*/ 23042 h 46083"/>
                <a:gd name="connsiteX7" fmla="*/ 23042 w 580024"/>
                <a:gd name="connsiteY7" fmla="*/ 0 h 4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024" h="46083">
                  <a:moveTo>
                    <a:pt x="556983" y="0"/>
                  </a:moveTo>
                  <a:cubicBezTo>
                    <a:pt x="569709" y="0"/>
                    <a:pt x="580025" y="10316"/>
                    <a:pt x="580025" y="23042"/>
                  </a:cubicBezTo>
                  <a:lnTo>
                    <a:pt x="580025" y="23042"/>
                  </a:lnTo>
                  <a:cubicBezTo>
                    <a:pt x="580025" y="35768"/>
                    <a:pt x="569709" y="46084"/>
                    <a:pt x="556983" y="46084"/>
                  </a:cubicBezTo>
                  <a:lnTo>
                    <a:pt x="23042" y="46084"/>
                  </a:lnTo>
                  <a:cubicBezTo>
                    <a:pt x="10316" y="46084"/>
                    <a:pt x="0" y="35768"/>
                    <a:pt x="0" y="23042"/>
                  </a:cubicBezTo>
                  <a:lnTo>
                    <a:pt x="0" y="23042"/>
                  </a:lnTo>
                  <a:cubicBezTo>
                    <a:pt x="0" y="10316"/>
                    <a:pt x="10316" y="0"/>
                    <a:pt x="23042" y="0"/>
                  </a:cubicBezTo>
                  <a:close/>
                </a:path>
              </a:pathLst>
            </a:custGeom>
            <a:solidFill>
              <a:srgbClr val="DFDFE0"/>
            </a:solidFill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E10F58-EDCA-E6C8-230A-EE8DE66B598D}"/>
                </a:ext>
              </a:extLst>
            </p:cNvPr>
            <p:cNvSpPr/>
            <p:nvPr/>
          </p:nvSpPr>
          <p:spPr>
            <a:xfrm>
              <a:off x="1329956" y="3116024"/>
              <a:ext cx="580024" cy="46083"/>
            </a:xfrm>
            <a:custGeom>
              <a:avLst/>
              <a:gdLst>
                <a:gd name="connsiteX0" fmla="*/ 556983 w 580024"/>
                <a:gd name="connsiteY0" fmla="*/ 0 h 46083"/>
                <a:gd name="connsiteX1" fmla="*/ 580025 w 580024"/>
                <a:gd name="connsiteY1" fmla="*/ 23042 h 46083"/>
                <a:gd name="connsiteX2" fmla="*/ 580025 w 580024"/>
                <a:gd name="connsiteY2" fmla="*/ 23042 h 46083"/>
                <a:gd name="connsiteX3" fmla="*/ 556983 w 580024"/>
                <a:gd name="connsiteY3" fmla="*/ 46084 h 46083"/>
                <a:gd name="connsiteX4" fmla="*/ 23042 w 580024"/>
                <a:gd name="connsiteY4" fmla="*/ 46084 h 46083"/>
                <a:gd name="connsiteX5" fmla="*/ 0 w 580024"/>
                <a:gd name="connsiteY5" fmla="*/ 23042 h 46083"/>
                <a:gd name="connsiteX6" fmla="*/ 0 w 580024"/>
                <a:gd name="connsiteY6" fmla="*/ 23042 h 46083"/>
                <a:gd name="connsiteX7" fmla="*/ 23042 w 580024"/>
                <a:gd name="connsiteY7" fmla="*/ 0 h 4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024" h="46083">
                  <a:moveTo>
                    <a:pt x="556983" y="0"/>
                  </a:moveTo>
                  <a:cubicBezTo>
                    <a:pt x="569709" y="0"/>
                    <a:pt x="580025" y="10316"/>
                    <a:pt x="580025" y="23042"/>
                  </a:cubicBezTo>
                  <a:lnTo>
                    <a:pt x="580025" y="23042"/>
                  </a:lnTo>
                  <a:cubicBezTo>
                    <a:pt x="580025" y="35768"/>
                    <a:pt x="569709" y="46084"/>
                    <a:pt x="556983" y="46084"/>
                  </a:cubicBezTo>
                  <a:lnTo>
                    <a:pt x="23042" y="46084"/>
                  </a:lnTo>
                  <a:cubicBezTo>
                    <a:pt x="10316" y="46084"/>
                    <a:pt x="0" y="35768"/>
                    <a:pt x="0" y="23042"/>
                  </a:cubicBezTo>
                  <a:lnTo>
                    <a:pt x="0" y="23042"/>
                  </a:lnTo>
                  <a:cubicBezTo>
                    <a:pt x="0" y="10316"/>
                    <a:pt x="10316" y="0"/>
                    <a:pt x="23042" y="0"/>
                  </a:cubicBezTo>
                  <a:close/>
                </a:path>
              </a:pathLst>
            </a:custGeom>
            <a:solidFill>
              <a:srgbClr val="DFDFE0"/>
            </a:solidFill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C980E5B-C10F-107C-2C34-59D65A92F567}"/>
                </a:ext>
              </a:extLst>
            </p:cNvPr>
            <p:cNvSpPr/>
            <p:nvPr/>
          </p:nvSpPr>
          <p:spPr>
            <a:xfrm>
              <a:off x="1329956" y="3317122"/>
              <a:ext cx="1613231" cy="46083"/>
            </a:xfrm>
            <a:custGeom>
              <a:avLst/>
              <a:gdLst>
                <a:gd name="connsiteX0" fmla="*/ 1590189 w 1613231"/>
                <a:gd name="connsiteY0" fmla="*/ 0 h 46083"/>
                <a:gd name="connsiteX1" fmla="*/ 1613231 w 1613231"/>
                <a:gd name="connsiteY1" fmla="*/ 23042 h 46083"/>
                <a:gd name="connsiteX2" fmla="*/ 1613231 w 1613231"/>
                <a:gd name="connsiteY2" fmla="*/ 23042 h 46083"/>
                <a:gd name="connsiteX3" fmla="*/ 1590189 w 1613231"/>
                <a:gd name="connsiteY3" fmla="*/ 46084 h 46083"/>
                <a:gd name="connsiteX4" fmla="*/ 23042 w 1613231"/>
                <a:gd name="connsiteY4" fmla="*/ 46084 h 46083"/>
                <a:gd name="connsiteX5" fmla="*/ 0 w 1613231"/>
                <a:gd name="connsiteY5" fmla="*/ 23042 h 46083"/>
                <a:gd name="connsiteX6" fmla="*/ 0 w 1613231"/>
                <a:gd name="connsiteY6" fmla="*/ 23042 h 46083"/>
                <a:gd name="connsiteX7" fmla="*/ 23042 w 1613231"/>
                <a:gd name="connsiteY7" fmla="*/ 0 h 4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3231" h="46083">
                  <a:moveTo>
                    <a:pt x="1590189" y="0"/>
                  </a:moveTo>
                  <a:cubicBezTo>
                    <a:pt x="1602915" y="0"/>
                    <a:pt x="1613231" y="10316"/>
                    <a:pt x="1613231" y="23042"/>
                  </a:cubicBezTo>
                  <a:lnTo>
                    <a:pt x="1613231" y="23042"/>
                  </a:lnTo>
                  <a:cubicBezTo>
                    <a:pt x="1613231" y="35768"/>
                    <a:pt x="1602915" y="46084"/>
                    <a:pt x="1590189" y="46084"/>
                  </a:cubicBezTo>
                  <a:lnTo>
                    <a:pt x="23042" y="46084"/>
                  </a:lnTo>
                  <a:cubicBezTo>
                    <a:pt x="10316" y="46084"/>
                    <a:pt x="0" y="35768"/>
                    <a:pt x="0" y="23042"/>
                  </a:cubicBezTo>
                  <a:lnTo>
                    <a:pt x="0" y="23042"/>
                  </a:lnTo>
                  <a:cubicBezTo>
                    <a:pt x="0" y="10316"/>
                    <a:pt x="10316" y="0"/>
                    <a:pt x="23042" y="0"/>
                  </a:cubicBezTo>
                  <a:close/>
                </a:path>
              </a:pathLst>
            </a:custGeom>
            <a:solidFill>
              <a:srgbClr val="DFDFE0"/>
            </a:solidFill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9" name="TextBox 8">
            <a:hlinkClick r:id="rId6" action="ppaction://hlinksldjump"/>
            <a:extLst>
              <a:ext uri="{FF2B5EF4-FFF2-40B4-BE49-F238E27FC236}">
                <a16:creationId xmlns:a16="http://schemas.microsoft.com/office/drawing/2014/main" id="{84CC7C97-36CE-8915-9169-802F8195E9D0}"/>
              </a:ext>
            </a:extLst>
          </p:cNvPr>
          <p:cNvSpPr txBox="1"/>
          <p:nvPr/>
        </p:nvSpPr>
        <p:spPr>
          <a:xfrm>
            <a:off x="3347740" y="57021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5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5FDF8E-A3A7-1DA3-EA89-B938CCF28F16}"/>
              </a:ext>
            </a:extLst>
          </p:cNvPr>
          <p:cNvSpPr/>
          <p:nvPr/>
        </p:nvSpPr>
        <p:spPr>
          <a:xfrm>
            <a:off x="4953392" y="1467961"/>
            <a:ext cx="5723599" cy="945550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CAC6CF-1E3F-8277-F99D-FB6B1E61381A}"/>
              </a:ext>
            </a:extLst>
          </p:cNvPr>
          <p:cNvSpPr/>
          <p:nvPr/>
        </p:nvSpPr>
        <p:spPr>
          <a:xfrm>
            <a:off x="4928508" y="2593935"/>
            <a:ext cx="5723599" cy="646331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32FE1E-4FB3-4293-484A-D51FF2F9A679}"/>
              </a:ext>
            </a:extLst>
          </p:cNvPr>
          <p:cNvSpPr/>
          <p:nvPr/>
        </p:nvSpPr>
        <p:spPr>
          <a:xfrm>
            <a:off x="4953392" y="3411895"/>
            <a:ext cx="5723599" cy="945550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FEC871-DBE7-C8E0-AD46-FE970C76B87C}"/>
              </a:ext>
            </a:extLst>
          </p:cNvPr>
          <p:cNvSpPr/>
          <p:nvPr/>
        </p:nvSpPr>
        <p:spPr>
          <a:xfrm>
            <a:off x="4921492" y="4521330"/>
            <a:ext cx="5723599" cy="1200329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59215-EDDB-21B5-5ADF-CF039DF8BFE5}"/>
              </a:ext>
            </a:extLst>
          </p:cNvPr>
          <p:cNvSpPr txBox="1"/>
          <p:nvPr/>
        </p:nvSpPr>
        <p:spPr>
          <a:xfrm>
            <a:off x="5064325" y="1525888"/>
            <a:ext cx="5437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pengumpulan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dan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5064325" y="2674292"/>
            <a:ext cx="5612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Pemantauan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kegiatan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akademik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Gotham Rounded Book" pitchFamily="50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C8256-4F3A-EE18-47E0-9A2F83098DDF}"/>
              </a:ext>
            </a:extLst>
          </p:cNvPr>
          <p:cNvSpPr txBox="1"/>
          <p:nvPr/>
        </p:nvSpPr>
        <p:spPr>
          <a:xfrm>
            <a:off x="5064325" y="3465975"/>
            <a:ext cx="5437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adanya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data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lengkap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terstruktur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Gotham Rounded Book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BE4AC-0433-9192-4E6A-B172847B8572}"/>
              </a:ext>
            </a:extLst>
          </p:cNvPr>
          <p:cNvSpPr txBox="1"/>
          <p:nvPr/>
        </p:nvSpPr>
        <p:spPr>
          <a:xfrm>
            <a:off x="5064324" y="4527309"/>
            <a:ext cx="5437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Konsultasi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rangka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bimbingan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antara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dosen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seringkali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dapat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terlaksana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Gotham Rounded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38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657584-BDD1-F9CF-6B69-70923DBBD3D0}"/>
              </a:ext>
            </a:extLst>
          </p:cNvPr>
          <p:cNvSpPr txBox="1"/>
          <p:nvPr/>
        </p:nvSpPr>
        <p:spPr>
          <a:xfrm>
            <a:off x="1218507" y="979823"/>
            <a:ext cx="4751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Identifikasi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Masalah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4EF7221-405B-B542-6810-4F924278D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187528" y="703720"/>
            <a:ext cx="2393342" cy="1844868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67301936-4586-B3DE-0684-1240616C5FCD}"/>
              </a:ext>
            </a:extLst>
          </p:cNvPr>
          <p:cNvSpPr/>
          <p:nvPr/>
        </p:nvSpPr>
        <p:spPr>
          <a:xfrm>
            <a:off x="1242292" y="1840529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A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B585E4-7B9B-D756-BAC4-36A114C78E1A}"/>
              </a:ext>
            </a:extLst>
          </p:cNvPr>
          <p:cNvSpPr/>
          <p:nvPr/>
        </p:nvSpPr>
        <p:spPr>
          <a:xfrm>
            <a:off x="1236926" y="2758823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B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FBE85F-5630-A384-E8B1-F54BD98C072E}"/>
              </a:ext>
            </a:extLst>
          </p:cNvPr>
          <p:cNvSpPr/>
          <p:nvPr/>
        </p:nvSpPr>
        <p:spPr>
          <a:xfrm>
            <a:off x="1236929" y="3595460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C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9FD8AE1-4262-419B-525A-C3B0CE09AD78}"/>
              </a:ext>
            </a:extLst>
          </p:cNvPr>
          <p:cNvSpPr/>
          <p:nvPr/>
        </p:nvSpPr>
        <p:spPr>
          <a:xfrm>
            <a:off x="1236928" y="4457637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D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986F6-5608-5A35-3FF3-B3FDA94F1510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11" name="TextBox 10">
            <a:hlinkClick r:id="rId4" action="ppaction://hlinksldjump"/>
            <a:extLst>
              <a:ext uri="{FF2B5EF4-FFF2-40B4-BE49-F238E27FC236}">
                <a16:creationId xmlns:a16="http://schemas.microsoft.com/office/drawing/2014/main" id="{FD76D1A3-69E5-E2A6-3669-D111B71AF7EE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2" name="TextBox 11">
            <a:hlinkClick r:id="rId5" action="ppaction://hlinksldjump"/>
            <a:extLst>
              <a:ext uri="{FF2B5EF4-FFF2-40B4-BE49-F238E27FC236}">
                <a16:creationId xmlns:a16="http://schemas.microsoft.com/office/drawing/2014/main" id="{8D1D3FCA-C8BC-DAD1-F2A9-F6EC6ADAA620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hlinkClick r:id="rId6" action="ppaction://hlinksldjump"/>
            <a:extLst>
              <a:ext uri="{FF2B5EF4-FFF2-40B4-BE49-F238E27FC236}">
                <a16:creationId xmlns:a16="http://schemas.microsoft.com/office/drawing/2014/main" id="{8A323F45-4258-2A96-DA26-EDFF7A976A8A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4" name="TextBox 13">
            <a:hlinkClick r:id="rId7" action="ppaction://hlinksldjump"/>
            <a:extLst>
              <a:ext uri="{FF2B5EF4-FFF2-40B4-BE49-F238E27FC236}">
                <a16:creationId xmlns:a16="http://schemas.microsoft.com/office/drawing/2014/main" id="{466AE00B-4C7C-A755-C5B7-11A28F20F6F4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3" name="TextBox 2">
            <a:hlinkClick r:id="rId7" action="ppaction://hlinksldjump"/>
            <a:extLst>
              <a:ext uri="{FF2B5EF4-FFF2-40B4-BE49-F238E27FC236}">
                <a16:creationId xmlns:a16="http://schemas.microsoft.com/office/drawing/2014/main" id="{E5D2C8D9-0DC9-0DC9-80B5-CDA8E6A3D236}"/>
              </a:ext>
            </a:extLst>
          </p:cNvPr>
          <p:cNvSpPr txBox="1"/>
          <p:nvPr/>
        </p:nvSpPr>
        <p:spPr>
          <a:xfrm>
            <a:off x="3347740" y="57021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5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89C9D2-8866-11A0-544B-A73219A9356E}"/>
              </a:ext>
            </a:extLst>
          </p:cNvPr>
          <p:cNvSpPr/>
          <p:nvPr/>
        </p:nvSpPr>
        <p:spPr>
          <a:xfrm>
            <a:off x="1891803" y="1803286"/>
            <a:ext cx="8560298" cy="823132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1940791" y="1779150"/>
            <a:ext cx="8384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800"/>
              </a:spcAft>
            </a:pP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Dosen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kesulitan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memantau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sejauh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mana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perkembangan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mengerjakan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skripsi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C46EA3-AB51-03C4-0D72-71EF8C17B1F5}"/>
              </a:ext>
            </a:extLst>
          </p:cNvPr>
          <p:cNvSpPr/>
          <p:nvPr/>
        </p:nvSpPr>
        <p:spPr>
          <a:xfrm>
            <a:off x="1903911" y="3657857"/>
            <a:ext cx="9051160" cy="823132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A8AC90-6BBA-8BCF-7B00-22803CFDE6CA}"/>
              </a:ext>
            </a:extLst>
          </p:cNvPr>
          <p:cNvSpPr/>
          <p:nvPr/>
        </p:nvSpPr>
        <p:spPr>
          <a:xfrm>
            <a:off x="1891802" y="2725196"/>
            <a:ext cx="8560297" cy="823132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BF1169-56C5-E774-A73C-C4B9D1FD8DF5}"/>
              </a:ext>
            </a:extLst>
          </p:cNvPr>
          <p:cNvSpPr/>
          <p:nvPr/>
        </p:nvSpPr>
        <p:spPr>
          <a:xfrm>
            <a:off x="1891803" y="4602365"/>
            <a:ext cx="9063268" cy="823132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C8256-4F3A-EE18-47E0-9A2F83098DDF}"/>
              </a:ext>
            </a:extLst>
          </p:cNvPr>
          <p:cNvSpPr txBox="1"/>
          <p:nvPr/>
        </p:nvSpPr>
        <p:spPr>
          <a:xfrm>
            <a:off x="1945060" y="2708433"/>
            <a:ext cx="8384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Dosen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juga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memiliki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data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pasti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berkaitan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jumlah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dibimbingnya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Gotham Rounded Book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91184A-C49E-7D89-A59C-B6A7072BF3CC}"/>
              </a:ext>
            </a:extLst>
          </p:cNvPr>
          <p:cNvSpPr txBox="1"/>
          <p:nvPr/>
        </p:nvSpPr>
        <p:spPr>
          <a:xfrm>
            <a:off x="1941884" y="3648918"/>
            <a:ext cx="9017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800"/>
              </a:spcAft>
            </a:pP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Ketidakteraturan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waktu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bimbingan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antara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dosen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karena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adanya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jadwal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aturan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246D27-7640-F771-FF93-6254A804538B}"/>
              </a:ext>
            </a:extLst>
          </p:cNvPr>
          <p:cNvSpPr txBox="1"/>
          <p:nvPr/>
        </p:nvSpPr>
        <p:spPr>
          <a:xfrm>
            <a:off x="1941754" y="4589559"/>
            <a:ext cx="8979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Jadwal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dosen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padat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sehingga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sulit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melakukan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bimbingan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secara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langsung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en-US" sz="2800" dirty="0">
              <a:solidFill>
                <a:schemeClr val="bg1"/>
              </a:solidFill>
              <a:latin typeface="Gotham Rounded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38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94DFB-9380-15A9-077A-21951417815A}"/>
              </a:ext>
            </a:extLst>
          </p:cNvPr>
          <p:cNvSpPr txBox="1"/>
          <p:nvPr/>
        </p:nvSpPr>
        <p:spPr>
          <a:xfrm>
            <a:off x="1222822" y="768412"/>
            <a:ext cx="459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Batasan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Masalah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1501304-AC0C-98D3-238F-7AF6E9A95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842" y="1449573"/>
            <a:ext cx="2261922" cy="210888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646853FE-10CC-AF7E-58D8-899C08419853}"/>
              </a:ext>
            </a:extLst>
          </p:cNvPr>
          <p:cNvSpPr/>
          <p:nvPr/>
        </p:nvSpPr>
        <p:spPr>
          <a:xfrm>
            <a:off x="4108359" y="1624409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A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6898C5-30B7-E6E5-F97C-3DF3B37886E9}"/>
              </a:ext>
            </a:extLst>
          </p:cNvPr>
          <p:cNvSpPr/>
          <p:nvPr/>
        </p:nvSpPr>
        <p:spPr>
          <a:xfrm>
            <a:off x="4108356" y="2615430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B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A02F4C-BFF0-A043-9303-101279D431F2}"/>
              </a:ext>
            </a:extLst>
          </p:cNvPr>
          <p:cNvSpPr/>
          <p:nvPr/>
        </p:nvSpPr>
        <p:spPr>
          <a:xfrm>
            <a:off x="4108357" y="3606452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C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02895-246B-FE5C-3B70-7D949A628983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992D8877-05B4-2FB4-6650-E3B3E167639E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5" action="ppaction://hlinksldjump"/>
            <a:extLst>
              <a:ext uri="{FF2B5EF4-FFF2-40B4-BE49-F238E27FC236}">
                <a16:creationId xmlns:a16="http://schemas.microsoft.com/office/drawing/2014/main" id="{BBD7DA96-12D7-1713-D380-07CF0493B9CB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6" action="ppaction://hlinksldjump"/>
            <a:extLst>
              <a:ext uri="{FF2B5EF4-FFF2-40B4-BE49-F238E27FC236}">
                <a16:creationId xmlns:a16="http://schemas.microsoft.com/office/drawing/2014/main" id="{94C3A5D8-0217-EDA1-D123-06203279B54E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25" name="TextBox 24">
            <a:hlinkClick r:id="rId7" action="ppaction://hlinksldjump"/>
            <a:extLst>
              <a:ext uri="{FF2B5EF4-FFF2-40B4-BE49-F238E27FC236}">
                <a16:creationId xmlns:a16="http://schemas.microsoft.com/office/drawing/2014/main" id="{BB849037-C737-4A69-24D3-80E3BF58ED79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8" name="TextBox 7">
            <a:hlinkClick r:id="rId7" action="ppaction://hlinksldjump"/>
            <a:extLst>
              <a:ext uri="{FF2B5EF4-FFF2-40B4-BE49-F238E27FC236}">
                <a16:creationId xmlns:a16="http://schemas.microsoft.com/office/drawing/2014/main" id="{0A7176CC-4330-7B8C-60E9-AB06F9170121}"/>
              </a:ext>
            </a:extLst>
          </p:cNvPr>
          <p:cNvSpPr txBox="1"/>
          <p:nvPr/>
        </p:nvSpPr>
        <p:spPr>
          <a:xfrm>
            <a:off x="3347740" y="57021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5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DD98CC-CB92-BAAD-58FA-D8BAA84B9BE1}"/>
              </a:ext>
            </a:extLst>
          </p:cNvPr>
          <p:cNvSpPr/>
          <p:nvPr/>
        </p:nvSpPr>
        <p:spPr>
          <a:xfrm>
            <a:off x="4753562" y="1630503"/>
            <a:ext cx="6295438" cy="823132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55AA8C-B902-931B-5B85-ED3A821F70F5}"/>
              </a:ext>
            </a:extLst>
          </p:cNvPr>
          <p:cNvSpPr txBox="1"/>
          <p:nvPr/>
        </p:nvSpPr>
        <p:spPr>
          <a:xfrm>
            <a:off x="4791662" y="1624409"/>
            <a:ext cx="61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800"/>
              </a:spcAft>
            </a:pP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Penerapan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VSM pada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monitoring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bimbingan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skripsi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F4C564-810C-908E-6595-243C1C2156BC}"/>
              </a:ext>
            </a:extLst>
          </p:cNvPr>
          <p:cNvSpPr/>
          <p:nvPr/>
        </p:nvSpPr>
        <p:spPr>
          <a:xfrm>
            <a:off x="4744037" y="2648611"/>
            <a:ext cx="6295438" cy="823132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4F8DD-87D9-53E9-E352-878BEB5A970B}"/>
              </a:ext>
            </a:extLst>
          </p:cNvPr>
          <p:cNvSpPr/>
          <p:nvPr/>
        </p:nvSpPr>
        <p:spPr>
          <a:xfrm>
            <a:off x="4744037" y="3638659"/>
            <a:ext cx="6295438" cy="1200329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20BA9B-F7FB-4507-3C8A-315F7855F842}"/>
              </a:ext>
            </a:extLst>
          </p:cNvPr>
          <p:cNvSpPr txBox="1"/>
          <p:nvPr/>
        </p:nvSpPr>
        <p:spPr>
          <a:xfrm>
            <a:off x="4791662" y="3597302"/>
            <a:ext cx="6153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800"/>
              </a:spcAft>
            </a:pP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Berfokus</a:t>
            </a:r>
            <a:r>
              <a:rPr lang="en-ID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ahasiswa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sedang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menjalani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proses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penyusunan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skripsi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peserta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bimbingan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DF21B9-120E-70F3-7B7E-5A897C7FD3E8}"/>
              </a:ext>
            </a:extLst>
          </p:cNvPr>
          <p:cNvSpPr txBox="1"/>
          <p:nvPr/>
        </p:nvSpPr>
        <p:spPr>
          <a:xfrm>
            <a:off x="4791662" y="2635029"/>
            <a:ext cx="61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800"/>
              </a:spcAft>
            </a:pPr>
            <a:r>
              <a:rPr lang="id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berfokus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pada proses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bimbingan</a:t>
            </a:r>
            <a:r>
              <a:rPr lang="en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skripsi</a:t>
            </a:r>
            <a:r>
              <a:rPr lang="id-ID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117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7FC12-1869-0444-C8E9-FCB442D668E9}"/>
              </a:ext>
            </a:extLst>
          </p:cNvPr>
          <p:cNvSpPr txBox="1"/>
          <p:nvPr/>
        </p:nvSpPr>
        <p:spPr>
          <a:xfrm>
            <a:off x="1236932" y="852979"/>
            <a:ext cx="5168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Rumusan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Masalah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2070100" y="2395939"/>
            <a:ext cx="8051800" cy="2040721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2199274" y="2620322"/>
            <a:ext cx="75647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0510" marR="0" algn="ctr">
              <a:spcBef>
                <a:spcPts val="0"/>
              </a:spcBef>
              <a:spcAft>
                <a:spcPts val="800"/>
              </a:spcAft>
            </a:pPr>
            <a:r>
              <a:rPr lang="en-ID" sz="32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agaimana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melakukan penerapan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VSM pada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monitoring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bimbingan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skripsi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ID" sz="3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331BE-0D15-4BC9-3181-ED9C480E360D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ACB46F99-DB85-C4B7-9AE3-4CE52B00331C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02A965EC-D621-637C-15AC-677D5A59CCAE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4" action="ppaction://hlinksldjump"/>
            <a:extLst>
              <a:ext uri="{FF2B5EF4-FFF2-40B4-BE49-F238E27FC236}">
                <a16:creationId xmlns:a16="http://schemas.microsoft.com/office/drawing/2014/main" id="{D7500DCB-6B02-CAF2-79EC-03DDDBA0D0CB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hlinkClick r:id="rId5" action="ppaction://hlinksldjump"/>
            <a:extLst>
              <a:ext uri="{FF2B5EF4-FFF2-40B4-BE49-F238E27FC236}">
                <a16:creationId xmlns:a16="http://schemas.microsoft.com/office/drawing/2014/main" id="{67AA2EF3-C628-2A88-A1CA-03AB297F87BE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8" name="TextBox 7">
            <a:hlinkClick r:id="rId6" action="ppaction://hlinksldjump"/>
            <a:extLst>
              <a:ext uri="{FF2B5EF4-FFF2-40B4-BE49-F238E27FC236}">
                <a16:creationId xmlns:a16="http://schemas.microsoft.com/office/drawing/2014/main" id="{A59CB4AE-C8A7-6D11-9F40-DE3C6F762763}"/>
              </a:ext>
            </a:extLst>
          </p:cNvPr>
          <p:cNvSpPr txBox="1"/>
          <p:nvPr/>
        </p:nvSpPr>
        <p:spPr>
          <a:xfrm>
            <a:off x="3347740" y="57021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5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141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7FC12-1869-0444-C8E9-FCB442D668E9}"/>
              </a:ext>
            </a:extLst>
          </p:cNvPr>
          <p:cNvSpPr txBox="1"/>
          <p:nvPr/>
        </p:nvSpPr>
        <p:spPr>
          <a:xfrm>
            <a:off x="1236932" y="768412"/>
            <a:ext cx="5168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Tujuan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Penelitian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2669380" y="2143411"/>
            <a:ext cx="7135020" cy="2608535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2528490" y="2345757"/>
            <a:ext cx="71350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0510" marR="0" algn="ctr">
              <a:spcBef>
                <a:spcPts val="0"/>
              </a:spcBef>
              <a:spcAft>
                <a:spcPts val="800"/>
              </a:spcAft>
            </a:pPr>
            <a:r>
              <a:rPr lang="en-ID" sz="32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id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lakukan penerapan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VSM pada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monitoring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bimbingan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skripsi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berbasis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web di </a:t>
            </a:r>
            <a:r>
              <a:rPr lang="en-ID" sz="32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rodi Teknik </a:t>
            </a:r>
            <a:r>
              <a:rPr lang="id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nformatika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Unima</a:t>
            </a:r>
            <a:r>
              <a:rPr lang="en-ID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3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331BE-0D15-4BC9-3181-ED9C480E360D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ACB46F99-DB85-C4B7-9AE3-4CE52B00331C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02A965EC-D621-637C-15AC-677D5A59CCAE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4" action="ppaction://hlinksldjump"/>
            <a:extLst>
              <a:ext uri="{FF2B5EF4-FFF2-40B4-BE49-F238E27FC236}">
                <a16:creationId xmlns:a16="http://schemas.microsoft.com/office/drawing/2014/main" id="{D7500DCB-6B02-CAF2-79EC-03DDDBA0D0CB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hlinkClick r:id="rId5" action="ppaction://hlinksldjump"/>
            <a:extLst>
              <a:ext uri="{FF2B5EF4-FFF2-40B4-BE49-F238E27FC236}">
                <a16:creationId xmlns:a16="http://schemas.microsoft.com/office/drawing/2014/main" id="{67AA2EF3-C628-2A88-A1CA-03AB297F87BE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1">
                  <a:lumMod val="6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8" name="TextBox 7">
            <a:hlinkClick r:id="rId6" action="ppaction://hlinksldjump"/>
            <a:extLst>
              <a:ext uri="{FF2B5EF4-FFF2-40B4-BE49-F238E27FC236}">
                <a16:creationId xmlns:a16="http://schemas.microsoft.com/office/drawing/2014/main" id="{A59CB4AE-C8A7-6D11-9F40-DE3C6F762763}"/>
              </a:ext>
            </a:extLst>
          </p:cNvPr>
          <p:cNvSpPr txBox="1"/>
          <p:nvPr/>
        </p:nvSpPr>
        <p:spPr>
          <a:xfrm>
            <a:off x="3347740" y="57021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5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8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188263" y="755712"/>
            <a:ext cx="5986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Metode</a:t>
            </a:r>
            <a:r>
              <a:rPr lang="en-US" sz="3600" i="1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Pengembangan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Sistem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1236932" y="1962787"/>
            <a:ext cx="4741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Metode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waterfall</a:t>
            </a:r>
            <a:r>
              <a:rPr lang="id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menyediakan pendekatan alur hidup perangkat lunak secara terurut dimulai dari analisis, desain, pengodean, pengujian dan tahap pendukung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2800" dirty="0">
              <a:latin typeface="Gotham Rounded Book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ECB0EB-482D-13C5-512B-8577AFCBE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534" y="1675155"/>
            <a:ext cx="4449445" cy="301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37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22743" y="784739"/>
            <a:ext cx="697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Metode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Penelitian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15454-2CF9-CB2D-202A-18EBA2A764C1}"/>
              </a:ext>
            </a:extLst>
          </p:cNvPr>
          <p:cNvSpPr txBox="1"/>
          <p:nvPr/>
        </p:nvSpPr>
        <p:spPr>
          <a:xfrm>
            <a:off x="1390650" y="1671723"/>
            <a:ext cx="47053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	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Vector Space 		Model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merupakan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	salah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satu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metode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algoritma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digunakan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sebuah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sistem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temu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embali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informasi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menggunakan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representasi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matematis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mengukur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kesamaan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antara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dokumen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query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D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C6AC84-4611-7F4F-AAA7-AF8FDD6A6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743" y="1562976"/>
            <a:ext cx="2005693" cy="1461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7AD12-E514-339E-932F-1B3C3FF9E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710" y="1671723"/>
            <a:ext cx="5328429" cy="31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1918591" y="2705725"/>
            <a:ext cx="83548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TERIMA</a:t>
            </a:r>
            <a:r>
              <a:rPr lang="en-US" sz="8800" dirty="0">
                <a:solidFill>
                  <a:srgbClr val="E8AA42"/>
                </a:solidFill>
                <a:latin typeface="Gotham Rounded Medium" panose="02000000000000000000" pitchFamily="50" charset="0"/>
              </a:rPr>
              <a:t>KASIH</a:t>
            </a:r>
            <a:endParaRPr lang="en-ID" sz="8800" dirty="0">
              <a:solidFill>
                <a:srgbClr val="E8AA42"/>
              </a:solidFill>
              <a:latin typeface="Gotham Rounded Medium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594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530</Words>
  <Application>Microsoft Office PowerPoint</Application>
  <PresentationFormat>Widescreen</PresentationFormat>
  <Paragraphs>77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Gotham Rounded Bold</vt:lpstr>
      <vt:lpstr>Gotham Rounded Book</vt:lpstr>
      <vt:lpstr>Gotham Rounded Medium</vt:lpstr>
      <vt:lpstr>Montserrat</vt:lpstr>
      <vt:lpstr>Montserrat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Ideapad</dc:creator>
  <cp:lastModifiedBy>Ignatius Mario Sarkol</cp:lastModifiedBy>
  <cp:revision>41</cp:revision>
  <dcterms:created xsi:type="dcterms:W3CDTF">2023-09-02T02:24:27Z</dcterms:created>
  <dcterms:modified xsi:type="dcterms:W3CDTF">2024-06-23T23:37:42Z</dcterms:modified>
</cp:coreProperties>
</file>