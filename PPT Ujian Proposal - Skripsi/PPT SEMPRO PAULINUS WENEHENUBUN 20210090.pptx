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78" r:id="rId3"/>
    <p:sldId id="257" r:id="rId4"/>
    <p:sldId id="258" r:id="rId5"/>
    <p:sldId id="271" r:id="rId6"/>
    <p:sldId id="272" r:id="rId7"/>
    <p:sldId id="259" r:id="rId8"/>
    <p:sldId id="260" r:id="rId9"/>
    <p:sldId id="264" r:id="rId10"/>
    <p:sldId id="267" r:id="rId11"/>
    <p:sldId id="263" r:id="rId12"/>
    <p:sldId id="276" r:id="rId13"/>
    <p:sldId id="265" r:id="rId14"/>
    <p:sldId id="270" r:id="rId15"/>
    <p:sldId id="277" r:id="rId16"/>
    <p:sldId id="262" r:id="rId17"/>
    <p:sldId id="273" r:id="rId18"/>
    <p:sldId id="274" r:id="rId19"/>
    <p:sldId id="266" r:id="rId20"/>
    <p:sldId id="275" r:id="rId21"/>
    <p:sldId id="268" r:id="rId22"/>
    <p:sldId id="269" r:id="rId23"/>
  </p:sldIdLst>
  <p:sldSz cx="18288000" cy="10287000"/>
  <p:notesSz cx="6858000" cy="9144000"/>
  <p:embeddedFontLst>
    <p:embeddedFont>
      <p:font typeface="Glacial Indifference" panose="020B0604020202020204" charset="0"/>
      <p:regular r:id="rId24"/>
    </p:embeddedFont>
    <p:embeddedFont>
      <p:font typeface="Glacial Indifference Bold" panose="020B060402020202020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97D2F411-9E5D-484A-A5CF-E1F6BEC64183}">
          <p14:sldIdLst>
            <p14:sldId id="256"/>
            <p14:sldId id="278"/>
          </p14:sldIdLst>
        </p14:section>
        <p14:section name="BAB I" id="{BE9AEDDA-0668-4175-9AD2-C9E7FE80065E}">
          <p14:sldIdLst>
            <p14:sldId id="257"/>
            <p14:sldId id="258"/>
            <p14:sldId id="271"/>
            <p14:sldId id="272"/>
            <p14:sldId id="259"/>
          </p14:sldIdLst>
        </p14:section>
        <p14:section name="BAB II" id="{9BA2B183-6D56-426F-A6F3-2DB14CC93173}">
          <p14:sldIdLst>
            <p14:sldId id="260"/>
            <p14:sldId id="264"/>
            <p14:sldId id="267"/>
            <p14:sldId id="263"/>
            <p14:sldId id="276"/>
            <p14:sldId id="265"/>
          </p14:sldIdLst>
        </p14:section>
        <p14:section name="END" id="{DC8B76DF-71E3-45E3-805E-51C772347EB8}">
          <p14:sldIdLst>
            <p14:sldId id="270"/>
            <p14:sldId id="277"/>
          </p14:sldIdLst>
        </p14:section>
        <p14:section name="Tamp" id="{CED260C0-AB62-47B4-BCCE-FFF7B9FC04F9}">
          <p14:sldIdLst>
            <p14:sldId id="262"/>
            <p14:sldId id="273"/>
            <p14:sldId id="274"/>
            <p14:sldId id="266"/>
            <p14:sldId id="275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  <a:srgbClr val="FFFFFF"/>
    <a:srgbClr val="5DA295"/>
    <a:srgbClr val="BFDD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06" autoAdjust="0"/>
    <p:restoredTop sz="94622" autoAdjust="0"/>
  </p:normalViewPr>
  <p:slideViewPr>
    <p:cSldViewPr>
      <p:cViewPr>
        <p:scale>
          <a:sx n="33" d="100"/>
          <a:sy n="33" d="100"/>
        </p:scale>
        <p:origin x="1572" y="5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12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svg"/><Relationship Id="rId5" Type="http://schemas.openxmlformats.org/officeDocument/2006/relationships/image" Target="../media/image13.sv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2.svg"/><Relationship Id="rId7" Type="http://schemas.openxmlformats.org/officeDocument/2006/relationships/image" Target="../media/image11.svg"/><Relationship Id="rId12" Type="http://schemas.openxmlformats.org/officeDocument/2006/relationships/image" Target="../media/image2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24.svg"/><Relationship Id="rId5" Type="http://schemas.openxmlformats.org/officeDocument/2006/relationships/image" Target="../media/image19.svg"/><Relationship Id="rId10" Type="http://schemas.openxmlformats.org/officeDocument/2006/relationships/image" Target="../media/image23.png"/><Relationship Id="rId4" Type="http://schemas.openxmlformats.org/officeDocument/2006/relationships/image" Target="../media/image18.png"/><Relationship Id="rId9" Type="http://schemas.openxmlformats.org/officeDocument/2006/relationships/image" Target="../media/image13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32.svg"/><Relationship Id="rId3" Type="http://schemas.openxmlformats.org/officeDocument/2006/relationships/image" Target="../media/image26.svg"/><Relationship Id="rId7" Type="http://schemas.openxmlformats.org/officeDocument/2006/relationships/image" Target="../media/image11.svg"/><Relationship Id="rId12" Type="http://schemas.openxmlformats.org/officeDocument/2006/relationships/image" Target="../media/image31.png"/><Relationship Id="rId2" Type="http://schemas.openxmlformats.org/officeDocument/2006/relationships/image" Target="../media/image25.png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30.svg"/><Relationship Id="rId5" Type="http://schemas.openxmlformats.org/officeDocument/2006/relationships/image" Target="../media/image28.svg"/><Relationship Id="rId15" Type="http://schemas.openxmlformats.org/officeDocument/2006/relationships/image" Target="../media/image34.svg"/><Relationship Id="rId10" Type="http://schemas.openxmlformats.org/officeDocument/2006/relationships/image" Target="../media/image29.png"/><Relationship Id="rId4" Type="http://schemas.openxmlformats.org/officeDocument/2006/relationships/image" Target="../media/image27.png"/><Relationship Id="rId9" Type="http://schemas.openxmlformats.org/officeDocument/2006/relationships/image" Target="../media/image13.svg"/><Relationship Id="rId14" Type="http://schemas.openxmlformats.org/officeDocument/2006/relationships/image" Target="../media/image3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42.svg"/><Relationship Id="rId18" Type="http://schemas.openxmlformats.org/officeDocument/2006/relationships/image" Target="../media/image20.png"/><Relationship Id="rId3" Type="http://schemas.openxmlformats.org/officeDocument/2006/relationships/image" Target="../media/image36.svg"/><Relationship Id="rId7" Type="http://schemas.openxmlformats.org/officeDocument/2006/relationships/image" Target="../media/image11.svg"/><Relationship Id="rId12" Type="http://schemas.openxmlformats.org/officeDocument/2006/relationships/image" Target="../media/image41.png"/><Relationship Id="rId17" Type="http://schemas.openxmlformats.org/officeDocument/2006/relationships/image" Target="../media/image46.svg"/><Relationship Id="rId2" Type="http://schemas.openxmlformats.org/officeDocument/2006/relationships/image" Target="../media/image35.png"/><Relationship Id="rId16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40.svg"/><Relationship Id="rId5" Type="http://schemas.openxmlformats.org/officeDocument/2006/relationships/image" Target="../media/image38.svg"/><Relationship Id="rId15" Type="http://schemas.openxmlformats.org/officeDocument/2006/relationships/image" Target="../media/image44.svg"/><Relationship Id="rId10" Type="http://schemas.openxmlformats.org/officeDocument/2006/relationships/image" Target="../media/image39.png"/><Relationship Id="rId4" Type="http://schemas.openxmlformats.org/officeDocument/2006/relationships/image" Target="../media/image37.png"/><Relationship Id="rId9" Type="http://schemas.openxmlformats.org/officeDocument/2006/relationships/image" Target="../media/image13.svg"/><Relationship Id="rId14" Type="http://schemas.openxmlformats.org/officeDocument/2006/relationships/image" Target="../media/image4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11.svg"/><Relationship Id="rId7" Type="http://schemas.openxmlformats.org/officeDocument/2006/relationships/image" Target="../media/image48.svg"/><Relationship Id="rId12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11" Type="http://schemas.openxmlformats.org/officeDocument/2006/relationships/image" Target="../media/image52.svg"/><Relationship Id="rId5" Type="http://schemas.openxmlformats.org/officeDocument/2006/relationships/image" Target="../media/image13.svg"/><Relationship Id="rId10" Type="http://schemas.openxmlformats.org/officeDocument/2006/relationships/image" Target="../media/image51.png"/><Relationship Id="rId4" Type="http://schemas.openxmlformats.org/officeDocument/2006/relationships/image" Target="../media/image12.png"/><Relationship Id="rId9" Type="http://schemas.openxmlformats.org/officeDocument/2006/relationships/image" Target="../media/image50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13" Type="http://schemas.openxmlformats.org/officeDocument/2006/relationships/image" Target="../media/image64.svg"/><Relationship Id="rId3" Type="http://schemas.openxmlformats.org/officeDocument/2006/relationships/image" Target="../media/image54.svg"/><Relationship Id="rId7" Type="http://schemas.openxmlformats.org/officeDocument/2006/relationships/image" Target="../media/image58.svg"/><Relationship Id="rId12" Type="http://schemas.openxmlformats.org/officeDocument/2006/relationships/image" Target="../media/image63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11" Type="http://schemas.openxmlformats.org/officeDocument/2006/relationships/image" Target="../media/image62.svg"/><Relationship Id="rId5" Type="http://schemas.openxmlformats.org/officeDocument/2006/relationships/image" Target="../media/image56.svg"/><Relationship Id="rId10" Type="http://schemas.openxmlformats.org/officeDocument/2006/relationships/image" Target="../media/image61.png"/><Relationship Id="rId4" Type="http://schemas.openxmlformats.org/officeDocument/2006/relationships/image" Target="../media/image55.png"/><Relationship Id="rId9" Type="http://schemas.openxmlformats.org/officeDocument/2006/relationships/image" Target="../media/image60.svg"/><Relationship Id="rId1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8.svg"/><Relationship Id="rId7" Type="http://schemas.openxmlformats.org/officeDocument/2006/relationships/image" Target="../media/image64.svg"/><Relationship Id="rId12" Type="http://schemas.openxmlformats.org/officeDocument/2006/relationships/image" Target="../media/image2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png"/><Relationship Id="rId11" Type="http://schemas.openxmlformats.org/officeDocument/2006/relationships/image" Target="../media/image13.svg"/><Relationship Id="rId5" Type="http://schemas.openxmlformats.org/officeDocument/2006/relationships/image" Target="../media/image62.svg"/><Relationship Id="rId10" Type="http://schemas.openxmlformats.org/officeDocument/2006/relationships/image" Target="../media/image12.png"/><Relationship Id="rId4" Type="http://schemas.openxmlformats.org/officeDocument/2006/relationships/image" Target="../media/image61.png"/><Relationship Id="rId9" Type="http://schemas.openxmlformats.org/officeDocument/2006/relationships/image" Target="../media/image11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42.svg"/><Relationship Id="rId3" Type="http://schemas.openxmlformats.org/officeDocument/2006/relationships/image" Target="../media/image36.svg"/><Relationship Id="rId7" Type="http://schemas.openxmlformats.org/officeDocument/2006/relationships/image" Target="../media/image11.svg"/><Relationship Id="rId12" Type="http://schemas.openxmlformats.org/officeDocument/2006/relationships/image" Target="../media/image41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40.svg"/><Relationship Id="rId5" Type="http://schemas.openxmlformats.org/officeDocument/2006/relationships/image" Target="../media/image38.svg"/><Relationship Id="rId10" Type="http://schemas.openxmlformats.org/officeDocument/2006/relationships/image" Target="../media/image39.png"/><Relationship Id="rId4" Type="http://schemas.openxmlformats.org/officeDocument/2006/relationships/image" Target="../media/image37.png"/><Relationship Id="rId9" Type="http://schemas.openxmlformats.org/officeDocument/2006/relationships/image" Target="../media/image13.svg"/><Relationship Id="rId1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68.svg"/><Relationship Id="rId3" Type="http://schemas.openxmlformats.org/officeDocument/2006/relationships/image" Target="../media/image28.svg"/><Relationship Id="rId7" Type="http://schemas.openxmlformats.org/officeDocument/2006/relationships/image" Target="../media/image11.svg"/><Relationship Id="rId12" Type="http://schemas.openxmlformats.org/officeDocument/2006/relationships/image" Target="../media/image67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9.svg"/><Relationship Id="rId5" Type="http://schemas.openxmlformats.org/officeDocument/2006/relationships/image" Target="../media/image66.svg"/><Relationship Id="rId10" Type="http://schemas.openxmlformats.org/officeDocument/2006/relationships/image" Target="../media/image18.png"/><Relationship Id="rId4" Type="http://schemas.openxmlformats.org/officeDocument/2006/relationships/image" Target="../media/image65.png"/><Relationship Id="rId9" Type="http://schemas.openxmlformats.org/officeDocument/2006/relationships/image" Target="../media/image13.svg"/><Relationship Id="rId1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42.svg"/><Relationship Id="rId3" Type="http://schemas.openxmlformats.org/officeDocument/2006/relationships/image" Target="../media/image36.svg"/><Relationship Id="rId7" Type="http://schemas.openxmlformats.org/officeDocument/2006/relationships/image" Target="../media/image11.svg"/><Relationship Id="rId12" Type="http://schemas.openxmlformats.org/officeDocument/2006/relationships/image" Target="../media/image41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40.svg"/><Relationship Id="rId5" Type="http://schemas.openxmlformats.org/officeDocument/2006/relationships/image" Target="../media/image38.svg"/><Relationship Id="rId10" Type="http://schemas.openxmlformats.org/officeDocument/2006/relationships/image" Target="../media/image39.png"/><Relationship Id="rId4" Type="http://schemas.openxmlformats.org/officeDocument/2006/relationships/image" Target="../media/image37.png"/><Relationship Id="rId9" Type="http://schemas.openxmlformats.org/officeDocument/2006/relationships/image" Target="../media/image13.svg"/><Relationship Id="rId1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24.svg"/><Relationship Id="rId3" Type="http://schemas.openxmlformats.org/officeDocument/2006/relationships/image" Target="../media/image19.svg"/><Relationship Id="rId7" Type="http://schemas.openxmlformats.org/officeDocument/2006/relationships/image" Target="../media/image11.svg"/><Relationship Id="rId12" Type="http://schemas.openxmlformats.org/officeDocument/2006/relationships/image" Target="../media/image23.png"/><Relationship Id="rId17" Type="http://schemas.openxmlformats.org/officeDocument/2006/relationships/image" Target="../media/image71.png"/><Relationship Id="rId2" Type="http://schemas.openxmlformats.org/officeDocument/2006/relationships/image" Target="../media/image18.png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70.svg"/><Relationship Id="rId5" Type="http://schemas.openxmlformats.org/officeDocument/2006/relationships/image" Target="../media/image64.svg"/><Relationship Id="rId15" Type="http://schemas.openxmlformats.org/officeDocument/2006/relationships/image" Target="../media/image68.svg"/><Relationship Id="rId10" Type="http://schemas.openxmlformats.org/officeDocument/2006/relationships/image" Target="../media/image69.png"/><Relationship Id="rId4" Type="http://schemas.openxmlformats.org/officeDocument/2006/relationships/image" Target="../media/image63.png"/><Relationship Id="rId9" Type="http://schemas.openxmlformats.org/officeDocument/2006/relationships/image" Target="../media/image13.svg"/><Relationship Id="rId14" Type="http://schemas.openxmlformats.org/officeDocument/2006/relationships/image" Target="../media/image6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73.svg"/><Relationship Id="rId7" Type="http://schemas.openxmlformats.org/officeDocument/2006/relationships/image" Target="../media/image36.sv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75.svg"/><Relationship Id="rId4" Type="http://schemas.openxmlformats.org/officeDocument/2006/relationships/image" Target="../media/image74.png"/><Relationship Id="rId9" Type="http://schemas.openxmlformats.org/officeDocument/2006/relationships/image" Target="../media/image40.sv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13" Type="http://schemas.openxmlformats.org/officeDocument/2006/relationships/image" Target="../media/image46.svg"/><Relationship Id="rId18" Type="http://schemas.openxmlformats.org/officeDocument/2006/relationships/image" Target="../media/image82.png"/><Relationship Id="rId3" Type="http://schemas.openxmlformats.org/officeDocument/2006/relationships/image" Target="../media/image11.svg"/><Relationship Id="rId21" Type="http://schemas.openxmlformats.org/officeDocument/2006/relationships/image" Target="../media/image24.svg"/><Relationship Id="rId7" Type="http://schemas.openxmlformats.org/officeDocument/2006/relationships/image" Target="../media/image77.svg"/><Relationship Id="rId12" Type="http://schemas.openxmlformats.org/officeDocument/2006/relationships/image" Target="../media/image45.png"/><Relationship Id="rId17" Type="http://schemas.openxmlformats.org/officeDocument/2006/relationships/image" Target="../media/image81.svg"/><Relationship Id="rId2" Type="http://schemas.openxmlformats.org/officeDocument/2006/relationships/image" Target="../media/image10.png"/><Relationship Id="rId16" Type="http://schemas.openxmlformats.org/officeDocument/2006/relationships/image" Target="../media/image80.pn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6.png"/><Relationship Id="rId11" Type="http://schemas.openxmlformats.org/officeDocument/2006/relationships/image" Target="../media/image44.svg"/><Relationship Id="rId5" Type="http://schemas.openxmlformats.org/officeDocument/2006/relationships/image" Target="../media/image13.svg"/><Relationship Id="rId15" Type="http://schemas.openxmlformats.org/officeDocument/2006/relationships/image" Target="../media/image70.svg"/><Relationship Id="rId23" Type="http://schemas.openxmlformats.org/officeDocument/2006/relationships/image" Target="../media/image85.svg"/><Relationship Id="rId10" Type="http://schemas.openxmlformats.org/officeDocument/2006/relationships/image" Target="../media/image43.png"/><Relationship Id="rId19" Type="http://schemas.openxmlformats.org/officeDocument/2006/relationships/image" Target="../media/image83.svg"/><Relationship Id="rId4" Type="http://schemas.openxmlformats.org/officeDocument/2006/relationships/image" Target="../media/image12.png"/><Relationship Id="rId9" Type="http://schemas.openxmlformats.org/officeDocument/2006/relationships/image" Target="../media/image79.svg"/><Relationship Id="rId14" Type="http://schemas.openxmlformats.org/officeDocument/2006/relationships/image" Target="../media/image69.png"/><Relationship Id="rId22" Type="http://schemas.openxmlformats.org/officeDocument/2006/relationships/image" Target="../media/image8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87.svg"/><Relationship Id="rId3" Type="http://schemas.openxmlformats.org/officeDocument/2006/relationships/image" Target="../media/image8.svg"/><Relationship Id="rId7" Type="http://schemas.openxmlformats.org/officeDocument/2006/relationships/image" Target="../media/image64.svg"/><Relationship Id="rId12" Type="http://schemas.openxmlformats.org/officeDocument/2006/relationships/image" Target="../media/image8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png"/><Relationship Id="rId11" Type="http://schemas.openxmlformats.org/officeDocument/2006/relationships/image" Target="../media/image13.svg"/><Relationship Id="rId5" Type="http://schemas.openxmlformats.org/officeDocument/2006/relationships/image" Target="../media/image62.svg"/><Relationship Id="rId10" Type="http://schemas.openxmlformats.org/officeDocument/2006/relationships/image" Target="../media/image12.png"/><Relationship Id="rId4" Type="http://schemas.openxmlformats.org/officeDocument/2006/relationships/image" Target="../media/image61.png"/><Relationship Id="rId9" Type="http://schemas.openxmlformats.org/officeDocument/2006/relationships/image" Target="../media/image11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70.svg"/><Relationship Id="rId3" Type="http://schemas.openxmlformats.org/officeDocument/2006/relationships/image" Target="../media/image19.svg"/><Relationship Id="rId7" Type="http://schemas.openxmlformats.org/officeDocument/2006/relationships/image" Target="../media/image11.svg"/><Relationship Id="rId12" Type="http://schemas.openxmlformats.org/officeDocument/2006/relationships/image" Target="../media/image69.png"/><Relationship Id="rId17" Type="http://schemas.openxmlformats.org/officeDocument/2006/relationships/image" Target="../media/image68.svg"/><Relationship Id="rId2" Type="http://schemas.openxmlformats.org/officeDocument/2006/relationships/image" Target="../media/image18.png"/><Relationship Id="rId16" Type="http://schemas.openxmlformats.org/officeDocument/2006/relationships/image" Target="../media/image6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89.svg"/><Relationship Id="rId5" Type="http://schemas.openxmlformats.org/officeDocument/2006/relationships/image" Target="../media/image64.svg"/><Relationship Id="rId15" Type="http://schemas.openxmlformats.org/officeDocument/2006/relationships/image" Target="../media/image24.svg"/><Relationship Id="rId10" Type="http://schemas.openxmlformats.org/officeDocument/2006/relationships/image" Target="../media/image88.png"/><Relationship Id="rId4" Type="http://schemas.openxmlformats.org/officeDocument/2006/relationships/image" Target="../media/image63.png"/><Relationship Id="rId9" Type="http://schemas.openxmlformats.org/officeDocument/2006/relationships/image" Target="../media/image13.svg"/><Relationship Id="rId1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85.svg"/><Relationship Id="rId3" Type="http://schemas.openxmlformats.org/officeDocument/2006/relationships/image" Target="../media/image90.svg"/><Relationship Id="rId7" Type="http://schemas.openxmlformats.org/officeDocument/2006/relationships/image" Target="../media/image13.svg"/><Relationship Id="rId12" Type="http://schemas.openxmlformats.org/officeDocument/2006/relationships/image" Target="../media/image8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94.svg"/><Relationship Id="rId5" Type="http://schemas.openxmlformats.org/officeDocument/2006/relationships/image" Target="../media/image11.svg"/><Relationship Id="rId10" Type="http://schemas.openxmlformats.org/officeDocument/2006/relationships/image" Target="../media/image93.png"/><Relationship Id="rId4" Type="http://schemas.openxmlformats.org/officeDocument/2006/relationships/image" Target="../media/image10.png"/><Relationship Id="rId9" Type="http://schemas.openxmlformats.org/officeDocument/2006/relationships/image" Target="../media/image92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42.svg"/><Relationship Id="rId3" Type="http://schemas.openxmlformats.org/officeDocument/2006/relationships/image" Target="../media/image36.svg"/><Relationship Id="rId7" Type="http://schemas.openxmlformats.org/officeDocument/2006/relationships/image" Target="../media/image11.svg"/><Relationship Id="rId12" Type="http://schemas.openxmlformats.org/officeDocument/2006/relationships/image" Target="../media/image41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40.svg"/><Relationship Id="rId5" Type="http://schemas.openxmlformats.org/officeDocument/2006/relationships/image" Target="../media/image38.svg"/><Relationship Id="rId10" Type="http://schemas.openxmlformats.org/officeDocument/2006/relationships/image" Target="../media/image39.png"/><Relationship Id="rId4" Type="http://schemas.openxmlformats.org/officeDocument/2006/relationships/image" Target="../media/image37.png"/><Relationship Id="rId9" Type="http://schemas.openxmlformats.org/officeDocument/2006/relationships/image" Target="../media/image13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jpeg"/><Relationship Id="rId13" Type="http://schemas.openxmlformats.org/officeDocument/2006/relationships/image" Target="../media/image100.png"/><Relationship Id="rId18" Type="http://schemas.openxmlformats.org/officeDocument/2006/relationships/image" Target="../media/image105.svg"/><Relationship Id="rId3" Type="http://schemas.openxmlformats.org/officeDocument/2006/relationships/image" Target="../media/image8.svg"/><Relationship Id="rId7" Type="http://schemas.openxmlformats.org/officeDocument/2006/relationships/image" Target="../media/image13.svg"/><Relationship Id="rId12" Type="http://schemas.openxmlformats.org/officeDocument/2006/relationships/image" Target="../media/image99.jpeg"/><Relationship Id="rId17" Type="http://schemas.openxmlformats.org/officeDocument/2006/relationships/image" Target="../media/image104.png"/><Relationship Id="rId2" Type="http://schemas.openxmlformats.org/officeDocument/2006/relationships/image" Target="../media/image7.png"/><Relationship Id="rId16" Type="http://schemas.openxmlformats.org/officeDocument/2006/relationships/image" Target="../media/image10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98.jpeg"/><Relationship Id="rId5" Type="http://schemas.openxmlformats.org/officeDocument/2006/relationships/image" Target="../media/image11.svg"/><Relationship Id="rId15" Type="http://schemas.openxmlformats.org/officeDocument/2006/relationships/image" Target="../media/image102.png"/><Relationship Id="rId10" Type="http://schemas.openxmlformats.org/officeDocument/2006/relationships/image" Target="../media/image97.jpeg"/><Relationship Id="rId4" Type="http://schemas.openxmlformats.org/officeDocument/2006/relationships/image" Target="../media/image10.png"/><Relationship Id="rId9" Type="http://schemas.openxmlformats.org/officeDocument/2006/relationships/image" Target="../media/image96.jpeg"/><Relationship Id="rId14" Type="http://schemas.openxmlformats.org/officeDocument/2006/relationships/image" Target="../media/image101.sv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68.svg"/><Relationship Id="rId3" Type="http://schemas.openxmlformats.org/officeDocument/2006/relationships/image" Target="../media/image64.svg"/><Relationship Id="rId7" Type="http://schemas.openxmlformats.org/officeDocument/2006/relationships/image" Target="../media/image13.svg"/><Relationship Id="rId12" Type="http://schemas.openxmlformats.org/officeDocument/2006/relationships/image" Target="../media/image67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9.svg"/><Relationship Id="rId5" Type="http://schemas.openxmlformats.org/officeDocument/2006/relationships/image" Target="../media/image11.svg"/><Relationship Id="rId10" Type="http://schemas.openxmlformats.org/officeDocument/2006/relationships/image" Target="../media/image18.png"/><Relationship Id="rId4" Type="http://schemas.openxmlformats.org/officeDocument/2006/relationships/image" Target="../media/image10.png"/><Relationship Id="rId9" Type="http://schemas.openxmlformats.org/officeDocument/2006/relationships/image" Target="../media/image2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939515" y="6668606"/>
            <a:ext cx="5348485" cy="3618394"/>
            <a:chOff x="0" y="0"/>
            <a:chExt cx="1408655" cy="95299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08655" cy="952993"/>
            </a:xfrm>
            <a:custGeom>
              <a:avLst/>
              <a:gdLst/>
              <a:ahLst/>
              <a:cxnLst/>
              <a:rect l="l" t="t" r="r" b="b"/>
              <a:pathLst>
                <a:path w="1408655" h="952993">
                  <a:moveTo>
                    <a:pt x="0" y="0"/>
                  </a:moveTo>
                  <a:lnTo>
                    <a:pt x="1408655" y="0"/>
                  </a:lnTo>
                  <a:lnTo>
                    <a:pt x="1408655" y="952993"/>
                  </a:lnTo>
                  <a:lnTo>
                    <a:pt x="0" y="952993"/>
                  </a:lnTo>
                  <a:close/>
                </a:path>
              </a:pathLst>
            </a:custGeom>
            <a:solidFill>
              <a:srgbClr val="E4E4E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408655" cy="9910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4996383" y="7369516"/>
            <a:ext cx="1197794" cy="1093259"/>
          </a:xfrm>
          <a:custGeom>
            <a:avLst/>
            <a:gdLst/>
            <a:ahLst/>
            <a:cxnLst/>
            <a:rect l="l" t="t" r="r" b="b"/>
            <a:pathLst>
              <a:path w="1197794" h="1093259">
                <a:moveTo>
                  <a:pt x="0" y="0"/>
                </a:moveTo>
                <a:lnTo>
                  <a:pt x="1197794" y="0"/>
                </a:lnTo>
                <a:lnTo>
                  <a:pt x="1197794" y="1093259"/>
                </a:lnTo>
                <a:lnTo>
                  <a:pt x="0" y="10932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337986" y="7589306"/>
            <a:ext cx="514589" cy="475293"/>
          </a:xfrm>
          <a:custGeom>
            <a:avLst/>
            <a:gdLst/>
            <a:ahLst/>
            <a:cxnLst/>
            <a:rect l="l" t="t" r="r" b="b"/>
            <a:pathLst>
              <a:path w="514589" h="475293">
                <a:moveTo>
                  <a:pt x="0" y="0"/>
                </a:moveTo>
                <a:lnTo>
                  <a:pt x="514588" y="0"/>
                </a:lnTo>
                <a:lnTo>
                  <a:pt x="514588" y="475293"/>
                </a:lnTo>
                <a:lnTo>
                  <a:pt x="0" y="4752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183514" y="2901658"/>
            <a:ext cx="1327633" cy="1327633"/>
          </a:xfrm>
          <a:custGeom>
            <a:avLst/>
            <a:gdLst/>
            <a:ahLst/>
            <a:cxnLst/>
            <a:rect l="l" t="t" r="r" b="b"/>
            <a:pathLst>
              <a:path w="1327633" h="1327633">
                <a:moveTo>
                  <a:pt x="0" y="0"/>
                </a:moveTo>
                <a:lnTo>
                  <a:pt x="1327633" y="0"/>
                </a:lnTo>
                <a:lnTo>
                  <a:pt x="1327633" y="1327633"/>
                </a:lnTo>
                <a:lnTo>
                  <a:pt x="0" y="13276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1747072" y="-2408128"/>
            <a:ext cx="5973602" cy="5973602"/>
          </a:xfrm>
          <a:custGeom>
            <a:avLst/>
            <a:gdLst/>
            <a:ahLst/>
            <a:cxnLst/>
            <a:rect l="l" t="t" r="r" b="b"/>
            <a:pathLst>
              <a:path w="5973602" h="5973602">
                <a:moveTo>
                  <a:pt x="0" y="0"/>
                </a:moveTo>
                <a:lnTo>
                  <a:pt x="5973602" y="0"/>
                </a:lnTo>
                <a:lnTo>
                  <a:pt x="5973602" y="5973602"/>
                </a:lnTo>
                <a:lnTo>
                  <a:pt x="0" y="59736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15351247" y="4400741"/>
            <a:ext cx="803180" cy="742759"/>
            <a:chOff x="0" y="0"/>
            <a:chExt cx="211537" cy="19562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1537" cy="195624"/>
            </a:xfrm>
            <a:custGeom>
              <a:avLst/>
              <a:gdLst/>
              <a:ahLst/>
              <a:cxnLst/>
              <a:rect l="l" t="t" r="r" b="b"/>
              <a:pathLst>
                <a:path w="211537" h="195624">
                  <a:moveTo>
                    <a:pt x="0" y="0"/>
                  </a:moveTo>
                  <a:lnTo>
                    <a:pt x="211537" y="0"/>
                  </a:lnTo>
                  <a:lnTo>
                    <a:pt x="211537" y="195624"/>
                  </a:lnTo>
                  <a:lnTo>
                    <a:pt x="0" y="195624"/>
                  </a:lnTo>
                  <a:close/>
                </a:path>
              </a:pathLst>
            </a:custGeom>
            <a:solidFill>
              <a:srgbClr val="5DA295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11537" cy="2337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0" y="0"/>
            <a:ext cx="619741" cy="2934068"/>
            <a:chOff x="0" y="0"/>
            <a:chExt cx="163224" cy="77275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63224" cy="772759"/>
            </a:xfrm>
            <a:custGeom>
              <a:avLst/>
              <a:gdLst/>
              <a:ahLst/>
              <a:cxnLst/>
              <a:rect l="l" t="t" r="r" b="b"/>
              <a:pathLst>
                <a:path w="163224" h="772759">
                  <a:moveTo>
                    <a:pt x="0" y="0"/>
                  </a:moveTo>
                  <a:lnTo>
                    <a:pt x="163224" y="0"/>
                  </a:lnTo>
                  <a:lnTo>
                    <a:pt x="163224" y="772759"/>
                  </a:lnTo>
                  <a:lnTo>
                    <a:pt x="0" y="772759"/>
                  </a:lnTo>
                  <a:close/>
                </a:path>
              </a:pathLst>
            </a:custGeom>
            <a:solidFill>
              <a:srgbClr val="5DA295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63224" cy="8108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0" y="2933707"/>
            <a:ext cx="619741" cy="1004046"/>
            <a:chOff x="0" y="0"/>
            <a:chExt cx="163224" cy="26444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63224" cy="264440"/>
            </a:xfrm>
            <a:custGeom>
              <a:avLst/>
              <a:gdLst/>
              <a:ahLst/>
              <a:cxnLst/>
              <a:rect l="l" t="t" r="r" b="b"/>
              <a:pathLst>
                <a:path w="163224" h="264440">
                  <a:moveTo>
                    <a:pt x="0" y="0"/>
                  </a:moveTo>
                  <a:lnTo>
                    <a:pt x="163224" y="0"/>
                  </a:lnTo>
                  <a:lnTo>
                    <a:pt x="163224" y="264440"/>
                  </a:lnTo>
                  <a:lnTo>
                    <a:pt x="0" y="264440"/>
                  </a:lnTo>
                  <a:close/>
                </a:path>
              </a:pathLst>
            </a:custGeom>
            <a:solidFill>
              <a:srgbClr val="BFDDD2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63224" cy="3025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0" y="6668606"/>
            <a:ext cx="13182600" cy="3618394"/>
            <a:chOff x="0" y="0"/>
            <a:chExt cx="3407938" cy="95299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407938" cy="952993"/>
            </a:xfrm>
            <a:custGeom>
              <a:avLst/>
              <a:gdLst/>
              <a:ahLst/>
              <a:cxnLst/>
              <a:rect l="l" t="t" r="r" b="b"/>
              <a:pathLst>
                <a:path w="3407938" h="952993">
                  <a:moveTo>
                    <a:pt x="0" y="0"/>
                  </a:moveTo>
                  <a:lnTo>
                    <a:pt x="3407938" y="0"/>
                  </a:lnTo>
                  <a:lnTo>
                    <a:pt x="3407938" y="952993"/>
                  </a:lnTo>
                  <a:lnTo>
                    <a:pt x="0" y="952993"/>
                  </a:lnTo>
                  <a:close/>
                </a:path>
              </a:pathLst>
            </a:custGeom>
            <a:solidFill>
              <a:srgbClr val="5DA295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3407938" cy="9910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967885" y="7117855"/>
            <a:ext cx="143103" cy="2691310"/>
            <a:chOff x="0" y="0"/>
            <a:chExt cx="37690" cy="70882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7690" cy="708822"/>
            </a:xfrm>
            <a:custGeom>
              <a:avLst/>
              <a:gdLst/>
              <a:ahLst/>
              <a:cxnLst/>
              <a:rect l="l" t="t" r="r" b="b"/>
              <a:pathLst>
                <a:path w="37690" h="708822">
                  <a:moveTo>
                    <a:pt x="0" y="0"/>
                  </a:moveTo>
                  <a:lnTo>
                    <a:pt x="37690" y="0"/>
                  </a:lnTo>
                  <a:lnTo>
                    <a:pt x="37690" y="708822"/>
                  </a:lnTo>
                  <a:lnTo>
                    <a:pt x="0" y="708822"/>
                  </a:lnTo>
                  <a:close/>
                </a:path>
              </a:pathLst>
            </a:custGeom>
            <a:solidFill>
              <a:srgbClr val="BFDDD2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37690" cy="7469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3943156" y="8662165"/>
            <a:ext cx="3341203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spc="15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UNIVERSITAS</a:t>
            </a:r>
          </a:p>
          <a:p>
            <a:pPr algn="ctr">
              <a:lnSpc>
                <a:spcPts val="3600"/>
              </a:lnSpc>
            </a:pPr>
            <a:r>
              <a:rPr lang="en-US" sz="3000" spc="15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NEGERI MANADO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676921" y="8516338"/>
            <a:ext cx="8009619" cy="5706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dirty="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PROGRAM STUDI TEKNIK INFORMATIKA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967885" y="1341590"/>
            <a:ext cx="8718655" cy="936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5499" b="1" spc="439">
                <a:solidFill>
                  <a:srgbClr val="5DA295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SEMINAR PROPOSAL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676920" y="7078451"/>
            <a:ext cx="6314679" cy="6668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1" dirty="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Paulinus </a:t>
            </a:r>
            <a:r>
              <a:rPr lang="en-US" sz="3999" b="1" dirty="0" err="1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Wenehenubun</a:t>
            </a:r>
            <a:endParaRPr lang="en-US" sz="3999" b="1" dirty="0">
              <a:solidFill>
                <a:srgbClr val="FFFFFF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2676921" y="7850223"/>
            <a:ext cx="3755428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dirty="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NIM : 20210090</a:t>
            </a:r>
          </a:p>
        </p:txBody>
      </p:sp>
      <p:sp>
        <p:nvSpPr>
          <p:cNvPr id="31" name="TextBox 24">
            <a:extLst>
              <a:ext uri="{FF2B5EF4-FFF2-40B4-BE49-F238E27FC236}">
                <a16:creationId xmlns:a16="http://schemas.microsoft.com/office/drawing/2014/main" id="{0CA82C62-26C0-412F-AC87-89134F1ADBBD}"/>
              </a:ext>
            </a:extLst>
          </p:cNvPr>
          <p:cNvSpPr txBox="1"/>
          <p:nvPr/>
        </p:nvSpPr>
        <p:spPr>
          <a:xfrm>
            <a:off x="1967885" y="2519574"/>
            <a:ext cx="11519515" cy="30777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D" sz="4000" dirty="0">
                <a:latin typeface="Glacial Indifference Bold" panose="020B0604020202020204" charset="0"/>
              </a:rPr>
              <a:t>IMPLEMENTASI ALGORITMA </a:t>
            </a:r>
            <a:r>
              <a:rPr lang="en-ID" sz="4000" i="1" dirty="0">
                <a:latin typeface="Glacial Indifference Bold" panose="020B0604020202020204" charset="0"/>
              </a:rPr>
              <a:t>LINEAR SEARCH </a:t>
            </a:r>
            <a:r>
              <a:rPr lang="en-ID" sz="4000" dirty="0">
                <a:latin typeface="Glacial Indifference Bold" panose="020B0604020202020204" charset="0"/>
              </a:rPr>
              <a:t>PADA APLIKASI PENGELOLAHAN DATA ASET INVENTARIS KANTOR SATUAN PENDIDIKAN NONFORMAL / SANGGAR KEGIATAN BELAJAR TONDANO BERBASIS WEB </a:t>
            </a:r>
            <a:endParaRPr lang="en-US" sz="4000" b="1" dirty="0">
              <a:solidFill>
                <a:srgbClr val="000000"/>
              </a:solidFill>
              <a:latin typeface="Glacial Indifference Bold" panose="020B0604020202020204" charset="0"/>
              <a:ea typeface="Glacial Indifference Bold"/>
              <a:cs typeface="Glacial Indifference Bold"/>
              <a:sym typeface="Glacial Indifference Bold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2AB6D56C-D301-454E-A470-8418CFB3B98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93311" y="7146088"/>
            <a:ext cx="1403937" cy="1408270"/>
          </a:xfrm>
          <a:prstGeom prst="rect">
            <a:avLst/>
          </a:prstGeom>
        </p:spPr>
      </p:pic>
      <p:sp>
        <p:nvSpPr>
          <p:cNvPr id="32" name="TextBox 26">
            <a:extLst>
              <a:ext uri="{FF2B5EF4-FFF2-40B4-BE49-F238E27FC236}">
                <a16:creationId xmlns:a16="http://schemas.microsoft.com/office/drawing/2014/main" id="{FF20E1F8-5713-46DB-AFB8-FE720EFF8DB9}"/>
              </a:ext>
            </a:extLst>
          </p:cNvPr>
          <p:cNvSpPr txBox="1"/>
          <p:nvPr/>
        </p:nvSpPr>
        <p:spPr>
          <a:xfrm>
            <a:off x="2676921" y="9116334"/>
            <a:ext cx="10667376" cy="5706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dirty="0" err="1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Dosen</a:t>
            </a:r>
            <a:r>
              <a:rPr lang="en-US" sz="3399" dirty="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399" dirty="0" err="1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Pembimbing</a:t>
            </a:r>
            <a:r>
              <a:rPr lang="en-US" sz="3399" dirty="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: </a:t>
            </a:r>
            <a:r>
              <a:rPr lang="en-US" sz="3399" dirty="0" err="1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Sondy</a:t>
            </a:r>
            <a:r>
              <a:rPr lang="en-US" sz="3399" dirty="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399" dirty="0" err="1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Campvid</a:t>
            </a:r>
            <a:r>
              <a:rPr lang="en-US" sz="3399" dirty="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399" dirty="0" err="1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Kumajas</a:t>
            </a:r>
            <a:r>
              <a:rPr lang="en-US" sz="3399" dirty="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, S.T., M.T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D2E3C-BEF5-D81D-8CE6-C8C32630B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503D85A-C6AE-2342-00EE-14D4797002E5}"/>
              </a:ext>
            </a:extLst>
          </p:cNvPr>
          <p:cNvGrpSpPr/>
          <p:nvPr/>
        </p:nvGrpSpPr>
        <p:grpSpPr>
          <a:xfrm>
            <a:off x="12939515" y="6668606"/>
            <a:ext cx="5348485" cy="3618394"/>
            <a:chOff x="0" y="0"/>
            <a:chExt cx="1408655" cy="95299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4FDD58D-E9B3-276B-BED8-B9CBF3225407}"/>
                </a:ext>
              </a:extLst>
            </p:cNvPr>
            <p:cNvSpPr/>
            <p:nvPr/>
          </p:nvSpPr>
          <p:spPr>
            <a:xfrm>
              <a:off x="0" y="0"/>
              <a:ext cx="1408655" cy="952993"/>
            </a:xfrm>
            <a:custGeom>
              <a:avLst/>
              <a:gdLst/>
              <a:ahLst/>
              <a:cxnLst/>
              <a:rect l="l" t="t" r="r" b="b"/>
              <a:pathLst>
                <a:path w="1408655" h="952993">
                  <a:moveTo>
                    <a:pt x="0" y="0"/>
                  </a:moveTo>
                  <a:lnTo>
                    <a:pt x="1408655" y="0"/>
                  </a:lnTo>
                  <a:lnTo>
                    <a:pt x="1408655" y="952993"/>
                  </a:lnTo>
                  <a:lnTo>
                    <a:pt x="0" y="952993"/>
                  </a:lnTo>
                  <a:close/>
                </a:path>
              </a:pathLst>
            </a:custGeom>
            <a:solidFill>
              <a:srgbClr val="E4E4E4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C4D7050E-8FB3-AAB0-E707-CE0651F2D077}"/>
                </a:ext>
              </a:extLst>
            </p:cNvPr>
            <p:cNvSpPr txBox="1"/>
            <p:nvPr/>
          </p:nvSpPr>
          <p:spPr>
            <a:xfrm>
              <a:off x="0" y="-38100"/>
              <a:ext cx="1408655" cy="9910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3112FA6C-66A2-A92F-698B-F7E3D7BA6BBB}"/>
              </a:ext>
            </a:extLst>
          </p:cNvPr>
          <p:cNvSpPr/>
          <p:nvPr/>
        </p:nvSpPr>
        <p:spPr>
          <a:xfrm>
            <a:off x="14996383" y="7369516"/>
            <a:ext cx="1197794" cy="1093259"/>
          </a:xfrm>
          <a:custGeom>
            <a:avLst/>
            <a:gdLst/>
            <a:ahLst/>
            <a:cxnLst/>
            <a:rect l="l" t="t" r="r" b="b"/>
            <a:pathLst>
              <a:path w="1197794" h="1093259">
                <a:moveTo>
                  <a:pt x="0" y="0"/>
                </a:moveTo>
                <a:lnTo>
                  <a:pt x="1197794" y="0"/>
                </a:lnTo>
                <a:lnTo>
                  <a:pt x="1197794" y="1093259"/>
                </a:lnTo>
                <a:lnTo>
                  <a:pt x="0" y="10932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A54611A0-8D3F-E27B-FD2D-D1262F3DCC24}"/>
              </a:ext>
            </a:extLst>
          </p:cNvPr>
          <p:cNvSpPr/>
          <p:nvPr/>
        </p:nvSpPr>
        <p:spPr>
          <a:xfrm>
            <a:off x="15337986" y="7589306"/>
            <a:ext cx="514589" cy="475293"/>
          </a:xfrm>
          <a:custGeom>
            <a:avLst/>
            <a:gdLst/>
            <a:ahLst/>
            <a:cxnLst/>
            <a:rect l="l" t="t" r="r" b="b"/>
            <a:pathLst>
              <a:path w="514589" h="475293">
                <a:moveTo>
                  <a:pt x="0" y="0"/>
                </a:moveTo>
                <a:lnTo>
                  <a:pt x="514588" y="0"/>
                </a:lnTo>
                <a:lnTo>
                  <a:pt x="514588" y="475293"/>
                </a:lnTo>
                <a:lnTo>
                  <a:pt x="0" y="4752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7D14B1E4-52C6-E330-C27E-E31FBEB97D05}"/>
              </a:ext>
            </a:extLst>
          </p:cNvPr>
          <p:cNvSpPr/>
          <p:nvPr/>
        </p:nvSpPr>
        <p:spPr>
          <a:xfrm>
            <a:off x="16183514" y="2901658"/>
            <a:ext cx="1327633" cy="1327633"/>
          </a:xfrm>
          <a:custGeom>
            <a:avLst/>
            <a:gdLst/>
            <a:ahLst/>
            <a:cxnLst/>
            <a:rect l="l" t="t" r="r" b="b"/>
            <a:pathLst>
              <a:path w="1327633" h="1327633">
                <a:moveTo>
                  <a:pt x="0" y="0"/>
                </a:moveTo>
                <a:lnTo>
                  <a:pt x="1327633" y="0"/>
                </a:lnTo>
                <a:lnTo>
                  <a:pt x="1327633" y="1327633"/>
                </a:lnTo>
                <a:lnTo>
                  <a:pt x="0" y="13276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E7741867-5292-C746-AA96-3740E99BB6E6}"/>
              </a:ext>
            </a:extLst>
          </p:cNvPr>
          <p:cNvSpPr/>
          <p:nvPr/>
        </p:nvSpPr>
        <p:spPr>
          <a:xfrm>
            <a:off x="11747072" y="-2408128"/>
            <a:ext cx="5973602" cy="5973602"/>
          </a:xfrm>
          <a:custGeom>
            <a:avLst/>
            <a:gdLst/>
            <a:ahLst/>
            <a:cxnLst/>
            <a:rect l="l" t="t" r="r" b="b"/>
            <a:pathLst>
              <a:path w="5973602" h="5973602">
                <a:moveTo>
                  <a:pt x="0" y="0"/>
                </a:moveTo>
                <a:lnTo>
                  <a:pt x="5973602" y="0"/>
                </a:lnTo>
                <a:lnTo>
                  <a:pt x="5973602" y="5973602"/>
                </a:lnTo>
                <a:lnTo>
                  <a:pt x="0" y="59736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13D31DCE-99FB-6D3F-027B-DE5D4319CAD9}"/>
              </a:ext>
            </a:extLst>
          </p:cNvPr>
          <p:cNvGrpSpPr/>
          <p:nvPr/>
        </p:nvGrpSpPr>
        <p:grpSpPr>
          <a:xfrm>
            <a:off x="15351247" y="4400741"/>
            <a:ext cx="803180" cy="742759"/>
            <a:chOff x="0" y="0"/>
            <a:chExt cx="211537" cy="195624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1894D191-9265-4A1C-D87F-523931BF3885}"/>
                </a:ext>
              </a:extLst>
            </p:cNvPr>
            <p:cNvSpPr/>
            <p:nvPr/>
          </p:nvSpPr>
          <p:spPr>
            <a:xfrm>
              <a:off x="0" y="0"/>
              <a:ext cx="211537" cy="195624"/>
            </a:xfrm>
            <a:custGeom>
              <a:avLst/>
              <a:gdLst/>
              <a:ahLst/>
              <a:cxnLst/>
              <a:rect l="l" t="t" r="r" b="b"/>
              <a:pathLst>
                <a:path w="211537" h="195624">
                  <a:moveTo>
                    <a:pt x="0" y="0"/>
                  </a:moveTo>
                  <a:lnTo>
                    <a:pt x="211537" y="0"/>
                  </a:lnTo>
                  <a:lnTo>
                    <a:pt x="211537" y="195624"/>
                  </a:lnTo>
                  <a:lnTo>
                    <a:pt x="0" y="195624"/>
                  </a:lnTo>
                  <a:close/>
                </a:path>
              </a:pathLst>
            </a:custGeom>
            <a:solidFill>
              <a:srgbClr val="5DA295"/>
            </a:solidFill>
          </p:spPr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E427A064-C0BE-7B9A-C9BE-8C5AADCD7FC4}"/>
                </a:ext>
              </a:extLst>
            </p:cNvPr>
            <p:cNvSpPr txBox="1"/>
            <p:nvPr/>
          </p:nvSpPr>
          <p:spPr>
            <a:xfrm>
              <a:off x="0" y="-38100"/>
              <a:ext cx="211537" cy="2337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9CB7F3CE-16BB-387A-B2A2-406F6EBD9C10}"/>
              </a:ext>
            </a:extLst>
          </p:cNvPr>
          <p:cNvGrpSpPr/>
          <p:nvPr/>
        </p:nvGrpSpPr>
        <p:grpSpPr>
          <a:xfrm>
            <a:off x="0" y="0"/>
            <a:ext cx="619741" cy="2934068"/>
            <a:chOff x="0" y="0"/>
            <a:chExt cx="163224" cy="772759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E0F36C5A-963A-F9B0-56FF-80A6BC1E936E}"/>
                </a:ext>
              </a:extLst>
            </p:cNvPr>
            <p:cNvSpPr/>
            <p:nvPr/>
          </p:nvSpPr>
          <p:spPr>
            <a:xfrm>
              <a:off x="0" y="0"/>
              <a:ext cx="163224" cy="772759"/>
            </a:xfrm>
            <a:custGeom>
              <a:avLst/>
              <a:gdLst/>
              <a:ahLst/>
              <a:cxnLst/>
              <a:rect l="l" t="t" r="r" b="b"/>
              <a:pathLst>
                <a:path w="163224" h="772759">
                  <a:moveTo>
                    <a:pt x="0" y="0"/>
                  </a:moveTo>
                  <a:lnTo>
                    <a:pt x="163224" y="0"/>
                  </a:lnTo>
                  <a:lnTo>
                    <a:pt x="163224" y="772759"/>
                  </a:lnTo>
                  <a:lnTo>
                    <a:pt x="0" y="772759"/>
                  </a:lnTo>
                  <a:close/>
                </a:path>
              </a:pathLst>
            </a:custGeom>
            <a:solidFill>
              <a:srgbClr val="5DA295"/>
            </a:solidFill>
          </p:spPr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675C1C75-51E4-0AD4-81CC-BF846298EDEF}"/>
                </a:ext>
              </a:extLst>
            </p:cNvPr>
            <p:cNvSpPr txBox="1"/>
            <p:nvPr/>
          </p:nvSpPr>
          <p:spPr>
            <a:xfrm>
              <a:off x="0" y="-38100"/>
              <a:ext cx="163224" cy="8108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CA5EA065-F7AD-16AB-42EF-1CE30308FAD9}"/>
              </a:ext>
            </a:extLst>
          </p:cNvPr>
          <p:cNvGrpSpPr/>
          <p:nvPr/>
        </p:nvGrpSpPr>
        <p:grpSpPr>
          <a:xfrm>
            <a:off x="0" y="2933707"/>
            <a:ext cx="619741" cy="1004046"/>
            <a:chOff x="0" y="0"/>
            <a:chExt cx="163224" cy="264440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5ADA7851-B6EE-3302-857C-E3D37782416B}"/>
                </a:ext>
              </a:extLst>
            </p:cNvPr>
            <p:cNvSpPr/>
            <p:nvPr/>
          </p:nvSpPr>
          <p:spPr>
            <a:xfrm>
              <a:off x="0" y="0"/>
              <a:ext cx="163224" cy="264440"/>
            </a:xfrm>
            <a:custGeom>
              <a:avLst/>
              <a:gdLst/>
              <a:ahLst/>
              <a:cxnLst/>
              <a:rect l="l" t="t" r="r" b="b"/>
              <a:pathLst>
                <a:path w="163224" h="264440">
                  <a:moveTo>
                    <a:pt x="0" y="0"/>
                  </a:moveTo>
                  <a:lnTo>
                    <a:pt x="163224" y="0"/>
                  </a:lnTo>
                  <a:lnTo>
                    <a:pt x="163224" y="264440"/>
                  </a:lnTo>
                  <a:lnTo>
                    <a:pt x="0" y="264440"/>
                  </a:lnTo>
                  <a:close/>
                </a:path>
              </a:pathLst>
            </a:custGeom>
            <a:solidFill>
              <a:srgbClr val="BFDDD2"/>
            </a:solidFill>
          </p:spPr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49CE42EA-EDB0-E5FE-8406-F98A0E77F355}"/>
                </a:ext>
              </a:extLst>
            </p:cNvPr>
            <p:cNvSpPr txBox="1"/>
            <p:nvPr/>
          </p:nvSpPr>
          <p:spPr>
            <a:xfrm>
              <a:off x="0" y="-38100"/>
              <a:ext cx="163224" cy="3025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>
            <a:extLst>
              <a:ext uri="{FF2B5EF4-FFF2-40B4-BE49-F238E27FC236}">
                <a16:creationId xmlns:a16="http://schemas.microsoft.com/office/drawing/2014/main" id="{95D64BF9-8CB1-EE6B-6483-91AF095EB2E8}"/>
              </a:ext>
            </a:extLst>
          </p:cNvPr>
          <p:cNvGrpSpPr/>
          <p:nvPr/>
        </p:nvGrpSpPr>
        <p:grpSpPr>
          <a:xfrm>
            <a:off x="0" y="6668606"/>
            <a:ext cx="13182600" cy="3618394"/>
            <a:chOff x="0" y="0"/>
            <a:chExt cx="3407938" cy="952993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CEB05DC6-B54C-32CB-8749-40F5C53FEA9B}"/>
                </a:ext>
              </a:extLst>
            </p:cNvPr>
            <p:cNvSpPr/>
            <p:nvPr/>
          </p:nvSpPr>
          <p:spPr>
            <a:xfrm>
              <a:off x="0" y="0"/>
              <a:ext cx="3407938" cy="952993"/>
            </a:xfrm>
            <a:custGeom>
              <a:avLst/>
              <a:gdLst/>
              <a:ahLst/>
              <a:cxnLst/>
              <a:rect l="l" t="t" r="r" b="b"/>
              <a:pathLst>
                <a:path w="3407938" h="952993">
                  <a:moveTo>
                    <a:pt x="0" y="0"/>
                  </a:moveTo>
                  <a:lnTo>
                    <a:pt x="3407938" y="0"/>
                  </a:lnTo>
                  <a:lnTo>
                    <a:pt x="3407938" y="952993"/>
                  </a:lnTo>
                  <a:lnTo>
                    <a:pt x="0" y="952993"/>
                  </a:lnTo>
                  <a:close/>
                </a:path>
              </a:pathLst>
            </a:custGeom>
            <a:solidFill>
              <a:srgbClr val="5DA295"/>
            </a:solidFill>
          </p:spPr>
        </p:sp>
        <p:sp>
          <p:nvSpPr>
            <p:cNvPr id="20" name="TextBox 20">
              <a:extLst>
                <a:ext uri="{FF2B5EF4-FFF2-40B4-BE49-F238E27FC236}">
                  <a16:creationId xmlns:a16="http://schemas.microsoft.com/office/drawing/2014/main" id="{8D4F2929-E310-4110-9DD9-24680F9E5784}"/>
                </a:ext>
              </a:extLst>
            </p:cNvPr>
            <p:cNvSpPr txBox="1"/>
            <p:nvPr/>
          </p:nvSpPr>
          <p:spPr>
            <a:xfrm>
              <a:off x="0" y="-38100"/>
              <a:ext cx="3407938" cy="9910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1" name="Group 21">
            <a:extLst>
              <a:ext uri="{FF2B5EF4-FFF2-40B4-BE49-F238E27FC236}">
                <a16:creationId xmlns:a16="http://schemas.microsoft.com/office/drawing/2014/main" id="{72397C7F-A7C4-79C7-44F0-9289A8917299}"/>
              </a:ext>
            </a:extLst>
          </p:cNvPr>
          <p:cNvGrpSpPr/>
          <p:nvPr/>
        </p:nvGrpSpPr>
        <p:grpSpPr>
          <a:xfrm>
            <a:off x="1967885" y="7117855"/>
            <a:ext cx="143103" cy="2691310"/>
            <a:chOff x="0" y="0"/>
            <a:chExt cx="37690" cy="708822"/>
          </a:xfrm>
        </p:grpSpPr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F1D70AD4-A607-9856-E16B-3315A9698100}"/>
                </a:ext>
              </a:extLst>
            </p:cNvPr>
            <p:cNvSpPr/>
            <p:nvPr/>
          </p:nvSpPr>
          <p:spPr>
            <a:xfrm>
              <a:off x="0" y="0"/>
              <a:ext cx="37690" cy="708822"/>
            </a:xfrm>
            <a:custGeom>
              <a:avLst/>
              <a:gdLst/>
              <a:ahLst/>
              <a:cxnLst/>
              <a:rect l="l" t="t" r="r" b="b"/>
              <a:pathLst>
                <a:path w="37690" h="708822">
                  <a:moveTo>
                    <a:pt x="0" y="0"/>
                  </a:moveTo>
                  <a:lnTo>
                    <a:pt x="37690" y="0"/>
                  </a:lnTo>
                  <a:lnTo>
                    <a:pt x="37690" y="708822"/>
                  </a:lnTo>
                  <a:lnTo>
                    <a:pt x="0" y="708822"/>
                  </a:lnTo>
                  <a:close/>
                </a:path>
              </a:pathLst>
            </a:custGeom>
            <a:solidFill>
              <a:srgbClr val="BFDDD2"/>
            </a:solidFill>
          </p:spPr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88F52EFB-7034-8F28-7F06-58B92F7BCDAA}"/>
                </a:ext>
              </a:extLst>
            </p:cNvPr>
            <p:cNvSpPr txBox="1"/>
            <p:nvPr/>
          </p:nvSpPr>
          <p:spPr>
            <a:xfrm>
              <a:off x="0" y="-38100"/>
              <a:ext cx="37690" cy="7469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5" name="TextBox 25">
            <a:extLst>
              <a:ext uri="{FF2B5EF4-FFF2-40B4-BE49-F238E27FC236}">
                <a16:creationId xmlns:a16="http://schemas.microsoft.com/office/drawing/2014/main" id="{88B6CC4F-7167-AB02-0ECA-CC99A4B890BD}"/>
              </a:ext>
            </a:extLst>
          </p:cNvPr>
          <p:cNvSpPr txBox="1"/>
          <p:nvPr/>
        </p:nvSpPr>
        <p:spPr>
          <a:xfrm>
            <a:off x="13943156" y="8662165"/>
            <a:ext cx="3341203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spc="15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UNIVERSITAS</a:t>
            </a:r>
          </a:p>
          <a:p>
            <a:pPr algn="ctr">
              <a:lnSpc>
                <a:spcPts val="3600"/>
              </a:lnSpc>
            </a:pPr>
            <a:r>
              <a:rPr lang="en-US" sz="3000" spc="15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NEGERI MANADO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D21D571F-6507-1400-D175-319C5AE4EF07}"/>
              </a:ext>
            </a:extLst>
          </p:cNvPr>
          <p:cNvSpPr txBox="1"/>
          <p:nvPr/>
        </p:nvSpPr>
        <p:spPr>
          <a:xfrm>
            <a:off x="2676921" y="8516338"/>
            <a:ext cx="8009619" cy="5706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dirty="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PROGRAM STUDI TEKNIK INFORMATIKA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82EB2FC4-751F-BBC3-B1FD-C4D1C1BB7284}"/>
              </a:ext>
            </a:extLst>
          </p:cNvPr>
          <p:cNvSpPr txBox="1"/>
          <p:nvPr/>
        </p:nvSpPr>
        <p:spPr>
          <a:xfrm>
            <a:off x="1967885" y="1341590"/>
            <a:ext cx="8718655" cy="936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5499" b="1" spc="439">
                <a:solidFill>
                  <a:srgbClr val="5DA295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SEMINAR PROPOSAL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B8B7FFD3-110A-4CBA-F19D-17EBCB0FBA1F}"/>
              </a:ext>
            </a:extLst>
          </p:cNvPr>
          <p:cNvSpPr txBox="1"/>
          <p:nvPr/>
        </p:nvSpPr>
        <p:spPr>
          <a:xfrm>
            <a:off x="2676920" y="7078451"/>
            <a:ext cx="6314679" cy="6668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1" dirty="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Paulinus </a:t>
            </a:r>
            <a:r>
              <a:rPr lang="en-US" sz="3999" b="1" dirty="0" err="1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Wenehenubun</a:t>
            </a:r>
            <a:endParaRPr lang="en-US" sz="3999" b="1" dirty="0">
              <a:solidFill>
                <a:srgbClr val="FFFFFF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ECF84AF5-C409-4F92-40E2-DDFDD73237CC}"/>
              </a:ext>
            </a:extLst>
          </p:cNvPr>
          <p:cNvSpPr txBox="1"/>
          <p:nvPr/>
        </p:nvSpPr>
        <p:spPr>
          <a:xfrm>
            <a:off x="2676921" y="7850223"/>
            <a:ext cx="3755428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dirty="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NIM : 20210090</a:t>
            </a:r>
          </a:p>
        </p:txBody>
      </p:sp>
      <p:sp>
        <p:nvSpPr>
          <p:cNvPr id="31" name="TextBox 24">
            <a:extLst>
              <a:ext uri="{FF2B5EF4-FFF2-40B4-BE49-F238E27FC236}">
                <a16:creationId xmlns:a16="http://schemas.microsoft.com/office/drawing/2014/main" id="{7CC368BF-BF5A-B6C2-E09B-A4AAE4B289F0}"/>
              </a:ext>
            </a:extLst>
          </p:cNvPr>
          <p:cNvSpPr txBox="1"/>
          <p:nvPr/>
        </p:nvSpPr>
        <p:spPr>
          <a:xfrm>
            <a:off x="1967885" y="2519574"/>
            <a:ext cx="11519515" cy="24622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D" sz="4000" dirty="0">
                <a:latin typeface="Glacial Indifference Bold" panose="020B0604020202020204" charset="0"/>
              </a:rPr>
              <a:t>IMPLEMENTASI ALGORITMA </a:t>
            </a:r>
            <a:r>
              <a:rPr lang="en-ID" sz="4000" i="1" dirty="0">
                <a:latin typeface="Glacial Indifference Bold" panose="020B0604020202020204" charset="0"/>
              </a:rPr>
              <a:t>LINEAR SEARCH </a:t>
            </a:r>
            <a:r>
              <a:rPr lang="en-ID" sz="4000" dirty="0">
                <a:latin typeface="Glacial Indifference Bold" panose="020B0604020202020204" charset="0"/>
              </a:rPr>
              <a:t>PADA APLIKASI PENGELOLAHAN DATA ASET INVENTARIS SANGGAR KEGIATAN BELAJAR TONDANO BERBASIS WEB </a:t>
            </a:r>
            <a:endParaRPr lang="en-US" sz="4000" b="1" dirty="0">
              <a:solidFill>
                <a:srgbClr val="000000"/>
              </a:solidFill>
              <a:latin typeface="Glacial Indifference Bold" panose="020B0604020202020204" charset="0"/>
              <a:ea typeface="Glacial Indifference Bold"/>
              <a:cs typeface="Glacial Indifference Bold"/>
              <a:sym typeface="Glacial Indifference Bold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B71D760E-3DBE-1863-3F08-F611B6DB7A77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93311" y="7146088"/>
            <a:ext cx="1403937" cy="1408270"/>
          </a:xfrm>
          <a:prstGeom prst="rect">
            <a:avLst/>
          </a:prstGeom>
        </p:spPr>
      </p:pic>
      <p:sp>
        <p:nvSpPr>
          <p:cNvPr id="32" name="TextBox 26">
            <a:extLst>
              <a:ext uri="{FF2B5EF4-FFF2-40B4-BE49-F238E27FC236}">
                <a16:creationId xmlns:a16="http://schemas.microsoft.com/office/drawing/2014/main" id="{E88C2FF7-E247-E5BB-308B-A30EC3B26636}"/>
              </a:ext>
            </a:extLst>
          </p:cNvPr>
          <p:cNvSpPr txBox="1"/>
          <p:nvPr/>
        </p:nvSpPr>
        <p:spPr>
          <a:xfrm>
            <a:off x="2676921" y="9116334"/>
            <a:ext cx="10667376" cy="5706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dirty="0" err="1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Dosen</a:t>
            </a:r>
            <a:r>
              <a:rPr lang="en-US" sz="3399" dirty="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399" dirty="0" err="1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Pembimbing</a:t>
            </a:r>
            <a:r>
              <a:rPr lang="en-US" sz="3399" dirty="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: </a:t>
            </a:r>
            <a:r>
              <a:rPr lang="en-US" sz="3399" dirty="0" err="1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Sondy</a:t>
            </a:r>
            <a:r>
              <a:rPr lang="en-US" sz="3399" dirty="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399" dirty="0" err="1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Campvid</a:t>
            </a:r>
            <a:r>
              <a:rPr lang="en-US" sz="3399" dirty="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399" dirty="0" err="1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Kumajas</a:t>
            </a:r>
            <a:r>
              <a:rPr lang="en-US" sz="3399" dirty="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, S.T., M.T</a:t>
            </a:r>
          </a:p>
        </p:txBody>
      </p:sp>
    </p:spTree>
    <p:extLst>
      <p:ext uri="{BB962C8B-B14F-4D97-AF65-F5344CB8AC3E}">
        <p14:creationId xmlns:p14="http://schemas.microsoft.com/office/powerpoint/2010/main" val="2387009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213565"/>
            <a:chOff x="0" y="0"/>
            <a:chExt cx="4816593" cy="562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56248"/>
            </a:xfrm>
            <a:custGeom>
              <a:avLst/>
              <a:gdLst/>
              <a:ahLst/>
              <a:cxnLst/>
              <a:rect l="l" t="t" r="r" b="b"/>
              <a:pathLst>
                <a:path w="4816592" h="56248">
                  <a:moveTo>
                    <a:pt x="0" y="0"/>
                  </a:moveTo>
                  <a:lnTo>
                    <a:pt x="4816592" y="0"/>
                  </a:lnTo>
                  <a:lnTo>
                    <a:pt x="4816592" y="56248"/>
                  </a:lnTo>
                  <a:lnTo>
                    <a:pt x="0" y="56248"/>
                  </a:lnTo>
                  <a:close/>
                </a:path>
              </a:pathLst>
            </a:custGeom>
            <a:solidFill>
              <a:srgbClr val="BFDDD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943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389196" y="598254"/>
            <a:ext cx="851704" cy="777374"/>
          </a:xfrm>
          <a:custGeom>
            <a:avLst/>
            <a:gdLst/>
            <a:ahLst/>
            <a:cxnLst/>
            <a:rect l="l" t="t" r="r" b="b"/>
            <a:pathLst>
              <a:path w="851704" h="777374">
                <a:moveTo>
                  <a:pt x="0" y="0"/>
                </a:moveTo>
                <a:lnTo>
                  <a:pt x="851705" y="0"/>
                </a:lnTo>
                <a:lnTo>
                  <a:pt x="851705" y="777374"/>
                </a:lnTo>
                <a:lnTo>
                  <a:pt x="0" y="7773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32097" y="758341"/>
            <a:ext cx="365904" cy="337962"/>
          </a:xfrm>
          <a:custGeom>
            <a:avLst/>
            <a:gdLst/>
            <a:ahLst/>
            <a:cxnLst/>
            <a:rect l="l" t="t" r="r" b="b"/>
            <a:pathLst>
              <a:path w="365904" h="337962">
                <a:moveTo>
                  <a:pt x="0" y="0"/>
                </a:moveTo>
                <a:lnTo>
                  <a:pt x="365903" y="0"/>
                </a:lnTo>
                <a:lnTo>
                  <a:pt x="365903" y="337962"/>
                </a:lnTo>
                <a:lnTo>
                  <a:pt x="0" y="3379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1429915" y="8963025"/>
            <a:ext cx="4752692" cy="500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200"/>
              </a:lnSpc>
            </a:pPr>
            <a:r>
              <a:rPr lang="en-US" sz="3000" b="1" spc="300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TEKNIK INFORMATIKA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45845" y="567841"/>
            <a:ext cx="3278555" cy="8527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 spc="14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UNIVERSITAS</a:t>
            </a:r>
          </a:p>
          <a:p>
            <a:pPr algn="l">
              <a:lnSpc>
                <a:spcPts val="3360"/>
              </a:lnSpc>
            </a:pPr>
            <a:r>
              <a:rPr lang="en-US" sz="2800" spc="14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NEGERI MANADO</a:t>
            </a:r>
          </a:p>
        </p:txBody>
      </p:sp>
      <p:sp>
        <p:nvSpPr>
          <p:cNvPr id="9" name="Freeform 9"/>
          <p:cNvSpPr/>
          <p:nvPr/>
        </p:nvSpPr>
        <p:spPr>
          <a:xfrm>
            <a:off x="3695631" y="8016035"/>
            <a:ext cx="3905319" cy="4114800"/>
          </a:xfrm>
          <a:custGeom>
            <a:avLst/>
            <a:gdLst/>
            <a:ahLst/>
            <a:cxnLst/>
            <a:rect l="l" t="t" r="r" b="b"/>
            <a:pathLst>
              <a:path w="3905319" h="4114800">
                <a:moveTo>
                  <a:pt x="0" y="0"/>
                </a:moveTo>
                <a:lnTo>
                  <a:pt x="3905319" y="0"/>
                </a:lnTo>
                <a:lnTo>
                  <a:pt x="39053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0" y="10073435"/>
            <a:ext cx="18288000" cy="213565"/>
            <a:chOff x="0" y="0"/>
            <a:chExt cx="4816593" cy="5624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816592" cy="56248"/>
            </a:xfrm>
            <a:custGeom>
              <a:avLst/>
              <a:gdLst/>
              <a:ahLst/>
              <a:cxnLst/>
              <a:rect l="l" t="t" r="r" b="b"/>
              <a:pathLst>
                <a:path w="4816592" h="56248">
                  <a:moveTo>
                    <a:pt x="0" y="0"/>
                  </a:moveTo>
                  <a:lnTo>
                    <a:pt x="4816592" y="0"/>
                  </a:lnTo>
                  <a:lnTo>
                    <a:pt x="4816592" y="56248"/>
                  </a:lnTo>
                  <a:lnTo>
                    <a:pt x="0" y="56248"/>
                  </a:lnTo>
                  <a:close/>
                </a:path>
              </a:pathLst>
            </a:custGeom>
            <a:solidFill>
              <a:srgbClr val="5DA295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4816593" cy="943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248402" y="1632047"/>
            <a:ext cx="12039598" cy="6889104"/>
            <a:chOff x="0" y="-38100"/>
            <a:chExt cx="2814696" cy="165439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814696" cy="1616297"/>
            </a:xfrm>
            <a:custGeom>
              <a:avLst/>
              <a:gdLst/>
              <a:ahLst/>
              <a:cxnLst/>
              <a:rect l="l" t="t" r="r" b="b"/>
              <a:pathLst>
                <a:path w="2814696" h="1479820">
                  <a:moveTo>
                    <a:pt x="0" y="0"/>
                  </a:moveTo>
                  <a:lnTo>
                    <a:pt x="2814696" y="0"/>
                  </a:lnTo>
                  <a:lnTo>
                    <a:pt x="2814696" y="1479820"/>
                  </a:lnTo>
                  <a:lnTo>
                    <a:pt x="0" y="1479820"/>
                  </a:lnTo>
                  <a:close/>
                </a:path>
              </a:pathLst>
            </a:custGeom>
            <a:solidFill>
              <a:srgbClr val="BFDDD2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814696" cy="15179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16182607" y="758341"/>
            <a:ext cx="3675104" cy="3675104"/>
          </a:xfrm>
          <a:custGeom>
            <a:avLst/>
            <a:gdLst/>
            <a:ahLst/>
            <a:cxnLst/>
            <a:rect l="l" t="t" r="r" b="b"/>
            <a:pathLst>
              <a:path w="3675104" h="3675104">
                <a:moveTo>
                  <a:pt x="0" y="0"/>
                </a:moveTo>
                <a:lnTo>
                  <a:pt x="3675104" y="0"/>
                </a:lnTo>
                <a:lnTo>
                  <a:pt x="3675104" y="3675104"/>
                </a:lnTo>
                <a:lnTo>
                  <a:pt x="0" y="367510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2484758" y="6805162"/>
            <a:ext cx="1210872" cy="1210872"/>
          </a:xfrm>
          <a:custGeom>
            <a:avLst/>
            <a:gdLst/>
            <a:ahLst/>
            <a:cxnLst/>
            <a:rect l="l" t="t" r="r" b="b"/>
            <a:pathLst>
              <a:path w="1210872" h="1210872">
                <a:moveTo>
                  <a:pt x="0" y="0"/>
                </a:moveTo>
                <a:lnTo>
                  <a:pt x="1210873" y="0"/>
                </a:lnTo>
                <a:lnTo>
                  <a:pt x="1210873" y="1210873"/>
                </a:lnTo>
                <a:lnTo>
                  <a:pt x="0" y="121087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497027" y="3028287"/>
            <a:ext cx="4949639" cy="2103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59"/>
              </a:lnSpc>
            </a:pPr>
            <a:r>
              <a:rPr lang="en-US" sz="6999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Latar</a:t>
            </a:r>
          </a:p>
          <a:p>
            <a:pPr algn="l">
              <a:lnSpc>
                <a:spcPts val="8259"/>
              </a:lnSpc>
            </a:pPr>
            <a:r>
              <a:rPr lang="en-US" sz="6999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Belakang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6564000" y="8834437"/>
            <a:ext cx="955170" cy="762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299"/>
              </a:lnSpc>
            </a:pPr>
            <a:r>
              <a:rPr lang="en-US" sz="4499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444739" y="2092146"/>
            <a:ext cx="11275473" cy="62350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 algn="l">
              <a:lnSpc>
                <a:spcPts val="4900"/>
              </a:lnSpc>
              <a:buFont typeface="Arial" panose="020B0604020202020204" pitchFamily="34" charset="0"/>
              <a:buChar char="•"/>
            </a:pPr>
            <a:r>
              <a:rPr lang="en-ID" sz="3500" dirty="0" err="1"/>
              <a:t>Perkembangan</a:t>
            </a:r>
            <a:r>
              <a:rPr lang="en-ID" sz="3500" dirty="0"/>
              <a:t> </a:t>
            </a:r>
            <a:r>
              <a:rPr lang="en-ID" sz="3500" dirty="0" err="1"/>
              <a:t>teknologi</a:t>
            </a:r>
            <a:r>
              <a:rPr lang="en-ID" sz="3500" dirty="0"/>
              <a:t> </a:t>
            </a:r>
            <a:r>
              <a:rPr lang="en-ID" sz="3500" dirty="0" err="1"/>
              <a:t>menuntut</a:t>
            </a:r>
            <a:r>
              <a:rPr lang="en-ID" sz="3500" dirty="0"/>
              <a:t> </a:t>
            </a:r>
            <a:r>
              <a:rPr lang="en-ID" sz="3500" dirty="0" err="1"/>
              <a:t>instansi</a:t>
            </a:r>
            <a:r>
              <a:rPr lang="en-ID" sz="3500" dirty="0"/>
              <a:t> </a:t>
            </a:r>
            <a:r>
              <a:rPr lang="en-ID" sz="3500" dirty="0" err="1"/>
              <a:t>memperoleh</a:t>
            </a:r>
            <a:r>
              <a:rPr lang="en-ID" sz="3500" dirty="0"/>
              <a:t> </a:t>
            </a:r>
            <a:r>
              <a:rPr lang="en-ID" sz="3500" dirty="0" err="1"/>
              <a:t>informasi</a:t>
            </a:r>
            <a:r>
              <a:rPr lang="en-ID" sz="3500" dirty="0"/>
              <a:t> </a:t>
            </a:r>
            <a:r>
              <a:rPr lang="en-ID" sz="3500" b="1" dirty="0" err="1"/>
              <a:t>cepat</a:t>
            </a:r>
            <a:r>
              <a:rPr lang="en-ID" sz="3500" b="1" dirty="0"/>
              <a:t> dan </a:t>
            </a:r>
            <a:r>
              <a:rPr lang="en-ID" sz="3500" b="1" dirty="0" err="1"/>
              <a:t>akurat</a:t>
            </a:r>
            <a:r>
              <a:rPr lang="en-ID" sz="3500" dirty="0"/>
              <a:t> </a:t>
            </a:r>
            <a:r>
              <a:rPr lang="en-ID" sz="3500" dirty="0" err="1"/>
              <a:t>melalui</a:t>
            </a:r>
            <a:r>
              <a:rPr lang="en-ID" sz="3500" dirty="0"/>
              <a:t> </a:t>
            </a:r>
            <a:r>
              <a:rPr lang="en-ID" sz="3500" dirty="0" err="1"/>
              <a:t>sistem</a:t>
            </a:r>
            <a:r>
              <a:rPr lang="en-ID" sz="3500" dirty="0"/>
              <a:t> </a:t>
            </a:r>
            <a:r>
              <a:rPr lang="en-ID" sz="3500" dirty="0" err="1"/>
              <a:t>informasi</a:t>
            </a:r>
            <a:r>
              <a:rPr lang="en-ID" sz="3500" dirty="0"/>
              <a:t>.</a:t>
            </a:r>
          </a:p>
          <a:p>
            <a:pPr marL="571500" indent="-571500" algn="l">
              <a:lnSpc>
                <a:spcPts val="4900"/>
              </a:lnSpc>
              <a:buFont typeface="Arial" panose="020B0604020202020204" pitchFamily="34" charset="0"/>
              <a:buChar char="•"/>
            </a:pPr>
            <a:r>
              <a:rPr lang="en-ID" sz="3500" dirty="0"/>
              <a:t>Proses </a:t>
            </a:r>
            <a:r>
              <a:rPr lang="en-ID" sz="3500" dirty="0" err="1"/>
              <a:t>inventaris</a:t>
            </a:r>
            <a:r>
              <a:rPr lang="en-ID" sz="3500" dirty="0"/>
              <a:t> di </a:t>
            </a:r>
            <a:r>
              <a:rPr lang="en-ID" sz="3500" b="1" dirty="0"/>
              <a:t>SPNF</a:t>
            </a:r>
            <a:r>
              <a:rPr lang="en-ID" sz="3500" dirty="0"/>
              <a:t>/</a:t>
            </a:r>
            <a:r>
              <a:rPr lang="en-ID" sz="3500" b="1" dirty="0"/>
              <a:t>SKB </a:t>
            </a:r>
            <a:r>
              <a:rPr lang="en-ID" sz="3500" b="1" dirty="0" err="1"/>
              <a:t>Tondano</a:t>
            </a:r>
            <a:r>
              <a:rPr lang="en-ID" sz="3500" dirty="0"/>
              <a:t> </a:t>
            </a:r>
            <a:r>
              <a:rPr lang="en-ID" sz="3500" dirty="0" err="1"/>
              <a:t>masih</a:t>
            </a:r>
            <a:r>
              <a:rPr lang="en-ID" sz="3500" dirty="0"/>
              <a:t> </a:t>
            </a:r>
            <a:r>
              <a:rPr lang="en-ID" sz="3500" dirty="0" err="1"/>
              <a:t>dilakukan</a:t>
            </a:r>
            <a:r>
              <a:rPr lang="en-ID" sz="3500" dirty="0"/>
              <a:t> </a:t>
            </a:r>
            <a:r>
              <a:rPr lang="en-ID" sz="3500" b="1" dirty="0" err="1"/>
              <a:t>secara</a:t>
            </a:r>
            <a:r>
              <a:rPr lang="en-ID" sz="3500" b="1" dirty="0"/>
              <a:t> manual</a:t>
            </a:r>
            <a:r>
              <a:rPr lang="en-ID" sz="3500" dirty="0"/>
              <a:t>, </a:t>
            </a:r>
            <a:r>
              <a:rPr lang="en-ID" sz="3500" dirty="0" err="1"/>
              <a:t>sehingga</a:t>
            </a:r>
            <a:r>
              <a:rPr lang="en-ID" sz="3500" dirty="0"/>
              <a:t> </a:t>
            </a:r>
            <a:r>
              <a:rPr lang="en-ID" sz="3500" dirty="0" err="1"/>
              <a:t>sering</a:t>
            </a:r>
            <a:r>
              <a:rPr lang="en-ID" sz="3500" dirty="0"/>
              <a:t> </a:t>
            </a:r>
            <a:r>
              <a:rPr lang="en-ID" sz="3500" dirty="0" err="1"/>
              <a:t>terjadi</a:t>
            </a:r>
            <a:r>
              <a:rPr lang="en-ID" sz="3500" dirty="0"/>
              <a:t> </a:t>
            </a:r>
            <a:r>
              <a:rPr lang="en-ID" sz="3500" b="1" dirty="0" err="1"/>
              <a:t>ketidaksesuaian</a:t>
            </a:r>
            <a:r>
              <a:rPr lang="en-ID" sz="3500" b="1" dirty="0"/>
              <a:t> data</a:t>
            </a:r>
            <a:r>
              <a:rPr lang="en-ID" sz="3500" dirty="0"/>
              <a:t>, </a:t>
            </a:r>
            <a:r>
              <a:rPr lang="en-ID" sz="3500" b="1" dirty="0" err="1"/>
              <a:t>sulit</a:t>
            </a:r>
            <a:r>
              <a:rPr lang="en-ID" sz="3500" b="1" dirty="0"/>
              <a:t> </a:t>
            </a:r>
            <a:r>
              <a:rPr lang="en-ID" sz="3500" b="1" dirty="0" err="1"/>
              <a:t>melacak</a:t>
            </a:r>
            <a:r>
              <a:rPr lang="en-ID" sz="3500" b="1" dirty="0"/>
              <a:t> </a:t>
            </a:r>
            <a:r>
              <a:rPr lang="en-ID" sz="3500" b="1" dirty="0" err="1"/>
              <a:t>aset</a:t>
            </a:r>
            <a:r>
              <a:rPr lang="en-ID" sz="3500" dirty="0"/>
              <a:t>, dan </a:t>
            </a:r>
            <a:r>
              <a:rPr lang="en-ID" sz="3500" b="1" dirty="0" err="1"/>
              <a:t>pembuatan</a:t>
            </a:r>
            <a:r>
              <a:rPr lang="en-ID" sz="3500" b="1" dirty="0"/>
              <a:t> </a:t>
            </a:r>
            <a:r>
              <a:rPr lang="en-ID" sz="3500" b="1" dirty="0" err="1"/>
              <a:t>laporan</a:t>
            </a:r>
            <a:r>
              <a:rPr lang="en-ID" sz="3500" b="1" dirty="0"/>
              <a:t> </a:t>
            </a:r>
            <a:r>
              <a:rPr lang="en-ID" sz="3500" b="1" dirty="0" err="1"/>
              <a:t>lambat</a:t>
            </a:r>
            <a:r>
              <a:rPr lang="en-ID" sz="3500" b="1" dirty="0"/>
              <a:t> </a:t>
            </a:r>
            <a:r>
              <a:rPr lang="en-ID" sz="3500" b="1" dirty="0" err="1"/>
              <a:t>serta</a:t>
            </a:r>
            <a:r>
              <a:rPr lang="en-ID" sz="3500" b="1" dirty="0"/>
              <a:t> </a:t>
            </a:r>
            <a:r>
              <a:rPr lang="en-ID" sz="3500" b="1" dirty="0" err="1"/>
              <a:t>rawan</a:t>
            </a:r>
            <a:r>
              <a:rPr lang="en-ID" sz="3500" b="1" dirty="0"/>
              <a:t> </a:t>
            </a:r>
            <a:r>
              <a:rPr lang="en-ID" sz="3500" b="1" dirty="0" err="1"/>
              <a:t>kesalahan</a:t>
            </a:r>
            <a:r>
              <a:rPr lang="en-ID" sz="3500" dirty="0"/>
              <a:t>.</a:t>
            </a:r>
          </a:p>
          <a:p>
            <a:pPr marL="571500" indent="-571500" algn="l">
              <a:lnSpc>
                <a:spcPts val="4900"/>
              </a:lnSpc>
              <a:buFont typeface="Arial" panose="020B0604020202020204" pitchFamily="34" charset="0"/>
              <a:buChar char="•"/>
            </a:pPr>
            <a:r>
              <a:rPr lang="en-ID" sz="3500" dirty="0" err="1"/>
              <a:t>Diperlukan</a:t>
            </a:r>
            <a:r>
              <a:rPr lang="en-ID" sz="3500" dirty="0"/>
              <a:t> </a:t>
            </a:r>
            <a:r>
              <a:rPr lang="en-ID" sz="3500" b="1" dirty="0" err="1"/>
              <a:t>aplikasi</a:t>
            </a:r>
            <a:r>
              <a:rPr lang="en-ID" sz="3500" b="1" dirty="0"/>
              <a:t> </a:t>
            </a:r>
            <a:r>
              <a:rPr lang="en-ID" sz="3500" b="1" dirty="0" err="1"/>
              <a:t>pengelolaan</a:t>
            </a:r>
            <a:r>
              <a:rPr lang="en-ID" sz="3500" b="1" dirty="0"/>
              <a:t> data </a:t>
            </a:r>
            <a:r>
              <a:rPr lang="en-ID" sz="3500" b="1" dirty="0" err="1"/>
              <a:t>inventaris</a:t>
            </a:r>
            <a:r>
              <a:rPr lang="en-ID" sz="3500" b="1" dirty="0"/>
              <a:t> </a:t>
            </a:r>
            <a:r>
              <a:rPr lang="en-ID" sz="3500" b="1" dirty="0" err="1"/>
              <a:t>berbasis</a:t>
            </a:r>
            <a:r>
              <a:rPr lang="en-ID" sz="3500" b="1" dirty="0"/>
              <a:t> web</a:t>
            </a:r>
            <a:r>
              <a:rPr lang="en-ID" sz="3500" dirty="0"/>
              <a:t> </a:t>
            </a:r>
            <a:r>
              <a:rPr lang="en-ID" sz="3500" dirty="0" err="1"/>
              <a:t>untuk</a:t>
            </a:r>
            <a:r>
              <a:rPr lang="en-ID" sz="3500" dirty="0"/>
              <a:t> </a:t>
            </a:r>
            <a:r>
              <a:rPr lang="en-ID" sz="3500" dirty="0" err="1"/>
              <a:t>meningkatkan</a:t>
            </a:r>
            <a:r>
              <a:rPr lang="en-ID" sz="3500" dirty="0"/>
              <a:t> </a:t>
            </a:r>
            <a:r>
              <a:rPr lang="en-ID" sz="3500" b="1" dirty="0" err="1"/>
              <a:t>efisiensi</a:t>
            </a:r>
            <a:r>
              <a:rPr lang="en-ID" sz="3500" b="1" dirty="0"/>
              <a:t> dan </a:t>
            </a:r>
            <a:r>
              <a:rPr lang="en-ID" sz="3500" b="1" dirty="0" err="1"/>
              <a:t>akurasi</a:t>
            </a:r>
            <a:r>
              <a:rPr lang="en-ID" sz="3500" b="1" dirty="0"/>
              <a:t> </a:t>
            </a:r>
            <a:r>
              <a:rPr lang="en-ID" sz="3500" b="1" dirty="0" err="1"/>
              <a:t>pencatatan</a:t>
            </a:r>
            <a:r>
              <a:rPr lang="en-ID" sz="3500" dirty="0"/>
              <a:t>.</a:t>
            </a:r>
          </a:p>
          <a:p>
            <a:pPr marL="571500" indent="-571500" algn="l">
              <a:lnSpc>
                <a:spcPts val="4900"/>
              </a:lnSpc>
              <a:buFont typeface="Arial" panose="020B0604020202020204" pitchFamily="34" charset="0"/>
              <a:buChar char="•"/>
            </a:pPr>
            <a:r>
              <a:rPr lang="en-US" sz="3500" b="1" dirty="0" err="1"/>
              <a:t>Algoritma</a:t>
            </a:r>
            <a:r>
              <a:rPr lang="en-US" sz="3500" b="1" dirty="0"/>
              <a:t> Linear Search</a:t>
            </a:r>
            <a:r>
              <a:rPr lang="en-US" sz="3500" dirty="0"/>
              <a:t> </a:t>
            </a:r>
            <a:r>
              <a:rPr lang="en-US" sz="3500" dirty="0" err="1"/>
              <a:t>digunakan</a:t>
            </a:r>
            <a:r>
              <a:rPr lang="en-US" sz="3500" dirty="0"/>
              <a:t> </a:t>
            </a:r>
            <a:r>
              <a:rPr lang="en-US" sz="3500" dirty="0" err="1"/>
              <a:t>untuk</a:t>
            </a:r>
            <a:r>
              <a:rPr lang="en-US" sz="3500" dirty="0"/>
              <a:t> </a:t>
            </a:r>
            <a:r>
              <a:rPr lang="en-US" sz="3500" b="1" dirty="0" err="1"/>
              <a:t>mempermudah</a:t>
            </a:r>
            <a:r>
              <a:rPr lang="en-US" sz="3500" b="1" dirty="0"/>
              <a:t> </a:t>
            </a:r>
            <a:r>
              <a:rPr lang="en-US" sz="3500" b="1" dirty="0" err="1"/>
              <a:t>pencarian</a:t>
            </a:r>
            <a:r>
              <a:rPr lang="en-US" sz="3500" b="1" dirty="0"/>
              <a:t> data </a:t>
            </a:r>
            <a:r>
              <a:rPr lang="en-US" sz="3500" b="1" dirty="0" err="1"/>
              <a:t>aset</a:t>
            </a:r>
            <a:r>
              <a:rPr lang="en-US" sz="3500" dirty="0"/>
              <a:t>.</a:t>
            </a:r>
          </a:p>
        </p:txBody>
      </p:sp>
      <p:sp>
        <p:nvSpPr>
          <p:cNvPr id="22" name="AutoShape 22"/>
          <p:cNvSpPr/>
          <p:nvPr/>
        </p:nvSpPr>
        <p:spPr>
          <a:xfrm>
            <a:off x="16564000" y="8877554"/>
            <a:ext cx="0" cy="761492"/>
          </a:xfrm>
          <a:prstGeom prst="line">
            <a:avLst/>
          </a:prstGeom>
          <a:ln w="95250" cap="flat">
            <a:solidFill>
              <a:srgbClr val="5DA295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D06A16B-A2FC-4BE7-BD12-71BC63C0BD98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505" y="503294"/>
            <a:ext cx="942895" cy="9458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02049" y="6833950"/>
            <a:ext cx="5973602" cy="5973602"/>
          </a:xfrm>
          <a:custGeom>
            <a:avLst/>
            <a:gdLst/>
            <a:ahLst/>
            <a:cxnLst/>
            <a:rect l="l" t="t" r="r" b="b"/>
            <a:pathLst>
              <a:path w="5973602" h="5973602">
                <a:moveTo>
                  <a:pt x="0" y="0"/>
                </a:moveTo>
                <a:lnTo>
                  <a:pt x="5973601" y="0"/>
                </a:lnTo>
                <a:lnTo>
                  <a:pt x="5973601" y="5973602"/>
                </a:lnTo>
                <a:lnTo>
                  <a:pt x="0" y="59736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10073435"/>
            <a:ext cx="18288000" cy="213565"/>
            <a:chOff x="0" y="0"/>
            <a:chExt cx="4816593" cy="5624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56248"/>
            </a:xfrm>
            <a:custGeom>
              <a:avLst/>
              <a:gdLst/>
              <a:ahLst/>
              <a:cxnLst/>
              <a:rect l="l" t="t" r="r" b="b"/>
              <a:pathLst>
                <a:path w="4816592" h="56248">
                  <a:moveTo>
                    <a:pt x="0" y="0"/>
                  </a:moveTo>
                  <a:lnTo>
                    <a:pt x="4816592" y="0"/>
                  </a:lnTo>
                  <a:lnTo>
                    <a:pt x="4816592" y="56248"/>
                  </a:lnTo>
                  <a:lnTo>
                    <a:pt x="0" y="56248"/>
                  </a:lnTo>
                  <a:close/>
                </a:path>
              </a:pathLst>
            </a:custGeom>
            <a:solidFill>
              <a:srgbClr val="5DA295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943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18288000" cy="213565"/>
            <a:chOff x="0" y="0"/>
            <a:chExt cx="4816593" cy="5624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56248"/>
            </a:xfrm>
            <a:custGeom>
              <a:avLst/>
              <a:gdLst/>
              <a:ahLst/>
              <a:cxnLst/>
              <a:rect l="l" t="t" r="r" b="b"/>
              <a:pathLst>
                <a:path w="4816592" h="56248">
                  <a:moveTo>
                    <a:pt x="0" y="0"/>
                  </a:moveTo>
                  <a:lnTo>
                    <a:pt x="4816592" y="0"/>
                  </a:lnTo>
                  <a:lnTo>
                    <a:pt x="4816592" y="56248"/>
                  </a:lnTo>
                  <a:lnTo>
                    <a:pt x="0" y="56248"/>
                  </a:lnTo>
                  <a:close/>
                </a:path>
              </a:pathLst>
            </a:custGeom>
            <a:solidFill>
              <a:srgbClr val="BFDDD2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816593" cy="943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AutoShape 9"/>
          <p:cNvSpPr/>
          <p:nvPr/>
        </p:nvSpPr>
        <p:spPr>
          <a:xfrm>
            <a:off x="7060245" y="4213907"/>
            <a:ext cx="11329315" cy="0"/>
          </a:xfrm>
          <a:prstGeom prst="line">
            <a:avLst/>
          </a:prstGeom>
          <a:ln w="38100" cap="flat">
            <a:solidFill>
              <a:srgbClr val="5DA29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>
            <a:off x="7060245" y="5734674"/>
            <a:ext cx="11329315" cy="0"/>
          </a:xfrm>
          <a:prstGeom prst="line">
            <a:avLst/>
          </a:prstGeom>
          <a:ln w="38100" cap="flat">
            <a:solidFill>
              <a:srgbClr val="5DA29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AutoShape 11"/>
          <p:cNvSpPr/>
          <p:nvPr/>
        </p:nvSpPr>
        <p:spPr>
          <a:xfrm>
            <a:off x="7060245" y="7255441"/>
            <a:ext cx="11329315" cy="0"/>
          </a:xfrm>
          <a:prstGeom prst="line">
            <a:avLst/>
          </a:prstGeom>
          <a:ln w="38100" cap="flat">
            <a:solidFill>
              <a:srgbClr val="5DA29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Freeform 12"/>
          <p:cNvSpPr/>
          <p:nvPr/>
        </p:nvSpPr>
        <p:spPr>
          <a:xfrm>
            <a:off x="4138092" y="6650005"/>
            <a:ext cx="1210872" cy="1210872"/>
          </a:xfrm>
          <a:custGeom>
            <a:avLst/>
            <a:gdLst/>
            <a:ahLst/>
            <a:cxnLst/>
            <a:rect l="l" t="t" r="r" b="b"/>
            <a:pathLst>
              <a:path w="1210872" h="1210872">
                <a:moveTo>
                  <a:pt x="0" y="0"/>
                </a:moveTo>
                <a:lnTo>
                  <a:pt x="1210872" y="0"/>
                </a:lnTo>
                <a:lnTo>
                  <a:pt x="1210872" y="1210872"/>
                </a:lnTo>
                <a:lnTo>
                  <a:pt x="0" y="12108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389196" y="598254"/>
            <a:ext cx="851704" cy="777374"/>
          </a:xfrm>
          <a:custGeom>
            <a:avLst/>
            <a:gdLst/>
            <a:ahLst/>
            <a:cxnLst/>
            <a:rect l="l" t="t" r="r" b="b"/>
            <a:pathLst>
              <a:path w="851704" h="777374">
                <a:moveTo>
                  <a:pt x="0" y="0"/>
                </a:moveTo>
                <a:lnTo>
                  <a:pt x="851705" y="0"/>
                </a:lnTo>
                <a:lnTo>
                  <a:pt x="851705" y="777374"/>
                </a:lnTo>
                <a:lnTo>
                  <a:pt x="0" y="7773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632097" y="758341"/>
            <a:ext cx="365904" cy="337962"/>
          </a:xfrm>
          <a:custGeom>
            <a:avLst/>
            <a:gdLst/>
            <a:ahLst/>
            <a:cxnLst/>
            <a:rect l="l" t="t" r="r" b="b"/>
            <a:pathLst>
              <a:path w="365904" h="337962">
                <a:moveTo>
                  <a:pt x="0" y="0"/>
                </a:moveTo>
                <a:lnTo>
                  <a:pt x="365903" y="0"/>
                </a:lnTo>
                <a:lnTo>
                  <a:pt x="365903" y="337962"/>
                </a:lnTo>
                <a:lnTo>
                  <a:pt x="0" y="3379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6564000" y="8834437"/>
            <a:ext cx="955170" cy="762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299"/>
              </a:lnSpc>
            </a:pPr>
            <a:r>
              <a:rPr lang="en-US" sz="4499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02</a:t>
            </a:r>
          </a:p>
        </p:txBody>
      </p:sp>
      <p:sp>
        <p:nvSpPr>
          <p:cNvPr id="16" name="AutoShape 16"/>
          <p:cNvSpPr/>
          <p:nvPr/>
        </p:nvSpPr>
        <p:spPr>
          <a:xfrm>
            <a:off x="16564000" y="8877554"/>
            <a:ext cx="0" cy="761492"/>
          </a:xfrm>
          <a:prstGeom prst="line">
            <a:avLst/>
          </a:prstGeom>
          <a:ln w="95250" cap="flat">
            <a:solidFill>
              <a:srgbClr val="5DA29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Freeform 17"/>
          <p:cNvSpPr/>
          <p:nvPr/>
        </p:nvSpPr>
        <p:spPr>
          <a:xfrm>
            <a:off x="16893853" y="567841"/>
            <a:ext cx="1082627" cy="1082627"/>
          </a:xfrm>
          <a:custGeom>
            <a:avLst/>
            <a:gdLst/>
            <a:ahLst/>
            <a:cxnLst/>
            <a:rect l="l" t="t" r="r" b="b"/>
            <a:pathLst>
              <a:path w="1082627" h="1082627">
                <a:moveTo>
                  <a:pt x="0" y="0"/>
                </a:moveTo>
                <a:lnTo>
                  <a:pt x="1082626" y="0"/>
                </a:lnTo>
                <a:lnTo>
                  <a:pt x="1082626" y="1082627"/>
                </a:lnTo>
                <a:lnTo>
                  <a:pt x="0" y="108262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517951" y="2801438"/>
            <a:ext cx="4727341" cy="2432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 b="1" dirty="0" err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Identifikasi</a:t>
            </a:r>
            <a:endParaRPr lang="en-US" sz="6999" b="1" dirty="0">
              <a:solidFill>
                <a:srgbClr val="000000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  <a:p>
            <a:pPr algn="l">
              <a:lnSpc>
                <a:spcPts val="9799"/>
              </a:lnSpc>
            </a:pPr>
            <a:r>
              <a:rPr lang="en-US" sz="6999" b="1" dirty="0" err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Masalah</a:t>
            </a:r>
            <a:endParaRPr lang="en-US" sz="6999" b="1" dirty="0">
              <a:solidFill>
                <a:srgbClr val="000000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8168290" y="3268126"/>
            <a:ext cx="8873295" cy="545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ID" sz="3500" b="1" dirty="0" err="1">
                <a:latin typeface="Glacial Indifference" panose="020B0604020202020204" charset="0"/>
              </a:rPr>
              <a:t>Ketidaksesuaian</a:t>
            </a:r>
            <a:r>
              <a:rPr lang="en-ID" sz="3500" b="1" dirty="0">
                <a:latin typeface="Glacial Indifference" panose="020B0604020202020204" charset="0"/>
              </a:rPr>
              <a:t> Data </a:t>
            </a:r>
            <a:r>
              <a:rPr lang="en-ID" sz="3500" b="1" dirty="0" err="1">
                <a:latin typeface="Glacial Indifference" panose="020B0604020202020204" charset="0"/>
              </a:rPr>
              <a:t>Inventaris</a:t>
            </a:r>
            <a:endParaRPr lang="en-US" sz="3500" b="1" dirty="0">
              <a:solidFill>
                <a:srgbClr val="000000"/>
              </a:solidFill>
              <a:latin typeface="Glacial Indifference" panose="020B0604020202020204" charset="0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6916642" y="3112555"/>
            <a:ext cx="938336" cy="762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299"/>
              </a:lnSpc>
            </a:pPr>
            <a:r>
              <a:rPr lang="en-US" sz="4499" b="1">
                <a:solidFill>
                  <a:srgbClr val="5DA295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01.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758233" y="4597839"/>
            <a:ext cx="1096746" cy="762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299"/>
              </a:lnSpc>
            </a:pPr>
            <a:r>
              <a:rPr lang="en-US" sz="4499" b="1">
                <a:solidFill>
                  <a:srgbClr val="5DA295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02.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168290" y="4684336"/>
            <a:ext cx="8873295" cy="545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ID" sz="3500" b="1" dirty="0" err="1">
                <a:latin typeface="Glacial Indifference" panose="020B0604020202020204" charset="0"/>
              </a:rPr>
              <a:t>Pelacakan</a:t>
            </a:r>
            <a:r>
              <a:rPr lang="en-ID" sz="3500" b="1" dirty="0">
                <a:latin typeface="Glacial Indifference" panose="020B0604020202020204" charset="0"/>
              </a:rPr>
              <a:t> </a:t>
            </a:r>
            <a:r>
              <a:rPr lang="en-ID" sz="3500" b="1" dirty="0" err="1">
                <a:latin typeface="Glacial Indifference" panose="020B0604020202020204" charset="0"/>
              </a:rPr>
              <a:t>Aset</a:t>
            </a:r>
            <a:r>
              <a:rPr lang="en-ID" sz="3500" b="1" dirty="0">
                <a:latin typeface="Glacial Indifference" panose="020B0604020202020204" charset="0"/>
              </a:rPr>
              <a:t> </a:t>
            </a:r>
            <a:r>
              <a:rPr lang="en-ID" sz="3500" b="1" dirty="0" err="1">
                <a:latin typeface="Glacial Indifference" panose="020B0604020202020204" charset="0"/>
              </a:rPr>
              <a:t>Sulit</a:t>
            </a:r>
            <a:r>
              <a:rPr lang="en-ID" sz="3500" b="1" dirty="0">
                <a:latin typeface="Glacial Indifference" panose="020B0604020202020204" charset="0"/>
              </a:rPr>
              <a:t> </a:t>
            </a:r>
            <a:r>
              <a:rPr lang="en-ID" sz="3500" b="1" dirty="0" err="1">
                <a:latin typeface="Glacial Indifference" panose="020B0604020202020204" charset="0"/>
              </a:rPr>
              <a:t>Dilakukan</a:t>
            </a:r>
            <a:endParaRPr lang="en-US" sz="3500" b="1" dirty="0">
              <a:solidFill>
                <a:srgbClr val="000000"/>
              </a:solidFill>
              <a:latin typeface="Glacial Indifference" panose="020B0604020202020204" charset="0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8168290" y="6133948"/>
            <a:ext cx="8873295" cy="545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ID" sz="3500" b="1" dirty="0" err="1">
                <a:latin typeface="Glacial Indifference" panose="020B0604020202020204" charset="0"/>
              </a:rPr>
              <a:t>Pembuatan</a:t>
            </a:r>
            <a:r>
              <a:rPr lang="en-ID" sz="3500" b="1" dirty="0">
                <a:latin typeface="Glacial Indifference" panose="020B0604020202020204" charset="0"/>
              </a:rPr>
              <a:t> </a:t>
            </a:r>
            <a:r>
              <a:rPr lang="en-ID" sz="3500" b="1" dirty="0" err="1">
                <a:latin typeface="Glacial Indifference" panose="020B0604020202020204" charset="0"/>
              </a:rPr>
              <a:t>Laporan</a:t>
            </a:r>
            <a:r>
              <a:rPr lang="en-ID" sz="3500" b="1" dirty="0">
                <a:latin typeface="Glacial Indifference" panose="020B0604020202020204" charset="0"/>
              </a:rPr>
              <a:t> </a:t>
            </a:r>
            <a:r>
              <a:rPr lang="en-ID" sz="3500" b="1" dirty="0" err="1">
                <a:latin typeface="Glacial Indifference" panose="020B0604020202020204" charset="0"/>
              </a:rPr>
              <a:t>Memakan</a:t>
            </a:r>
            <a:r>
              <a:rPr lang="en-ID" sz="3500" b="1" dirty="0">
                <a:latin typeface="Glacial Indifference" panose="020B0604020202020204" charset="0"/>
              </a:rPr>
              <a:t> Waktu Lama</a:t>
            </a:r>
            <a:endParaRPr lang="en-US" sz="3500" b="1" dirty="0">
              <a:solidFill>
                <a:srgbClr val="000000"/>
              </a:solidFill>
              <a:latin typeface="Glacial Indifference" panose="020B0604020202020204" charset="0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6758233" y="6071950"/>
            <a:ext cx="1096746" cy="762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299"/>
              </a:lnSpc>
            </a:pPr>
            <a:r>
              <a:rPr lang="en-US" sz="4499" b="1">
                <a:solidFill>
                  <a:srgbClr val="5DA295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03.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445845" y="567841"/>
            <a:ext cx="3525708" cy="8527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 spc="14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UNIVERSITAS</a:t>
            </a:r>
          </a:p>
          <a:p>
            <a:pPr algn="l">
              <a:lnSpc>
                <a:spcPts val="3360"/>
              </a:lnSpc>
            </a:pPr>
            <a:r>
              <a:rPr lang="en-US" sz="2800" spc="14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NEGERI MANADO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429915" y="8963025"/>
            <a:ext cx="4752692" cy="500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200"/>
              </a:lnSpc>
            </a:pPr>
            <a:r>
              <a:rPr lang="en-US" sz="3000" b="1" spc="300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TEKNIK INFORMATIKA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B370DB74-E1B5-4050-B0EC-4440A2604BCC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505" y="503294"/>
            <a:ext cx="942895" cy="9458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26659" y="7028511"/>
            <a:ext cx="4921456" cy="3986379"/>
          </a:xfrm>
          <a:custGeom>
            <a:avLst/>
            <a:gdLst/>
            <a:ahLst/>
            <a:cxnLst/>
            <a:rect l="l" t="t" r="r" b="b"/>
            <a:pathLst>
              <a:path w="4921456" h="3986379">
                <a:moveTo>
                  <a:pt x="0" y="0"/>
                </a:moveTo>
                <a:lnTo>
                  <a:pt x="4921455" y="0"/>
                </a:lnTo>
                <a:lnTo>
                  <a:pt x="4921455" y="3986379"/>
                </a:lnTo>
                <a:lnTo>
                  <a:pt x="0" y="39863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10073435"/>
            <a:ext cx="18288000" cy="213565"/>
            <a:chOff x="0" y="0"/>
            <a:chExt cx="4816593" cy="5624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56248"/>
            </a:xfrm>
            <a:custGeom>
              <a:avLst/>
              <a:gdLst/>
              <a:ahLst/>
              <a:cxnLst/>
              <a:rect l="l" t="t" r="r" b="b"/>
              <a:pathLst>
                <a:path w="4816592" h="56248">
                  <a:moveTo>
                    <a:pt x="0" y="0"/>
                  </a:moveTo>
                  <a:lnTo>
                    <a:pt x="4816592" y="0"/>
                  </a:lnTo>
                  <a:lnTo>
                    <a:pt x="4816592" y="56248"/>
                  </a:lnTo>
                  <a:lnTo>
                    <a:pt x="0" y="56248"/>
                  </a:lnTo>
                  <a:close/>
                </a:path>
              </a:pathLst>
            </a:custGeom>
            <a:solidFill>
              <a:srgbClr val="5DA295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943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4364232" y="-2136727"/>
            <a:ext cx="5790136" cy="5790136"/>
          </a:xfrm>
          <a:custGeom>
            <a:avLst/>
            <a:gdLst/>
            <a:ahLst/>
            <a:cxnLst/>
            <a:rect l="l" t="t" r="r" b="b"/>
            <a:pathLst>
              <a:path w="5790136" h="5790136">
                <a:moveTo>
                  <a:pt x="0" y="0"/>
                </a:moveTo>
                <a:lnTo>
                  <a:pt x="5790136" y="0"/>
                </a:lnTo>
                <a:lnTo>
                  <a:pt x="5790136" y="5790136"/>
                </a:lnTo>
                <a:lnTo>
                  <a:pt x="0" y="57901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0" y="0"/>
            <a:ext cx="18288000" cy="213565"/>
            <a:chOff x="0" y="0"/>
            <a:chExt cx="4816593" cy="5624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816592" cy="56248"/>
            </a:xfrm>
            <a:custGeom>
              <a:avLst/>
              <a:gdLst/>
              <a:ahLst/>
              <a:cxnLst/>
              <a:rect l="l" t="t" r="r" b="b"/>
              <a:pathLst>
                <a:path w="4816592" h="56248">
                  <a:moveTo>
                    <a:pt x="0" y="0"/>
                  </a:moveTo>
                  <a:lnTo>
                    <a:pt x="4816592" y="0"/>
                  </a:lnTo>
                  <a:lnTo>
                    <a:pt x="4816592" y="56248"/>
                  </a:lnTo>
                  <a:lnTo>
                    <a:pt x="0" y="56248"/>
                  </a:lnTo>
                  <a:close/>
                </a:path>
              </a:pathLst>
            </a:custGeom>
            <a:solidFill>
              <a:srgbClr val="BFDDD2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816593" cy="943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389196" y="598254"/>
            <a:ext cx="851704" cy="777374"/>
          </a:xfrm>
          <a:custGeom>
            <a:avLst/>
            <a:gdLst/>
            <a:ahLst/>
            <a:cxnLst/>
            <a:rect l="l" t="t" r="r" b="b"/>
            <a:pathLst>
              <a:path w="851704" h="777374">
                <a:moveTo>
                  <a:pt x="0" y="0"/>
                </a:moveTo>
                <a:lnTo>
                  <a:pt x="851705" y="0"/>
                </a:lnTo>
                <a:lnTo>
                  <a:pt x="851705" y="777374"/>
                </a:lnTo>
                <a:lnTo>
                  <a:pt x="0" y="7773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632097" y="758341"/>
            <a:ext cx="365904" cy="337962"/>
          </a:xfrm>
          <a:custGeom>
            <a:avLst/>
            <a:gdLst/>
            <a:ahLst/>
            <a:cxnLst/>
            <a:rect l="l" t="t" r="r" b="b"/>
            <a:pathLst>
              <a:path w="365904" h="337962">
                <a:moveTo>
                  <a:pt x="0" y="0"/>
                </a:moveTo>
                <a:lnTo>
                  <a:pt x="365903" y="0"/>
                </a:lnTo>
                <a:lnTo>
                  <a:pt x="365903" y="337962"/>
                </a:lnTo>
                <a:lnTo>
                  <a:pt x="0" y="3379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6564000" y="8834437"/>
            <a:ext cx="955170" cy="762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299"/>
              </a:lnSpc>
            </a:pPr>
            <a:r>
              <a:rPr lang="en-US" sz="4499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03</a:t>
            </a:r>
          </a:p>
        </p:txBody>
      </p:sp>
      <p:sp>
        <p:nvSpPr>
          <p:cNvPr id="13" name="AutoShape 13"/>
          <p:cNvSpPr/>
          <p:nvPr/>
        </p:nvSpPr>
        <p:spPr>
          <a:xfrm>
            <a:off x="16564000" y="8877554"/>
            <a:ext cx="0" cy="761492"/>
          </a:xfrm>
          <a:prstGeom prst="line">
            <a:avLst/>
          </a:prstGeom>
          <a:ln w="95250" cap="flat">
            <a:solidFill>
              <a:srgbClr val="5DA295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4" name="Group 14"/>
          <p:cNvGrpSpPr/>
          <p:nvPr/>
        </p:nvGrpSpPr>
        <p:grpSpPr>
          <a:xfrm>
            <a:off x="2251527" y="5510002"/>
            <a:ext cx="841062" cy="841062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DA295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272896" y="6878355"/>
            <a:ext cx="925168" cy="925168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DA295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201464" y="4215021"/>
            <a:ext cx="925168" cy="925168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DA295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>
            <a:off x="2446881" y="5705356"/>
            <a:ext cx="450354" cy="450354"/>
          </a:xfrm>
          <a:custGeom>
            <a:avLst/>
            <a:gdLst/>
            <a:ahLst/>
            <a:cxnLst/>
            <a:rect l="l" t="t" r="r" b="b"/>
            <a:pathLst>
              <a:path w="877612" h="877612">
                <a:moveTo>
                  <a:pt x="0" y="0"/>
                </a:moveTo>
                <a:lnTo>
                  <a:pt x="877612" y="0"/>
                </a:lnTo>
                <a:lnTo>
                  <a:pt x="877612" y="877612"/>
                </a:lnTo>
                <a:lnTo>
                  <a:pt x="0" y="87761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2378909" y="4394960"/>
            <a:ext cx="570278" cy="565289"/>
          </a:xfrm>
          <a:custGeom>
            <a:avLst/>
            <a:gdLst/>
            <a:ahLst/>
            <a:cxnLst/>
            <a:rect l="l" t="t" r="r" b="b"/>
            <a:pathLst>
              <a:path w="1010284" h="1001444">
                <a:moveTo>
                  <a:pt x="0" y="0"/>
                </a:moveTo>
                <a:lnTo>
                  <a:pt x="1010284" y="0"/>
                </a:lnTo>
                <a:lnTo>
                  <a:pt x="1010284" y="1001445"/>
                </a:lnTo>
                <a:lnTo>
                  <a:pt x="0" y="100144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2433328" y="7069650"/>
            <a:ext cx="534686" cy="542578"/>
          </a:xfrm>
          <a:custGeom>
            <a:avLst/>
            <a:gdLst/>
            <a:ahLst/>
            <a:cxnLst/>
            <a:rect l="l" t="t" r="r" b="b"/>
            <a:pathLst>
              <a:path w="947230" h="961211">
                <a:moveTo>
                  <a:pt x="0" y="0"/>
                </a:moveTo>
                <a:lnTo>
                  <a:pt x="947230" y="0"/>
                </a:lnTo>
                <a:lnTo>
                  <a:pt x="947230" y="961210"/>
                </a:lnTo>
                <a:lnTo>
                  <a:pt x="0" y="96121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4481739" y="1593615"/>
            <a:ext cx="9324521" cy="112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Batasan </a:t>
            </a:r>
            <a:r>
              <a:rPr lang="en-US" sz="6500" b="1" dirty="0" err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Masalah</a:t>
            </a:r>
            <a:endParaRPr lang="en-US" sz="6500" b="1" dirty="0">
              <a:solidFill>
                <a:srgbClr val="000000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3670971" y="5299612"/>
            <a:ext cx="10959429" cy="11124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ID" sz="3000" dirty="0" err="1">
                <a:latin typeface="Glacial Indifference" panose="020B0604020202020204" charset="0"/>
              </a:rPr>
              <a:t>Sistem</a:t>
            </a:r>
            <a:r>
              <a:rPr lang="en-ID" sz="3000" dirty="0">
                <a:latin typeface="Glacial Indifference" panose="020B0604020202020204" charset="0"/>
              </a:rPr>
              <a:t> </a:t>
            </a:r>
            <a:r>
              <a:rPr lang="en-ID" sz="3000" dirty="0" err="1">
                <a:latin typeface="Glacial Indifference" panose="020B0604020202020204" charset="0"/>
              </a:rPr>
              <a:t>ini</a:t>
            </a:r>
            <a:r>
              <a:rPr lang="en-ID" sz="3000" dirty="0">
                <a:latin typeface="Glacial Indifference" panose="020B0604020202020204" charset="0"/>
              </a:rPr>
              <a:t> </a:t>
            </a:r>
            <a:r>
              <a:rPr lang="en-ID" sz="3000" dirty="0" err="1">
                <a:latin typeface="Glacial Indifference" panose="020B0604020202020204" charset="0"/>
              </a:rPr>
              <a:t>akan</a:t>
            </a:r>
            <a:r>
              <a:rPr lang="en-ID" sz="3000" dirty="0">
                <a:latin typeface="Glacial Indifference" panose="020B0604020202020204" charset="0"/>
              </a:rPr>
              <a:t> </a:t>
            </a:r>
            <a:r>
              <a:rPr lang="en-ID" sz="3000" dirty="0" err="1">
                <a:latin typeface="Glacial Indifference" panose="020B0604020202020204" charset="0"/>
              </a:rPr>
              <a:t>diterapkan</a:t>
            </a:r>
            <a:r>
              <a:rPr lang="en-ID" sz="3000" dirty="0">
                <a:latin typeface="Glacial Indifference" panose="020B0604020202020204" charset="0"/>
              </a:rPr>
              <a:t> di Kantor </a:t>
            </a:r>
            <a:r>
              <a:rPr lang="en-ID" sz="3000" dirty="0" err="1">
                <a:latin typeface="Glacial Indifference" panose="020B0604020202020204" charset="0"/>
              </a:rPr>
              <a:t>Satuan</a:t>
            </a:r>
            <a:r>
              <a:rPr lang="en-ID" sz="3000" dirty="0">
                <a:latin typeface="Glacial Indifference" panose="020B0604020202020204" charset="0"/>
              </a:rPr>
              <a:t> Pendidikan Nonformal / </a:t>
            </a:r>
            <a:r>
              <a:rPr lang="en-ID" sz="3000" dirty="0" err="1">
                <a:latin typeface="Glacial Indifference" panose="020B0604020202020204" charset="0"/>
              </a:rPr>
              <a:t>Sanggar</a:t>
            </a:r>
            <a:r>
              <a:rPr lang="en-ID" sz="3000" dirty="0">
                <a:latin typeface="Glacial Indifference" panose="020B0604020202020204" charset="0"/>
              </a:rPr>
              <a:t> </a:t>
            </a:r>
            <a:r>
              <a:rPr lang="en-ID" sz="3000" dirty="0" err="1">
                <a:latin typeface="Glacial Indifference" panose="020B0604020202020204" charset="0"/>
              </a:rPr>
              <a:t>Kegiatan</a:t>
            </a:r>
            <a:r>
              <a:rPr lang="en-ID" sz="3000" dirty="0">
                <a:latin typeface="Glacial Indifference" panose="020B0604020202020204" charset="0"/>
              </a:rPr>
              <a:t> </a:t>
            </a:r>
            <a:r>
              <a:rPr lang="en-ID" sz="3000" dirty="0" err="1">
                <a:latin typeface="Glacial Indifference" panose="020B0604020202020204" charset="0"/>
              </a:rPr>
              <a:t>Belajar</a:t>
            </a:r>
            <a:r>
              <a:rPr lang="en-ID" sz="3000" dirty="0">
                <a:latin typeface="Glacial Indifference" panose="020B0604020202020204" charset="0"/>
              </a:rPr>
              <a:t> </a:t>
            </a:r>
            <a:r>
              <a:rPr lang="en-ID" sz="3000" dirty="0" err="1">
                <a:latin typeface="Glacial Indifference" panose="020B0604020202020204" charset="0"/>
              </a:rPr>
              <a:t>Tondano</a:t>
            </a:r>
            <a:r>
              <a:rPr lang="en-ID" sz="3000" dirty="0">
                <a:latin typeface="Glacial Indifference" panose="020B0604020202020204" charset="0"/>
              </a:rPr>
              <a:t> </a:t>
            </a:r>
            <a:endParaRPr lang="en-US" sz="3000" dirty="0">
              <a:solidFill>
                <a:srgbClr val="000000"/>
              </a:solidFill>
              <a:latin typeface="Glacial Indifference" panose="020B0604020202020204" charset="0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3747547" y="6725955"/>
            <a:ext cx="9435053" cy="11124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ID" sz="3000" dirty="0" err="1">
                <a:latin typeface="Glacial Indifference" panose="020B0604020202020204" charset="0"/>
              </a:rPr>
              <a:t>Metode</a:t>
            </a:r>
            <a:r>
              <a:rPr lang="en-ID" sz="3000" dirty="0">
                <a:latin typeface="Glacial Indifference" panose="020B0604020202020204" charset="0"/>
              </a:rPr>
              <a:t> </a:t>
            </a:r>
            <a:r>
              <a:rPr lang="en-ID" sz="3000" dirty="0" err="1">
                <a:latin typeface="Glacial Indifference" panose="020B0604020202020204" charset="0"/>
              </a:rPr>
              <a:t>pengembangan</a:t>
            </a:r>
            <a:r>
              <a:rPr lang="en-ID" sz="3000" dirty="0">
                <a:latin typeface="Glacial Indifference" panose="020B0604020202020204" charset="0"/>
              </a:rPr>
              <a:t> </a:t>
            </a:r>
            <a:r>
              <a:rPr lang="en-ID" sz="3000" dirty="0" err="1">
                <a:latin typeface="Glacial Indifference" panose="020B0604020202020204" charset="0"/>
              </a:rPr>
              <a:t>aplikasi</a:t>
            </a:r>
            <a:r>
              <a:rPr lang="en-ID" sz="3000" dirty="0">
                <a:latin typeface="Glacial Indifference" panose="020B0604020202020204" charset="0"/>
              </a:rPr>
              <a:t> yang </a:t>
            </a:r>
            <a:r>
              <a:rPr lang="en-ID" sz="3000" dirty="0" err="1">
                <a:latin typeface="Glacial Indifference" panose="020B0604020202020204" charset="0"/>
              </a:rPr>
              <a:t>digunakan</a:t>
            </a:r>
            <a:r>
              <a:rPr lang="en-ID" sz="3000" dirty="0">
                <a:latin typeface="Glacial Indifference" panose="020B0604020202020204" charset="0"/>
              </a:rPr>
              <a:t> </a:t>
            </a:r>
            <a:r>
              <a:rPr lang="en-ID" sz="3000" dirty="0" err="1">
                <a:latin typeface="Glacial Indifference" panose="020B0604020202020204" charset="0"/>
              </a:rPr>
              <a:t>yaitu</a:t>
            </a:r>
            <a:r>
              <a:rPr lang="en-ID" sz="3000" dirty="0">
                <a:latin typeface="Glacial Indifference" panose="020B0604020202020204" charset="0"/>
              </a:rPr>
              <a:t> </a:t>
            </a:r>
            <a:r>
              <a:rPr lang="en-ID" sz="3000" dirty="0" err="1">
                <a:latin typeface="Glacial Indifference" panose="020B0604020202020204" charset="0"/>
              </a:rPr>
              <a:t>Metode</a:t>
            </a:r>
            <a:r>
              <a:rPr lang="en-ID" sz="3000" dirty="0">
                <a:latin typeface="Glacial Indifference" panose="020B0604020202020204" charset="0"/>
              </a:rPr>
              <a:t> RAD (Rapid Application Development) </a:t>
            </a:r>
            <a:endParaRPr lang="en-US" sz="3000" dirty="0">
              <a:solidFill>
                <a:srgbClr val="000000"/>
              </a:solidFill>
              <a:latin typeface="Glacial Indifference" panose="020B0604020202020204" charset="0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3794797" y="4264412"/>
            <a:ext cx="12523827" cy="528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480"/>
              </a:lnSpc>
            </a:pPr>
            <a:r>
              <a:rPr lang="en-ID" sz="3000" dirty="0" err="1">
                <a:latin typeface="Glacial Indifference" panose="020B0604020202020204" charset="0"/>
              </a:rPr>
              <a:t>Penelitian</a:t>
            </a:r>
            <a:r>
              <a:rPr lang="en-ID" sz="3000" dirty="0">
                <a:latin typeface="Glacial Indifference" panose="020B0604020202020204" charset="0"/>
              </a:rPr>
              <a:t> </a:t>
            </a:r>
            <a:r>
              <a:rPr lang="en-ID" sz="3000" dirty="0" err="1">
                <a:latin typeface="Glacial Indifference" panose="020B0604020202020204" charset="0"/>
              </a:rPr>
              <a:t>ini</a:t>
            </a:r>
            <a:r>
              <a:rPr lang="en-ID" sz="3000" dirty="0">
                <a:latin typeface="Glacial Indifference" panose="020B0604020202020204" charset="0"/>
              </a:rPr>
              <a:t> </a:t>
            </a:r>
            <a:r>
              <a:rPr lang="en-ID" sz="3000" dirty="0" err="1">
                <a:latin typeface="Glacial Indifference" panose="020B0604020202020204" charset="0"/>
              </a:rPr>
              <a:t>hanya</a:t>
            </a:r>
            <a:r>
              <a:rPr lang="en-ID" sz="3000" dirty="0">
                <a:latin typeface="Glacial Indifference" panose="020B0604020202020204" charset="0"/>
              </a:rPr>
              <a:t> </a:t>
            </a:r>
            <a:r>
              <a:rPr lang="en-ID" sz="3000" dirty="0" err="1">
                <a:latin typeface="Glacial Indifference" panose="020B0604020202020204" charset="0"/>
              </a:rPr>
              <a:t>berfokus</a:t>
            </a:r>
            <a:r>
              <a:rPr lang="en-ID" sz="3000" dirty="0">
                <a:latin typeface="Glacial Indifference" panose="020B0604020202020204" charset="0"/>
              </a:rPr>
              <a:t> pada </a:t>
            </a:r>
            <a:r>
              <a:rPr lang="en-ID" sz="3000" dirty="0" err="1">
                <a:latin typeface="Glacial Indifference" panose="020B0604020202020204" charset="0"/>
              </a:rPr>
              <a:t>implementasi</a:t>
            </a:r>
            <a:r>
              <a:rPr lang="en-ID" sz="3000" dirty="0">
                <a:latin typeface="Glacial Indifference" panose="020B0604020202020204" charset="0"/>
              </a:rPr>
              <a:t> </a:t>
            </a:r>
            <a:r>
              <a:rPr lang="en-ID" sz="3000" dirty="0" err="1">
                <a:latin typeface="Glacial Indifference" panose="020B0604020202020204" charset="0"/>
              </a:rPr>
              <a:t>algoritma</a:t>
            </a:r>
            <a:r>
              <a:rPr lang="en-ID" sz="3000" dirty="0">
                <a:latin typeface="Glacial Indifference" panose="020B0604020202020204" charset="0"/>
              </a:rPr>
              <a:t> </a:t>
            </a:r>
            <a:r>
              <a:rPr lang="en-ID" sz="3000" i="1" dirty="0">
                <a:latin typeface="Glacial Indifference" panose="020B0604020202020204" charset="0"/>
              </a:rPr>
              <a:t>Linear Search</a:t>
            </a:r>
            <a:endParaRPr lang="en-US" sz="3000" dirty="0">
              <a:solidFill>
                <a:srgbClr val="000000"/>
              </a:solidFill>
              <a:latin typeface="Glacial Indifference" panose="020B0604020202020204" charset="0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1445845" y="567841"/>
            <a:ext cx="3202355" cy="8527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 spc="14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UNIVERSITAS</a:t>
            </a:r>
          </a:p>
          <a:p>
            <a:pPr algn="l">
              <a:lnSpc>
                <a:spcPts val="3360"/>
              </a:lnSpc>
            </a:pPr>
            <a:r>
              <a:rPr lang="en-US" sz="2800" spc="14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NEGERI MANADO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429915" y="8963025"/>
            <a:ext cx="4752692" cy="500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200"/>
              </a:lnSpc>
            </a:pPr>
            <a:r>
              <a:rPr lang="en-US" sz="3000" b="1" spc="300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TEKNIK INFORMATIKA</a:t>
            </a:r>
          </a:p>
        </p:txBody>
      </p:sp>
      <p:grpSp>
        <p:nvGrpSpPr>
          <p:cNvPr id="41" name="Group 23">
            <a:extLst>
              <a:ext uri="{FF2B5EF4-FFF2-40B4-BE49-F238E27FC236}">
                <a16:creationId xmlns:a16="http://schemas.microsoft.com/office/drawing/2014/main" id="{034FB2C8-AF49-4CE2-B514-4EC0082326C8}"/>
              </a:ext>
            </a:extLst>
          </p:cNvPr>
          <p:cNvGrpSpPr/>
          <p:nvPr/>
        </p:nvGrpSpPr>
        <p:grpSpPr>
          <a:xfrm>
            <a:off x="2173741" y="3016760"/>
            <a:ext cx="925168" cy="925168"/>
            <a:chOff x="0" y="0"/>
            <a:chExt cx="812800" cy="812800"/>
          </a:xfrm>
        </p:grpSpPr>
        <p:sp>
          <p:nvSpPr>
            <p:cNvPr id="42" name="Freeform 24">
              <a:extLst>
                <a:ext uri="{FF2B5EF4-FFF2-40B4-BE49-F238E27FC236}">
                  <a16:creationId xmlns:a16="http://schemas.microsoft.com/office/drawing/2014/main" id="{89415BCC-69FC-4102-8910-594DBAA9101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DA295"/>
            </a:solidFill>
          </p:spPr>
        </p:sp>
        <p:sp>
          <p:nvSpPr>
            <p:cNvPr id="43" name="TextBox 25">
              <a:extLst>
                <a:ext uri="{FF2B5EF4-FFF2-40B4-BE49-F238E27FC236}">
                  <a16:creationId xmlns:a16="http://schemas.microsoft.com/office/drawing/2014/main" id="{74D70544-22E4-4E00-9A41-012268354747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75F7A6DA-03CE-4378-9CC0-3CD526BAE201}"/>
              </a:ext>
            </a:extLst>
          </p:cNvPr>
          <p:cNvSpPr/>
          <p:nvPr/>
        </p:nvSpPr>
        <p:spPr>
          <a:xfrm>
            <a:off x="2376072" y="3259524"/>
            <a:ext cx="531409" cy="36122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8A2AC2E-BA68-4E46-91A1-EC8494546D2D}"/>
              </a:ext>
            </a:extLst>
          </p:cNvPr>
          <p:cNvSpPr/>
          <p:nvPr/>
        </p:nvSpPr>
        <p:spPr>
          <a:xfrm>
            <a:off x="2531329" y="3639434"/>
            <a:ext cx="210474" cy="4076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BFA1F0D8-DACB-4E6F-9EC9-36346D76AC44}"/>
              </a:ext>
            </a:extLst>
          </p:cNvPr>
          <p:cNvSpPr/>
          <p:nvPr/>
        </p:nvSpPr>
        <p:spPr>
          <a:xfrm>
            <a:off x="2492638" y="3696905"/>
            <a:ext cx="287856" cy="40765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7420DA90-272D-48BE-AECF-5EB66217D75A}"/>
              </a:ext>
            </a:extLst>
          </p:cNvPr>
          <p:cNvSpPr/>
          <p:nvPr/>
        </p:nvSpPr>
        <p:spPr>
          <a:xfrm>
            <a:off x="2421117" y="3297945"/>
            <a:ext cx="433715" cy="294815"/>
          </a:xfrm>
          <a:prstGeom prst="roundRect">
            <a:avLst/>
          </a:prstGeom>
          <a:solidFill>
            <a:srgbClr val="5DA2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8" name="TextBox 36">
            <a:extLst>
              <a:ext uri="{FF2B5EF4-FFF2-40B4-BE49-F238E27FC236}">
                <a16:creationId xmlns:a16="http://schemas.microsoft.com/office/drawing/2014/main" id="{97943442-F706-4A7E-BEFF-51E1BED4DF86}"/>
              </a:ext>
            </a:extLst>
          </p:cNvPr>
          <p:cNvSpPr txBox="1"/>
          <p:nvPr/>
        </p:nvSpPr>
        <p:spPr>
          <a:xfrm>
            <a:off x="3794797" y="3130825"/>
            <a:ext cx="12909083" cy="528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ID" sz="3000" dirty="0" err="1">
                <a:latin typeface="Glacial Indifference" panose="020B0604020202020204" charset="0"/>
              </a:rPr>
              <a:t>Sistem</a:t>
            </a:r>
            <a:r>
              <a:rPr lang="en-ID" sz="3000" dirty="0">
                <a:latin typeface="Glacial Indifference" panose="020B0604020202020204" charset="0"/>
              </a:rPr>
              <a:t> </a:t>
            </a:r>
            <a:r>
              <a:rPr lang="en-ID" sz="3000" dirty="0" err="1">
                <a:latin typeface="Glacial Indifference" panose="020B0604020202020204" charset="0"/>
              </a:rPr>
              <a:t>ini</a:t>
            </a:r>
            <a:r>
              <a:rPr lang="en-ID" sz="3000" dirty="0">
                <a:latin typeface="Glacial Indifference" panose="020B0604020202020204" charset="0"/>
              </a:rPr>
              <a:t> </a:t>
            </a:r>
            <a:r>
              <a:rPr lang="en-ID" sz="3000" dirty="0" err="1">
                <a:latin typeface="Glacial Indifference" panose="020B0604020202020204" charset="0"/>
              </a:rPr>
              <a:t>akan</a:t>
            </a:r>
            <a:r>
              <a:rPr lang="en-ID" sz="3000" dirty="0">
                <a:latin typeface="Glacial Indifference" panose="020B0604020202020204" charset="0"/>
              </a:rPr>
              <a:t> </a:t>
            </a:r>
            <a:r>
              <a:rPr lang="en-ID" sz="3000" dirty="0" err="1">
                <a:latin typeface="Glacial Indifference" panose="020B0604020202020204" charset="0"/>
              </a:rPr>
              <a:t>dibuat</a:t>
            </a:r>
            <a:r>
              <a:rPr lang="en-ID" sz="3000" dirty="0">
                <a:latin typeface="Glacial Indifference" panose="020B0604020202020204" charset="0"/>
              </a:rPr>
              <a:t> </a:t>
            </a:r>
            <a:r>
              <a:rPr lang="en-ID" sz="3000" dirty="0" err="1">
                <a:latin typeface="Glacial Indifference" panose="020B0604020202020204" charset="0"/>
              </a:rPr>
              <a:t>berbasis</a:t>
            </a:r>
            <a:r>
              <a:rPr lang="en-ID" sz="3000" dirty="0">
                <a:latin typeface="Glacial Indifference" panose="020B0604020202020204" charset="0"/>
              </a:rPr>
              <a:t> website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1FE958BE-5CF9-4CE2-927E-83F2DF97F4F7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505" y="503294"/>
            <a:ext cx="942895" cy="945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2376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FD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745898" y="1884561"/>
            <a:ext cx="5420227" cy="11701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500"/>
              </a:lnSpc>
            </a:pPr>
            <a:r>
              <a:rPr lang="en-US" sz="5000" b="1" dirty="0" err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Rumusan</a:t>
            </a:r>
            <a:r>
              <a:rPr lang="en-US" sz="5000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</a:t>
            </a:r>
            <a:r>
              <a:rPr lang="en-US" sz="5000" b="1" dirty="0" err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Masalah</a:t>
            </a:r>
            <a:endParaRPr lang="en-US" sz="5000" b="1" dirty="0">
              <a:solidFill>
                <a:srgbClr val="000000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389196" y="7453479"/>
            <a:ext cx="4072345" cy="4066842"/>
          </a:xfrm>
          <a:custGeom>
            <a:avLst/>
            <a:gdLst/>
            <a:ahLst/>
            <a:cxnLst/>
            <a:rect l="l" t="t" r="r" b="b"/>
            <a:pathLst>
              <a:path w="4072345" h="4066842">
                <a:moveTo>
                  <a:pt x="0" y="0"/>
                </a:moveTo>
                <a:lnTo>
                  <a:pt x="4072345" y="0"/>
                </a:lnTo>
                <a:lnTo>
                  <a:pt x="4072345" y="4066842"/>
                </a:lnTo>
                <a:lnTo>
                  <a:pt x="0" y="40668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0" y="10073435"/>
            <a:ext cx="18288000" cy="213565"/>
            <a:chOff x="0" y="0"/>
            <a:chExt cx="4816593" cy="5624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2" cy="56248"/>
            </a:xfrm>
            <a:custGeom>
              <a:avLst/>
              <a:gdLst/>
              <a:ahLst/>
              <a:cxnLst/>
              <a:rect l="l" t="t" r="r" b="b"/>
              <a:pathLst>
                <a:path w="4816592" h="56248">
                  <a:moveTo>
                    <a:pt x="0" y="0"/>
                  </a:moveTo>
                  <a:lnTo>
                    <a:pt x="4816592" y="0"/>
                  </a:lnTo>
                  <a:lnTo>
                    <a:pt x="4816592" y="56248"/>
                  </a:lnTo>
                  <a:lnTo>
                    <a:pt x="0" y="56248"/>
                  </a:lnTo>
                  <a:close/>
                </a:path>
              </a:pathLst>
            </a:custGeom>
            <a:solidFill>
              <a:srgbClr val="5DA295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4816593" cy="943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flipV="1">
            <a:off x="14729434" y="-317609"/>
            <a:ext cx="4180831" cy="3386473"/>
          </a:xfrm>
          <a:custGeom>
            <a:avLst/>
            <a:gdLst/>
            <a:ahLst/>
            <a:cxnLst/>
            <a:rect l="l" t="t" r="r" b="b"/>
            <a:pathLst>
              <a:path w="4180831" h="3386473">
                <a:moveTo>
                  <a:pt x="0" y="3386473"/>
                </a:moveTo>
                <a:lnTo>
                  <a:pt x="4180831" y="3386473"/>
                </a:lnTo>
                <a:lnTo>
                  <a:pt x="4180831" y="0"/>
                </a:lnTo>
                <a:lnTo>
                  <a:pt x="0" y="0"/>
                </a:lnTo>
                <a:lnTo>
                  <a:pt x="0" y="338647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0" y="0"/>
            <a:ext cx="18288000" cy="213565"/>
            <a:chOff x="0" y="0"/>
            <a:chExt cx="4816593" cy="5624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816592" cy="56248"/>
            </a:xfrm>
            <a:custGeom>
              <a:avLst/>
              <a:gdLst/>
              <a:ahLst/>
              <a:cxnLst/>
              <a:rect l="l" t="t" r="r" b="b"/>
              <a:pathLst>
                <a:path w="4816592" h="56248">
                  <a:moveTo>
                    <a:pt x="0" y="0"/>
                  </a:moveTo>
                  <a:lnTo>
                    <a:pt x="4816592" y="0"/>
                  </a:lnTo>
                  <a:lnTo>
                    <a:pt x="4816592" y="56248"/>
                  </a:lnTo>
                  <a:lnTo>
                    <a:pt x="0" y="56248"/>
                  </a:lnTo>
                  <a:close/>
                </a:path>
              </a:pathLst>
            </a:custGeom>
            <a:solidFill>
              <a:srgbClr val="5DA295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4816593" cy="943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389196" y="598254"/>
            <a:ext cx="851704" cy="777374"/>
          </a:xfrm>
          <a:custGeom>
            <a:avLst/>
            <a:gdLst/>
            <a:ahLst/>
            <a:cxnLst/>
            <a:rect l="l" t="t" r="r" b="b"/>
            <a:pathLst>
              <a:path w="851704" h="777374">
                <a:moveTo>
                  <a:pt x="0" y="0"/>
                </a:moveTo>
                <a:lnTo>
                  <a:pt x="851705" y="0"/>
                </a:lnTo>
                <a:lnTo>
                  <a:pt x="851705" y="777374"/>
                </a:lnTo>
                <a:lnTo>
                  <a:pt x="0" y="7773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32097" y="758341"/>
            <a:ext cx="365904" cy="337962"/>
          </a:xfrm>
          <a:custGeom>
            <a:avLst/>
            <a:gdLst/>
            <a:ahLst/>
            <a:cxnLst/>
            <a:rect l="l" t="t" r="r" b="b"/>
            <a:pathLst>
              <a:path w="365904" h="337962">
                <a:moveTo>
                  <a:pt x="0" y="0"/>
                </a:moveTo>
                <a:lnTo>
                  <a:pt x="365903" y="0"/>
                </a:lnTo>
                <a:lnTo>
                  <a:pt x="365903" y="337962"/>
                </a:lnTo>
                <a:lnTo>
                  <a:pt x="0" y="3379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6564000" y="8834437"/>
            <a:ext cx="955170" cy="762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299"/>
              </a:lnSpc>
            </a:pPr>
            <a:r>
              <a:rPr lang="en-US" sz="4499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04</a:t>
            </a:r>
          </a:p>
        </p:txBody>
      </p:sp>
      <p:sp>
        <p:nvSpPr>
          <p:cNvPr id="14" name="AutoShape 14"/>
          <p:cNvSpPr/>
          <p:nvPr/>
        </p:nvSpPr>
        <p:spPr>
          <a:xfrm>
            <a:off x="16564000" y="8877554"/>
            <a:ext cx="0" cy="761492"/>
          </a:xfrm>
          <a:prstGeom prst="line">
            <a:avLst/>
          </a:prstGeom>
          <a:ln w="95250" cap="flat">
            <a:solidFill>
              <a:srgbClr val="5DA29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AutoShape 15"/>
          <p:cNvSpPr/>
          <p:nvPr/>
        </p:nvSpPr>
        <p:spPr>
          <a:xfrm flipV="1">
            <a:off x="9297422" y="2940421"/>
            <a:ext cx="0" cy="4198362"/>
          </a:xfrm>
          <a:prstGeom prst="line">
            <a:avLst/>
          </a:prstGeom>
          <a:ln w="66675" cap="flat">
            <a:solidFill>
              <a:srgbClr val="5DA29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Freeform 16"/>
          <p:cNvSpPr/>
          <p:nvPr/>
        </p:nvSpPr>
        <p:spPr>
          <a:xfrm>
            <a:off x="3679812" y="7579231"/>
            <a:ext cx="1072583" cy="1072583"/>
          </a:xfrm>
          <a:custGeom>
            <a:avLst/>
            <a:gdLst/>
            <a:ahLst/>
            <a:cxnLst/>
            <a:rect l="l" t="t" r="r" b="b"/>
            <a:pathLst>
              <a:path w="1072583" h="1072583">
                <a:moveTo>
                  <a:pt x="0" y="0"/>
                </a:moveTo>
                <a:lnTo>
                  <a:pt x="1072583" y="0"/>
                </a:lnTo>
                <a:lnTo>
                  <a:pt x="1072583" y="1072583"/>
                </a:lnTo>
                <a:lnTo>
                  <a:pt x="0" y="107258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240900" y="3737524"/>
            <a:ext cx="7351080" cy="3654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ID" sz="3600" dirty="0" err="1">
                <a:latin typeface="Glacial Indifference" panose="020B0604020202020204" charset="0"/>
              </a:rPr>
              <a:t>Bagaimana</a:t>
            </a:r>
            <a:r>
              <a:rPr lang="en-ID" sz="3600" dirty="0">
                <a:latin typeface="Glacial Indifference" panose="020B0604020202020204" charset="0"/>
              </a:rPr>
              <a:t> </a:t>
            </a:r>
            <a:r>
              <a:rPr lang="en-ID" sz="3600" dirty="0" err="1">
                <a:latin typeface="Glacial Indifference" panose="020B0604020202020204" charset="0"/>
              </a:rPr>
              <a:t>cara</a:t>
            </a:r>
            <a:r>
              <a:rPr lang="en-ID" sz="3600" dirty="0">
                <a:latin typeface="Glacial Indifference" panose="020B0604020202020204" charset="0"/>
              </a:rPr>
              <a:t> </a:t>
            </a:r>
            <a:r>
              <a:rPr lang="en-ID" sz="3600" dirty="0" err="1">
                <a:latin typeface="Glacial Indifference" panose="020B0604020202020204" charset="0"/>
              </a:rPr>
              <a:t>mengembangkan</a:t>
            </a:r>
            <a:r>
              <a:rPr lang="en-ID" sz="3600" dirty="0">
                <a:latin typeface="Glacial Indifference" panose="020B0604020202020204" charset="0"/>
              </a:rPr>
              <a:t> </a:t>
            </a:r>
            <a:r>
              <a:rPr lang="en-ID" sz="3600" dirty="0" err="1">
                <a:latin typeface="Glacial Indifference" panose="020B0604020202020204" charset="0"/>
              </a:rPr>
              <a:t>sistem</a:t>
            </a:r>
            <a:r>
              <a:rPr lang="en-ID" sz="3600" dirty="0">
                <a:latin typeface="Glacial Indifference" panose="020B0604020202020204" charset="0"/>
              </a:rPr>
              <a:t> </a:t>
            </a:r>
            <a:r>
              <a:rPr lang="en-ID" sz="3600" dirty="0" err="1">
                <a:latin typeface="Glacial Indifference" panose="020B0604020202020204" charset="0"/>
              </a:rPr>
              <a:t>pengelahan</a:t>
            </a:r>
            <a:r>
              <a:rPr lang="en-ID" sz="3600" dirty="0">
                <a:latin typeface="Glacial Indifference" panose="020B0604020202020204" charset="0"/>
              </a:rPr>
              <a:t> data </a:t>
            </a:r>
            <a:r>
              <a:rPr lang="en-ID" sz="3600" dirty="0" err="1">
                <a:latin typeface="Glacial Indifference" panose="020B0604020202020204" charset="0"/>
              </a:rPr>
              <a:t>aset</a:t>
            </a:r>
            <a:r>
              <a:rPr lang="en-ID" sz="3600" dirty="0">
                <a:latin typeface="Glacial Indifference" panose="020B0604020202020204" charset="0"/>
              </a:rPr>
              <a:t> </a:t>
            </a:r>
            <a:r>
              <a:rPr lang="en-ID" sz="3600" dirty="0" err="1">
                <a:latin typeface="Glacial Indifference" panose="020B0604020202020204" charset="0"/>
              </a:rPr>
              <a:t>menggunakan</a:t>
            </a:r>
            <a:r>
              <a:rPr lang="en-ID" sz="3600" dirty="0">
                <a:latin typeface="Glacial Indifference" panose="020B0604020202020204" charset="0"/>
              </a:rPr>
              <a:t> </a:t>
            </a:r>
            <a:r>
              <a:rPr lang="en-ID" sz="3600" dirty="0" err="1">
                <a:latin typeface="Glacial Indifference" panose="020B0604020202020204" charset="0"/>
              </a:rPr>
              <a:t>algoritma</a:t>
            </a:r>
            <a:r>
              <a:rPr lang="en-ID" sz="3600" dirty="0">
                <a:latin typeface="Glacial Indifference" panose="020B0604020202020204" charset="0"/>
              </a:rPr>
              <a:t> </a:t>
            </a:r>
            <a:r>
              <a:rPr lang="en-ID" sz="3600" i="1" dirty="0">
                <a:latin typeface="Glacial Indifference" panose="020B0604020202020204" charset="0"/>
              </a:rPr>
              <a:t>Linear Search</a:t>
            </a:r>
            <a:r>
              <a:rPr lang="en-ID" sz="3600" dirty="0">
                <a:latin typeface="Glacial Indifference" panose="020B0604020202020204" charset="0"/>
              </a:rPr>
              <a:t> yang </a:t>
            </a:r>
            <a:r>
              <a:rPr lang="en-ID" sz="3600" dirty="0" err="1">
                <a:latin typeface="Glacial Indifference" panose="020B0604020202020204" charset="0"/>
              </a:rPr>
              <a:t>efektif</a:t>
            </a:r>
            <a:r>
              <a:rPr lang="en-ID" sz="3600" dirty="0">
                <a:latin typeface="Glacial Indifference" panose="020B0604020202020204" charset="0"/>
              </a:rPr>
              <a:t> </a:t>
            </a:r>
            <a:r>
              <a:rPr lang="en-ID" sz="3600" dirty="0" err="1">
                <a:latin typeface="Glacial Indifference" panose="020B0604020202020204" charset="0"/>
              </a:rPr>
              <a:t>untuk</a:t>
            </a:r>
            <a:r>
              <a:rPr lang="en-ID" sz="3600" dirty="0">
                <a:latin typeface="Glacial Indifference" panose="020B0604020202020204" charset="0"/>
              </a:rPr>
              <a:t> Kantor </a:t>
            </a:r>
            <a:r>
              <a:rPr lang="en-ID" sz="3600" dirty="0" err="1">
                <a:latin typeface="Glacial Indifference" panose="020B0604020202020204" charset="0"/>
              </a:rPr>
              <a:t>Satuan</a:t>
            </a:r>
            <a:r>
              <a:rPr lang="en-ID" sz="3600" dirty="0">
                <a:latin typeface="Glacial Indifference" panose="020B0604020202020204" charset="0"/>
              </a:rPr>
              <a:t> Pendidikan Nonformal / </a:t>
            </a:r>
            <a:r>
              <a:rPr lang="en-ID" sz="3600" dirty="0" err="1">
                <a:latin typeface="Glacial Indifference" panose="020B0604020202020204" charset="0"/>
              </a:rPr>
              <a:t>Sanggar</a:t>
            </a:r>
            <a:r>
              <a:rPr lang="en-ID" sz="3600" dirty="0">
                <a:latin typeface="Glacial Indifference" panose="020B0604020202020204" charset="0"/>
              </a:rPr>
              <a:t> </a:t>
            </a:r>
            <a:r>
              <a:rPr lang="en-ID" sz="3600" dirty="0" err="1">
                <a:latin typeface="Glacial Indifference" panose="020B0604020202020204" charset="0"/>
              </a:rPr>
              <a:t>Kegiatan</a:t>
            </a:r>
            <a:r>
              <a:rPr lang="en-ID" sz="3600" dirty="0">
                <a:latin typeface="Glacial Indifference" panose="020B0604020202020204" charset="0"/>
              </a:rPr>
              <a:t> </a:t>
            </a:r>
            <a:r>
              <a:rPr lang="en-ID" sz="3600" dirty="0" err="1">
                <a:latin typeface="Glacial Indifference" panose="020B0604020202020204" charset="0"/>
              </a:rPr>
              <a:t>Belajar</a:t>
            </a:r>
            <a:r>
              <a:rPr lang="en-ID" sz="3600" dirty="0">
                <a:latin typeface="Glacial Indifference" panose="020B0604020202020204" charset="0"/>
              </a:rPr>
              <a:t> </a:t>
            </a:r>
            <a:r>
              <a:rPr lang="en-ID" sz="3600" dirty="0" err="1">
                <a:latin typeface="Glacial Indifference" panose="020B0604020202020204" charset="0"/>
              </a:rPr>
              <a:t>Tondano</a:t>
            </a:r>
            <a:r>
              <a:rPr lang="en-ID" sz="3600" dirty="0">
                <a:latin typeface="Glacial Indifference" panose="020B0604020202020204" charset="0"/>
              </a:rPr>
              <a:t>?.</a:t>
            </a:r>
            <a:endParaRPr lang="en-US" sz="3399" dirty="0">
              <a:solidFill>
                <a:srgbClr val="000000"/>
              </a:solidFill>
              <a:latin typeface="Glacial Indifference" panose="020B0604020202020204" charset="0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445845" y="567841"/>
            <a:ext cx="4497755" cy="8527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 spc="14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UNIVERSITAS</a:t>
            </a:r>
          </a:p>
          <a:p>
            <a:pPr algn="l">
              <a:lnSpc>
                <a:spcPts val="3360"/>
              </a:lnSpc>
            </a:pPr>
            <a:r>
              <a:rPr lang="en-US" sz="2800" spc="14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NEGERI MANADO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429915" y="8963025"/>
            <a:ext cx="4752692" cy="500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200"/>
              </a:lnSpc>
            </a:pPr>
            <a:r>
              <a:rPr lang="en-US" sz="3000" b="1" spc="300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TEKNIK INFORMATIKA</a:t>
            </a:r>
          </a:p>
        </p:txBody>
      </p:sp>
      <p:sp>
        <p:nvSpPr>
          <p:cNvPr id="21" name="Freeform 21"/>
          <p:cNvSpPr/>
          <p:nvPr/>
        </p:nvSpPr>
        <p:spPr>
          <a:xfrm>
            <a:off x="14023509" y="649617"/>
            <a:ext cx="1792620" cy="1452022"/>
          </a:xfrm>
          <a:custGeom>
            <a:avLst/>
            <a:gdLst/>
            <a:ahLst/>
            <a:cxnLst/>
            <a:rect l="l" t="t" r="r" b="b"/>
            <a:pathLst>
              <a:path w="1792620" h="1452022">
                <a:moveTo>
                  <a:pt x="0" y="0"/>
                </a:moveTo>
                <a:lnTo>
                  <a:pt x="1792620" y="0"/>
                </a:lnTo>
                <a:lnTo>
                  <a:pt x="1792620" y="1452022"/>
                </a:lnTo>
                <a:lnTo>
                  <a:pt x="0" y="145202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22" name="TextBox 2">
            <a:extLst>
              <a:ext uri="{FF2B5EF4-FFF2-40B4-BE49-F238E27FC236}">
                <a16:creationId xmlns:a16="http://schemas.microsoft.com/office/drawing/2014/main" id="{582FE8B0-74FC-459C-8F4A-B08DCD6D4227}"/>
              </a:ext>
            </a:extLst>
          </p:cNvPr>
          <p:cNvSpPr txBox="1"/>
          <p:nvPr/>
        </p:nvSpPr>
        <p:spPr>
          <a:xfrm>
            <a:off x="11521867" y="1833365"/>
            <a:ext cx="5420227" cy="11701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500"/>
              </a:lnSpc>
            </a:pPr>
            <a:r>
              <a:rPr lang="en-US" sz="5000" b="1" dirty="0" err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Tujuan</a:t>
            </a:r>
            <a:r>
              <a:rPr lang="en-US" sz="5000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</a:t>
            </a:r>
            <a:r>
              <a:rPr lang="en-US" sz="5000" b="1" dirty="0" err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Penelitian</a:t>
            </a:r>
            <a:endParaRPr lang="en-US" sz="5000" b="1" dirty="0">
              <a:solidFill>
                <a:srgbClr val="000000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grpSp>
        <p:nvGrpSpPr>
          <p:cNvPr id="23" name="Group 25">
            <a:extLst>
              <a:ext uri="{FF2B5EF4-FFF2-40B4-BE49-F238E27FC236}">
                <a16:creationId xmlns:a16="http://schemas.microsoft.com/office/drawing/2014/main" id="{342B1700-1D5A-4CBF-AAD1-8C4718D5E6AE}"/>
              </a:ext>
            </a:extLst>
          </p:cNvPr>
          <p:cNvGrpSpPr/>
          <p:nvPr/>
        </p:nvGrpSpPr>
        <p:grpSpPr>
          <a:xfrm>
            <a:off x="1345906" y="2265003"/>
            <a:ext cx="1000975" cy="1018922"/>
            <a:chOff x="0" y="0"/>
            <a:chExt cx="798484" cy="812800"/>
          </a:xfrm>
        </p:grpSpPr>
        <p:sp>
          <p:nvSpPr>
            <p:cNvPr id="24" name="Freeform 26">
              <a:extLst>
                <a:ext uri="{FF2B5EF4-FFF2-40B4-BE49-F238E27FC236}">
                  <a16:creationId xmlns:a16="http://schemas.microsoft.com/office/drawing/2014/main" id="{E31D72C7-6DEA-4978-8C34-45CF71410527}"/>
                </a:ext>
              </a:extLst>
            </p:cNvPr>
            <p:cNvSpPr/>
            <p:nvPr/>
          </p:nvSpPr>
          <p:spPr>
            <a:xfrm>
              <a:off x="0" y="0"/>
              <a:ext cx="798484" cy="812800"/>
            </a:xfrm>
            <a:custGeom>
              <a:avLst/>
              <a:gdLst/>
              <a:ahLst/>
              <a:cxnLst/>
              <a:rect l="l" t="t" r="r" b="b"/>
              <a:pathLst>
                <a:path w="798484" h="812800">
                  <a:moveTo>
                    <a:pt x="798484" y="0"/>
                  </a:moveTo>
                  <a:lnTo>
                    <a:pt x="798484" y="698500"/>
                  </a:lnTo>
                  <a:lnTo>
                    <a:pt x="399242" y="812800"/>
                  </a:lnTo>
                  <a:lnTo>
                    <a:pt x="0" y="698500"/>
                  </a:lnTo>
                  <a:lnTo>
                    <a:pt x="0" y="0"/>
                  </a:lnTo>
                  <a:lnTo>
                    <a:pt x="798484" y="0"/>
                  </a:lnTo>
                  <a:close/>
                </a:path>
              </a:pathLst>
            </a:custGeom>
            <a:solidFill>
              <a:srgbClr val="5DA295"/>
            </a:solidFill>
          </p:spPr>
        </p:sp>
        <p:sp>
          <p:nvSpPr>
            <p:cNvPr id="25" name="TextBox 27">
              <a:extLst>
                <a:ext uri="{FF2B5EF4-FFF2-40B4-BE49-F238E27FC236}">
                  <a16:creationId xmlns:a16="http://schemas.microsoft.com/office/drawing/2014/main" id="{C9E1D0A0-E8FA-477B-AE6B-FB3D43DB352F}"/>
                </a:ext>
              </a:extLst>
            </p:cNvPr>
            <p:cNvSpPr txBox="1"/>
            <p:nvPr/>
          </p:nvSpPr>
          <p:spPr>
            <a:xfrm>
              <a:off x="0" y="-38100"/>
              <a:ext cx="798484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Freeform 33">
            <a:extLst>
              <a:ext uri="{FF2B5EF4-FFF2-40B4-BE49-F238E27FC236}">
                <a16:creationId xmlns:a16="http://schemas.microsoft.com/office/drawing/2014/main" id="{17931E65-02C7-4B6B-90ED-ABFB2FEECEAC}"/>
              </a:ext>
            </a:extLst>
          </p:cNvPr>
          <p:cNvSpPr/>
          <p:nvPr/>
        </p:nvSpPr>
        <p:spPr>
          <a:xfrm>
            <a:off x="1569909" y="2495313"/>
            <a:ext cx="552968" cy="577101"/>
          </a:xfrm>
          <a:custGeom>
            <a:avLst/>
            <a:gdLst/>
            <a:ahLst/>
            <a:cxnLst/>
            <a:rect l="l" t="t" r="r" b="b"/>
            <a:pathLst>
              <a:path w="809600" h="844933">
                <a:moveTo>
                  <a:pt x="0" y="0"/>
                </a:moveTo>
                <a:lnTo>
                  <a:pt x="809600" y="0"/>
                </a:lnTo>
                <a:lnTo>
                  <a:pt x="809600" y="844933"/>
                </a:lnTo>
                <a:lnTo>
                  <a:pt x="0" y="84493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17">
            <a:extLst>
              <a:ext uri="{FF2B5EF4-FFF2-40B4-BE49-F238E27FC236}">
                <a16:creationId xmlns:a16="http://schemas.microsoft.com/office/drawing/2014/main" id="{E20B0D60-AF81-442B-8636-64A8D04FCDF3}"/>
              </a:ext>
            </a:extLst>
          </p:cNvPr>
          <p:cNvSpPr txBox="1"/>
          <p:nvPr/>
        </p:nvSpPr>
        <p:spPr>
          <a:xfrm>
            <a:off x="9722460" y="3754617"/>
            <a:ext cx="7351080" cy="3654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ID" sz="3600" dirty="0" err="1">
                <a:latin typeface="Glacial Indifference" panose="020B0604020202020204" charset="0"/>
              </a:rPr>
              <a:t>Tujuan</a:t>
            </a:r>
            <a:r>
              <a:rPr lang="en-ID" sz="3600" dirty="0">
                <a:latin typeface="Glacial Indifference" panose="020B0604020202020204" charset="0"/>
              </a:rPr>
              <a:t> </a:t>
            </a:r>
            <a:r>
              <a:rPr lang="en-ID" sz="3600" dirty="0" err="1">
                <a:latin typeface="Glacial Indifference" panose="020B0604020202020204" charset="0"/>
              </a:rPr>
              <a:t>dari</a:t>
            </a:r>
            <a:r>
              <a:rPr lang="en-ID" sz="3600" dirty="0">
                <a:latin typeface="Glacial Indifference" panose="020B0604020202020204" charset="0"/>
              </a:rPr>
              <a:t> </a:t>
            </a:r>
            <a:r>
              <a:rPr lang="en-ID" sz="3600" dirty="0" err="1">
                <a:latin typeface="Glacial Indifference" panose="020B0604020202020204" charset="0"/>
              </a:rPr>
              <a:t>penelitian</a:t>
            </a:r>
            <a:r>
              <a:rPr lang="en-ID" sz="3600" dirty="0">
                <a:latin typeface="Glacial Indifference" panose="020B0604020202020204" charset="0"/>
              </a:rPr>
              <a:t> </a:t>
            </a:r>
            <a:r>
              <a:rPr lang="en-ID" sz="3600" dirty="0" err="1">
                <a:latin typeface="Glacial Indifference" panose="020B0604020202020204" charset="0"/>
              </a:rPr>
              <a:t>ini</a:t>
            </a:r>
            <a:r>
              <a:rPr lang="en-ID" sz="3600" dirty="0">
                <a:latin typeface="Glacial Indifference" panose="020B0604020202020204" charset="0"/>
              </a:rPr>
              <a:t> </a:t>
            </a:r>
            <a:r>
              <a:rPr lang="en-ID" sz="3600" dirty="0" err="1">
                <a:latin typeface="Glacial Indifference" panose="020B0604020202020204" charset="0"/>
              </a:rPr>
              <a:t>adalah</a:t>
            </a:r>
            <a:r>
              <a:rPr lang="en-ID" sz="3600" dirty="0">
                <a:latin typeface="Glacial Indifference" panose="020B0604020202020204" charset="0"/>
              </a:rPr>
              <a:t> </a:t>
            </a:r>
            <a:r>
              <a:rPr lang="en-ID" sz="3600" dirty="0" err="1">
                <a:latin typeface="Glacial Indifference" panose="020B0604020202020204" charset="0"/>
              </a:rPr>
              <a:t>untuk</a:t>
            </a:r>
            <a:r>
              <a:rPr lang="en-ID" sz="3600" dirty="0">
                <a:latin typeface="Glacial Indifference" panose="020B0604020202020204" charset="0"/>
              </a:rPr>
              <a:t> </a:t>
            </a:r>
            <a:r>
              <a:rPr lang="en-ID" sz="3600" dirty="0" err="1">
                <a:latin typeface="Glacial Indifference" panose="020B0604020202020204" charset="0"/>
              </a:rPr>
              <a:t>mengembangkan</a:t>
            </a:r>
            <a:r>
              <a:rPr lang="en-ID" sz="3600" dirty="0">
                <a:latin typeface="Glacial Indifference" panose="020B0604020202020204" charset="0"/>
              </a:rPr>
              <a:t> </a:t>
            </a:r>
            <a:r>
              <a:rPr lang="en-ID" sz="3600" dirty="0" err="1">
                <a:latin typeface="Glacial Indifference" panose="020B0604020202020204" charset="0"/>
              </a:rPr>
              <a:t>sebuah</a:t>
            </a:r>
            <a:r>
              <a:rPr lang="en-ID" sz="3600" dirty="0">
                <a:latin typeface="Glacial Indifference" panose="020B0604020202020204" charset="0"/>
              </a:rPr>
              <a:t> </a:t>
            </a:r>
            <a:r>
              <a:rPr lang="en-ID" sz="3600" dirty="0" err="1">
                <a:latin typeface="Glacial Indifference" panose="020B0604020202020204" charset="0"/>
              </a:rPr>
              <a:t>sistem</a:t>
            </a:r>
            <a:r>
              <a:rPr lang="en-ID" sz="3600" dirty="0">
                <a:latin typeface="Glacial Indifference" panose="020B0604020202020204" charset="0"/>
              </a:rPr>
              <a:t> </a:t>
            </a:r>
            <a:r>
              <a:rPr lang="en-ID" sz="3600" dirty="0" err="1">
                <a:latin typeface="Glacial Indifference" panose="020B0604020202020204" charset="0"/>
              </a:rPr>
              <a:t>informasi</a:t>
            </a:r>
            <a:r>
              <a:rPr lang="en-ID" sz="3600" dirty="0">
                <a:latin typeface="Glacial Indifference" panose="020B0604020202020204" charset="0"/>
              </a:rPr>
              <a:t> </a:t>
            </a:r>
            <a:r>
              <a:rPr lang="en-ID" sz="3600" dirty="0" err="1">
                <a:latin typeface="Glacial Indifference" panose="020B0604020202020204" charset="0"/>
              </a:rPr>
              <a:t>pencatatan</a:t>
            </a:r>
            <a:r>
              <a:rPr lang="en-ID" sz="3600" dirty="0">
                <a:latin typeface="Glacial Indifference" panose="020B0604020202020204" charset="0"/>
              </a:rPr>
              <a:t> </a:t>
            </a:r>
            <a:r>
              <a:rPr lang="en-ID" sz="3600" dirty="0" err="1">
                <a:latin typeface="Glacial Indifference" panose="020B0604020202020204" charset="0"/>
              </a:rPr>
              <a:t>inventaris</a:t>
            </a:r>
            <a:r>
              <a:rPr lang="en-ID" sz="3600" dirty="0">
                <a:latin typeface="Glacial Indifference" panose="020B0604020202020204" charset="0"/>
              </a:rPr>
              <a:t> </a:t>
            </a:r>
            <a:r>
              <a:rPr lang="en-ID" sz="3600" dirty="0" err="1">
                <a:latin typeface="Glacial Indifference" panose="020B0604020202020204" charset="0"/>
              </a:rPr>
              <a:t>berbasi</a:t>
            </a:r>
            <a:r>
              <a:rPr lang="en-ID" sz="3600" dirty="0">
                <a:latin typeface="Glacial Indifference" panose="020B0604020202020204" charset="0"/>
              </a:rPr>
              <a:t> web yang </a:t>
            </a:r>
            <a:r>
              <a:rPr lang="en-ID" sz="3600" dirty="0" err="1">
                <a:latin typeface="Glacial Indifference" panose="020B0604020202020204" charset="0"/>
              </a:rPr>
              <a:t>menerapkan</a:t>
            </a:r>
            <a:r>
              <a:rPr lang="en-ID" sz="3600" dirty="0">
                <a:latin typeface="Glacial Indifference" panose="020B0604020202020204" charset="0"/>
              </a:rPr>
              <a:t> </a:t>
            </a:r>
            <a:r>
              <a:rPr lang="en-ID" sz="3600" dirty="0" err="1">
                <a:latin typeface="Glacial Indifference" panose="020B0604020202020204" charset="0"/>
              </a:rPr>
              <a:t>algortima</a:t>
            </a:r>
            <a:r>
              <a:rPr lang="en-ID" sz="3600" dirty="0">
                <a:latin typeface="Glacial Indifference" panose="020B0604020202020204" charset="0"/>
              </a:rPr>
              <a:t> </a:t>
            </a:r>
            <a:r>
              <a:rPr lang="en-ID" sz="3600" i="1" dirty="0">
                <a:latin typeface="Glacial Indifference" panose="020B0604020202020204" charset="0"/>
              </a:rPr>
              <a:t>Linear Search.</a:t>
            </a:r>
            <a:endParaRPr lang="en-US" sz="3399" i="1" dirty="0">
              <a:solidFill>
                <a:srgbClr val="000000"/>
              </a:solidFill>
              <a:latin typeface="Glacial Indifference" panose="020B0604020202020204" charset="0"/>
              <a:ea typeface="Glacial Indifference"/>
              <a:cs typeface="Glacial Indifference"/>
              <a:sym typeface="Glacial Indifference"/>
            </a:endParaRPr>
          </a:p>
        </p:txBody>
      </p:sp>
      <p:grpSp>
        <p:nvGrpSpPr>
          <p:cNvPr id="28" name="Group 28">
            <a:extLst>
              <a:ext uri="{FF2B5EF4-FFF2-40B4-BE49-F238E27FC236}">
                <a16:creationId xmlns:a16="http://schemas.microsoft.com/office/drawing/2014/main" id="{8D21C0DD-7369-465D-8E10-21E26FAD19D2}"/>
              </a:ext>
            </a:extLst>
          </p:cNvPr>
          <p:cNvGrpSpPr/>
          <p:nvPr/>
        </p:nvGrpSpPr>
        <p:grpSpPr>
          <a:xfrm>
            <a:off x="10122470" y="2170001"/>
            <a:ext cx="1000975" cy="1018922"/>
            <a:chOff x="0" y="0"/>
            <a:chExt cx="798484" cy="812800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3ED78DC8-3BD4-432C-A851-6AB874A44D2A}"/>
                </a:ext>
              </a:extLst>
            </p:cNvPr>
            <p:cNvSpPr/>
            <p:nvPr/>
          </p:nvSpPr>
          <p:spPr>
            <a:xfrm>
              <a:off x="0" y="0"/>
              <a:ext cx="798484" cy="812800"/>
            </a:xfrm>
            <a:custGeom>
              <a:avLst/>
              <a:gdLst/>
              <a:ahLst/>
              <a:cxnLst/>
              <a:rect l="l" t="t" r="r" b="b"/>
              <a:pathLst>
                <a:path w="798484" h="812800">
                  <a:moveTo>
                    <a:pt x="798484" y="0"/>
                  </a:moveTo>
                  <a:lnTo>
                    <a:pt x="798484" y="698500"/>
                  </a:lnTo>
                  <a:lnTo>
                    <a:pt x="399242" y="812800"/>
                  </a:lnTo>
                  <a:lnTo>
                    <a:pt x="0" y="698500"/>
                  </a:lnTo>
                  <a:lnTo>
                    <a:pt x="0" y="0"/>
                  </a:lnTo>
                  <a:lnTo>
                    <a:pt x="798484" y="0"/>
                  </a:lnTo>
                  <a:close/>
                </a:path>
              </a:pathLst>
            </a:custGeom>
            <a:solidFill>
              <a:srgbClr val="5DA295"/>
            </a:solidFill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F32BE4A2-0CBE-4DD8-A66B-931E2C55460E}"/>
                </a:ext>
              </a:extLst>
            </p:cNvPr>
            <p:cNvSpPr txBox="1"/>
            <p:nvPr/>
          </p:nvSpPr>
          <p:spPr>
            <a:xfrm>
              <a:off x="0" y="-38100"/>
              <a:ext cx="798484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1" name="Freeform 34">
            <a:extLst>
              <a:ext uri="{FF2B5EF4-FFF2-40B4-BE49-F238E27FC236}">
                <a16:creationId xmlns:a16="http://schemas.microsoft.com/office/drawing/2014/main" id="{3CDC45A1-A8B8-4BA2-836E-8C587E2B6861}"/>
              </a:ext>
            </a:extLst>
          </p:cNvPr>
          <p:cNvSpPr/>
          <p:nvPr/>
        </p:nvSpPr>
        <p:spPr>
          <a:xfrm>
            <a:off x="10390569" y="2401641"/>
            <a:ext cx="464774" cy="574440"/>
          </a:xfrm>
          <a:custGeom>
            <a:avLst/>
            <a:gdLst/>
            <a:ahLst/>
            <a:cxnLst/>
            <a:rect l="l" t="t" r="r" b="b"/>
            <a:pathLst>
              <a:path w="680475" h="841037">
                <a:moveTo>
                  <a:pt x="0" y="0"/>
                </a:moveTo>
                <a:lnTo>
                  <a:pt x="680476" y="0"/>
                </a:lnTo>
                <a:lnTo>
                  <a:pt x="680476" y="841037"/>
                </a:lnTo>
                <a:lnTo>
                  <a:pt x="0" y="84103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D946C81E-49EE-48F6-A142-326837EDA16C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505" y="503294"/>
            <a:ext cx="942895" cy="945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2894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421953"/>
            <a:ext cx="18288000" cy="4865047"/>
            <a:chOff x="0" y="0"/>
            <a:chExt cx="4816593" cy="128132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1281329"/>
            </a:xfrm>
            <a:custGeom>
              <a:avLst/>
              <a:gdLst/>
              <a:ahLst/>
              <a:cxnLst/>
              <a:rect l="l" t="t" r="r" b="b"/>
              <a:pathLst>
                <a:path w="4816592" h="1281329">
                  <a:moveTo>
                    <a:pt x="0" y="0"/>
                  </a:moveTo>
                  <a:lnTo>
                    <a:pt x="4816592" y="0"/>
                  </a:lnTo>
                  <a:lnTo>
                    <a:pt x="4816592" y="1281329"/>
                  </a:lnTo>
                  <a:lnTo>
                    <a:pt x="0" y="1281329"/>
                  </a:lnTo>
                  <a:close/>
                </a:path>
              </a:pathLst>
            </a:custGeom>
            <a:solidFill>
              <a:srgbClr val="5DA29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13194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18288000" cy="213565"/>
            <a:chOff x="0" y="0"/>
            <a:chExt cx="4816593" cy="562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16592" cy="56248"/>
            </a:xfrm>
            <a:custGeom>
              <a:avLst/>
              <a:gdLst/>
              <a:ahLst/>
              <a:cxnLst/>
              <a:rect l="l" t="t" r="r" b="b"/>
              <a:pathLst>
                <a:path w="4816592" h="56248">
                  <a:moveTo>
                    <a:pt x="0" y="0"/>
                  </a:moveTo>
                  <a:lnTo>
                    <a:pt x="4816592" y="0"/>
                  </a:lnTo>
                  <a:lnTo>
                    <a:pt x="4816592" y="56248"/>
                  </a:lnTo>
                  <a:lnTo>
                    <a:pt x="0" y="56248"/>
                  </a:lnTo>
                  <a:close/>
                </a:path>
              </a:pathLst>
            </a:custGeom>
            <a:solidFill>
              <a:srgbClr val="BFDDD2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816593" cy="943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389196" y="598254"/>
            <a:ext cx="851704" cy="777374"/>
          </a:xfrm>
          <a:custGeom>
            <a:avLst/>
            <a:gdLst/>
            <a:ahLst/>
            <a:cxnLst/>
            <a:rect l="l" t="t" r="r" b="b"/>
            <a:pathLst>
              <a:path w="851704" h="777374">
                <a:moveTo>
                  <a:pt x="0" y="0"/>
                </a:moveTo>
                <a:lnTo>
                  <a:pt x="851705" y="0"/>
                </a:lnTo>
                <a:lnTo>
                  <a:pt x="851705" y="777374"/>
                </a:lnTo>
                <a:lnTo>
                  <a:pt x="0" y="7773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632097" y="758341"/>
            <a:ext cx="365904" cy="337962"/>
          </a:xfrm>
          <a:custGeom>
            <a:avLst/>
            <a:gdLst/>
            <a:ahLst/>
            <a:cxnLst/>
            <a:rect l="l" t="t" r="r" b="b"/>
            <a:pathLst>
              <a:path w="365904" h="337962">
                <a:moveTo>
                  <a:pt x="0" y="0"/>
                </a:moveTo>
                <a:lnTo>
                  <a:pt x="365903" y="0"/>
                </a:lnTo>
                <a:lnTo>
                  <a:pt x="365903" y="337962"/>
                </a:lnTo>
                <a:lnTo>
                  <a:pt x="0" y="3379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6564000" y="8834437"/>
            <a:ext cx="955170" cy="762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299"/>
              </a:lnSpc>
            </a:pPr>
            <a:r>
              <a:rPr lang="en-US" sz="4499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05</a:t>
            </a:r>
          </a:p>
        </p:txBody>
      </p:sp>
      <p:sp>
        <p:nvSpPr>
          <p:cNvPr id="11" name="AutoShape 11"/>
          <p:cNvSpPr/>
          <p:nvPr/>
        </p:nvSpPr>
        <p:spPr>
          <a:xfrm>
            <a:off x="16564000" y="8877554"/>
            <a:ext cx="0" cy="761492"/>
          </a:xfrm>
          <a:prstGeom prst="line">
            <a:avLst/>
          </a:prstGeom>
          <a:ln w="95250" cap="flat">
            <a:solidFill>
              <a:srgbClr val="BFDDD2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2" name="Group 12"/>
          <p:cNvGrpSpPr/>
          <p:nvPr/>
        </p:nvGrpSpPr>
        <p:grpSpPr>
          <a:xfrm>
            <a:off x="9149061" y="2938659"/>
            <a:ext cx="5068699" cy="5514595"/>
            <a:chOff x="0" y="0"/>
            <a:chExt cx="1334966" cy="145240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334966" cy="1452404"/>
            </a:xfrm>
            <a:custGeom>
              <a:avLst/>
              <a:gdLst/>
              <a:ahLst/>
              <a:cxnLst/>
              <a:rect l="l" t="t" r="r" b="b"/>
              <a:pathLst>
                <a:path w="1334966" h="1452404">
                  <a:moveTo>
                    <a:pt x="0" y="0"/>
                  </a:moveTo>
                  <a:lnTo>
                    <a:pt x="1334966" y="0"/>
                  </a:lnTo>
                  <a:lnTo>
                    <a:pt x="1334966" y="1452404"/>
                  </a:lnTo>
                  <a:lnTo>
                    <a:pt x="0" y="1452404"/>
                  </a:lnTo>
                  <a:close/>
                </a:path>
              </a:pathLst>
            </a:custGeom>
            <a:solidFill>
              <a:srgbClr val="E4E4E4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334966" cy="14905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080362" y="2938659"/>
            <a:ext cx="5068699" cy="5514595"/>
            <a:chOff x="0" y="0"/>
            <a:chExt cx="1334966" cy="145240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334966" cy="1452404"/>
            </a:xfrm>
            <a:custGeom>
              <a:avLst/>
              <a:gdLst/>
              <a:ahLst/>
              <a:cxnLst/>
              <a:rect l="l" t="t" r="r" b="b"/>
              <a:pathLst>
                <a:path w="1334966" h="1452404">
                  <a:moveTo>
                    <a:pt x="0" y="0"/>
                  </a:moveTo>
                  <a:lnTo>
                    <a:pt x="1334966" y="0"/>
                  </a:lnTo>
                  <a:lnTo>
                    <a:pt x="1334966" y="1452404"/>
                  </a:lnTo>
                  <a:lnTo>
                    <a:pt x="0" y="1452404"/>
                  </a:lnTo>
                  <a:close/>
                </a:path>
              </a:pathLst>
            </a:custGeom>
            <a:solidFill>
              <a:srgbClr val="BFDDD2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334966" cy="14905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>
            <a:off x="632097" y="8513811"/>
            <a:ext cx="908854" cy="908854"/>
          </a:xfrm>
          <a:custGeom>
            <a:avLst/>
            <a:gdLst/>
            <a:ahLst/>
            <a:cxnLst/>
            <a:rect l="l" t="t" r="r" b="b"/>
            <a:pathLst>
              <a:path w="908854" h="908854">
                <a:moveTo>
                  <a:pt x="0" y="0"/>
                </a:moveTo>
                <a:lnTo>
                  <a:pt x="908854" y="0"/>
                </a:lnTo>
                <a:lnTo>
                  <a:pt x="908854" y="908855"/>
                </a:lnTo>
                <a:lnTo>
                  <a:pt x="0" y="9088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5689422" y="598254"/>
            <a:ext cx="3659497" cy="3659497"/>
          </a:xfrm>
          <a:custGeom>
            <a:avLst/>
            <a:gdLst/>
            <a:ahLst/>
            <a:cxnLst/>
            <a:rect l="l" t="t" r="r" b="b"/>
            <a:pathLst>
              <a:path w="3659497" h="3659497">
                <a:moveTo>
                  <a:pt x="0" y="0"/>
                </a:moveTo>
                <a:lnTo>
                  <a:pt x="3659496" y="0"/>
                </a:lnTo>
                <a:lnTo>
                  <a:pt x="3659496" y="3659497"/>
                </a:lnTo>
                <a:lnTo>
                  <a:pt x="0" y="36594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540951" y="9422666"/>
            <a:ext cx="2906260" cy="1659483"/>
          </a:xfrm>
          <a:custGeom>
            <a:avLst/>
            <a:gdLst/>
            <a:ahLst/>
            <a:cxnLst/>
            <a:rect l="l" t="t" r="r" b="b"/>
            <a:pathLst>
              <a:path w="2906260" h="1659483">
                <a:moveTo>
                  <a:pt x="0" y="0"/>
                </a:moveTo>
                <a:lnTo>
                  <a:pt x="2906260" y="0"/>
                </a:lnTo>
                <a:lnTo>
                  <a:pt x="2906260" y="1659482"/>
                </a:lnTo>
                <a:lnTo>
                  <a:pt x="0" y="165948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b="-84590"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9659750" y="4271601"/>
            <a:ext cx="4047323" cy="3420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ID" sz="3200" dirty="0" err="1">
                <a:latin typeface="Glacial Indifference" panose="020B0604020202020204" charset="0"/>
              </a:rPr>
              <a:t>Membantu</a:t>
            </a:r>
            <a:r>
              <a:rPr lang="en-ID" sz="3200" dirty="0">
                <a:latin typeface="Glacial Indifference" panose="020B0604020202020204" charset="0"/>
              </a:rPr>
              <a:t> </a:t>
            </a:r>
            <a:r>
              <a:rPr lang="en-ID" sz="3200" dirty="0" err="1">
                <a:latin typeface="Glacial Indifference" panose="020B0604020202020204" charset="0"/>
              </a:rPr>
              <a:t>pihak</a:t>
            </a:r>
            <a:r>
              <a:rPr lang="en-ID" sz="3200" dirty="0">
                <a:latin typeface="Glacial Indifference" panose="020B0604020202020204" charset="0"/>
              </a:rPr>
              <a:t> SPNF/SKB </a:t>
            </a:r>
            <a:r>
              <a:rPr lang="en-ID" sz="3200" dirty="0" err="1">
                <a:latin typeface="Glacial Indifference" panose="020B0604020202020204" charset="0"/>
              </a:rPr>
              <a:t>Tondano</a:t>
            </a:r>
            <a:r>
              <a:rPr lang="en-ID" sz="3200" dirty="0">
                <a:latin typeface="Glacial Indifference" panose="020B0604020202020204" charset="0"/>
              </a:rPr>
              <a:t> </a:t>
            </a:r>
            <a:r>
              <a:rPr lang="en-ID" sz="3200" dirty="0" err="1">
                <a:latin typeface="Glacial Indifference" panose="020B0604020202020204" charset="0"/>
              </a:rPr>
              <a:t>dalam</a:t>
            </a:r>
            <a:r>
              <a:rPr lang="en-ID" sz="3200" dirty="0">
                <a:latin typeface="Glacial Indifference" panose="020B0604020202020204" charset="0"/>
              </a:rPr>
              <a:t> </a:t>
            </a:r>
            <a:r>
              <a:rPr lang="en-ID" sz="3200" dirty="0" err="1">
                <a:latin typeface="Glacial Indifference" panose="020B0604020202020204" charset="0"/>
              </a:rPr>
              <a:t>mempercepat</a:t>
            </a:r>
            <a:r>
              <a:rPr lang="en-ID" sz="3200" dirty="0">
                <a:latin typeface="Glacial Indifference" panose="020B0604020202020204" charset="0"/>
              </a:rPr>
              <a:t> proses </a:t>
            </a:r>
            <a:r>
              <a:rPr lang="en-ID" sz="3200" dirty="0" err="1">
                <a:latin typeface="Glacial Indifference" panose="020B0604020202020204" charset="0"/>
              </a:rPr>
              <a:t>pencarian</a:t>
            </a:r>
            <a:r>
              <a:rPr lang="en-ID" sz="3200" dirty="0">
                <a:latin typeface="Glacial Indifference" panose="020B0604020202020204" charset="0"/>
              </a:rPr>
              <a:t> data dan </a:t>
            </a:r>
            <a:r>
              <a:rPr lang="en-ID" sz="3200" dirty="0" err="1">
                <a:latin typeface="Glacial Indifference" panose="020B0604020202020204" charset="0"/>
              </a:rPr>
              <a:t>pengelolaan</a:t>
            </a:r>
            <a:r>
              <a:rPr lang="en-ID" sz="3200" dirty="0">
                <a:latin typeface="Glacial Indifference" panose="020B0604020202020204" charset="0"/>
              </a:rPr>
              <a:t> data </a:t>
            </a:r>
            <a:r>
              <a:rPr lang="en-ID" sz="3200" dirty="0" err="1">
                <a:latin typeface="Glacial Indifference" panose="020B0604020202020204" charset="0"/>
              </a:rPr>
              <a:t>aset</a:t>
            </a:r>
            <a:r>
              <a:rPr lang="en-ID" sz="3200" dirty="0">
                <a:latin typeface="Glacial Indifference" panose="020B0604020202020204" charset="0"/>
              </a:rPr>
              <a:t>.</a:t>
            </a:r>
            <a:endParaRPr lang="en-US" sz="3200" dirty="0">
              <a:solidFill>
                <a:srgbClr val="000000"/>
              </a:solidFill>
              <a:latin typeface="Glacial Indifference" panose="020B0604020202020204" charset="0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4718528" y="1490623"/>
            <a:ext cx="8850944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 dirty="0" err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Manfaat</a:t>
            </a:r>
            <a:r>
              <a:rPr lang="en-US" sz="6999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</a:t>
            </a:r>
            <a:r>
              <a:rPr lang="en-US" sz="6999" b="1" dirty="0" err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Penelitian</a:t>
            </a:r>
            <a:endParaRPr lang="en-US" sz="6999" b="1" dirty="0">
              <a:solidFill>
                <a:srgbClr val="000000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4650838" y="4232974"/>
            <a:ext cx="4047323" cy="3420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ID" sz="3200" dirty="0" err="1">
                <a:latin typeface="Glacial Indifference" panose="020B0604020202020204" charset="0"/>
              </a:rPr>
              <a:t>Menambah</a:t>
            </a:r>
            <a:r>
              <a:rPr lang="en-ID" sz="3200" dirty="0">
                <a:latin typeface="Glacial Indifference" panose="020B0604020202020204" charset="0"/>
              </a:rPr>
              <a:t> </a:t>
            </a:r>
            <a:r>
              <a:rPr lang="en-ID" sz="3200" dirty="0" err="1">
                <a:latin typeface="Glacial Indifference" panose="020B0604020202020204" charset="0"/>
              </a:rPr>
              <a:t>referensi</a:t>
            </a:r>
            <a:r>
              <a:rPr lang="en-ID" sz="3200" dirty="0">
                <a:latin typeface="Glacial Indifference" panose="020B0604020202020204" charset="0"/>
              </a:rPr>
              <a:t> dan </a:t>
            </a:r>
            <a:r>
              <a:rPr lang="en-ID" sz="3200" dirty="0" err="1">
                <a:latin typeface="Glacial Indifference" panose="020B0604020202020204" charset="0"/>
              </a:rPr>
              <a:t>wawasan</a:t>
            </a:r>
            <a:r>
              <a:rPr lang="en-ID" sz="3200" dirty="0">
                <a:latin typeface="Glacial Indifference" panose="020B0604020202020204" charset="0"/>
              </a:rPr>
              <a:t> </a:t>
            </a:r>
            <a:r>
              <a:rPr lang="en-ID" sz="3200" dirty="0" err="1">
                <a:latin typeface="Glacial Indifference" panose="020B0604020202020204" charset="0"/>
              </a:rPr>
              <a:t>tentang</a:t>
            </a:r>
            <a:r>
              <a:rPr lang="en-ID" sz="3200" dirty="0">
                <a:latin typeface="Glacial Indifference" panose="020B0604020202020204" charset="0"/>
              </a:rPr>
              <a:t> </a:t>
            </a:r>
            <a:r>
              <a:rPr lang="en-ID" sz="3200" dirty="0" err="1">
                <a:latin typeface="Glacial Indifference" panose="020B0604020202020204" charset="0"/>
              </a:rPr>
              <a:t>penerapan</a:t>
            </a:r>
            <a:r>
              <a:rPr lang="en-ID" sz="3200" dirty="0">
                <a:latin typeface="Glacial Indifference" panose="020B0604020202020204" charset="0"/>
              </a:rPr>
              <a:t> </a:t>
            </a:r>
            <a:r>
              <a:rPr lang="en-ID" sz="3200" dirty="0" err="1">
                <a:latin typeface="Glacial Indifference" panose="020B0604020202020204" charset="0"/>
              </a:rPr>
              <a:t>algoritma</a:t>
            </a:r>
            <a:r>
              <a:rPr lang="en-ID" sz="3200" dirty="0">
                <a:latin typeface="Glacial Indifference" panose="020B0604020202020204" charset="0"/>
              </a:rPr>
              <a:t> Linear Search </a:t>
            </a:r>
            <a:r>
              <a:rPr lang="en-ID" sz="3200" dirty="0" err="1">
                <a:latin typeface="Glacial Indifference" panose="020B0604020202020204" charset="0"/>
              </a:rPr>
              <a:t>dalam</a:t>
            </a:r>
            <a:r>
              <a:rPr lang="en-ID" sz="3200" dirty="0">
                <a:latin typeface="Glacial Indifference" panose="020B0604020202020204" charset="0"/>
              </a:rPr>
              <a:t> </a:t>
            </a:r>
            <a:r>
              <a:rPr lang="en-ID" sz="3200" dirty="0" err="1">
                <a:latin typeface="Glacial Indifference" panose="020B0604020202020204" charset="0"/>
              </a:rPr>
              <a:t>bidang</a:t>
            </a:r>
            <a:r>
              <a:rPr lang="en-ID" sz="3200" dirty="0">
                <a:latin typeface="Glacial Indifference" panose="020B0604020202020204" charset="0"/>
              </a:rPr>
              <a:t> </a:t>
            </a:r>
            <a:r>
              <a:rPr lang="en-ID" sz="3200" dirty="0" err="1">
                <a:latin typeface="Glacial Indifference" panose="020B0604020202020204" charset="0"/>
              </a:rPr>
              <a:t>pengelolaan</a:t>
            </a:r>
            <a:r>
              <a:rPr lang="en-ID" sz="3200" dirty="0">
                <a:latin typeface="Glacial Indifference" panose="020B0604020202020204" charset="0"/>
              </a:rPr>
              <a:t> data.</a:t>
            </a:r>
            <a:endParaRPr lang="en-US" sz="3200" dirty="0">
              <a:solidFill>
                <a:srgbClr val="000000"/>
              </a:solidFill>
              <a:latin typeface="Glacial Indifference" panose="020B0604020202020204" charset="0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3955437" y="3249712"/>
            <a:ext cx="5504525" cy="7021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879"/>
              </a:lnSpc>
            </a:pPr>
            <a:r>
              <a:rPr lang="en-US" sz="3500" b="1" dirty="0" err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Manfaat</a:t>
            </a:r>
            <a:r>
              <a:rPr lang="en-US" sz="3500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</a:t>
            </a:r>
            <a:r>
              <a:rPr lang="en-US" sz="3500" b="1" dirty="0" err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Teoritis</a:t>
            </a:r>
            <a:endParaRPr lang="en-US" sz="3500" b="1" dirty="0">
              <a:solidFill>
                <a:srgbClr val="000000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9556558" y="3249712"/>
            <a:ext cx="4350304" cy="7021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879"/>
              </a:lnSpc>
            </a:pPr>
            <a:r>
              <a:rPr lang="en-US" sz="4199" b="1" dirty="0" err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Manfaat</a:t>
            </a:r>
            <a:r>
              <a:rPr lang="en-US" sz="4199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</a:t>
            </a:r>
            <a:r>
              <a:rPr lang="en-US" sz="4199" b="1" dirty="0" err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Praktis</a:t>
            </a:r>
            <a:endParaRPr lang="en-US" sz="4199" b="1" dirty="0">
              <a:solidFill>
                <a:srgbClr val="000000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445845" y="567841"/>
            <a:ext cx="3563228" cy="8527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 spc="14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UNIVERSITAS</a:t>
            </a:r>
          </a:p>
          <a:p>
            <a:pPr algn="l">
              <a:lnSpc>
                <a:spcPts val="3360"/>
              </a:lnSpc>
            </a:pPr>
            <a:r>
              <a:rPr lang="en-US" sz="2800" spc="14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NEGERI MANADO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429915" y="8963025"/>
            <a:ext cx="4752692" cy="500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200"/>
              </a:lnSpc>
            </a:pPr>
            <a:r>
              <a:rPr lang="en-US" sz="3000" b="1" spc="300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TEKNIK INFORMATIKA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81CC2E87-E026-4890-BC46-A8DCDF87030A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505" y="503294"/>
            <a:ext cx="942895" cy="9458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DA29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roup 20">
            <a:extLst>
              <a:ext uri="{FF2B5EF4-FFF2-40B4-BE49-F238E27FC236}">
                <a16:creationId xmlns:a16="http://schemas.microsoft.com/office/drawing/2014/main" id="{4CA10944-7D08-4C8E-B198-A4AA905FEE4E}"/>
              </a:ext>
            </a:extLst>
          </p:cNvPr>
          <p:cNvGrpSpPr/>
          <p:nvPr/>
        </p:nvGrpSpPr>
        <p:grpSpPr>
          <a:xfrm>
            <a:off x="13012555" y="5727049"/>
            <a:ext cx="3370040" cy="1204061"/>
            <a:chOff x="0" y="0"/>
            <a:chExt cx="812800" cy="406400"/>
          </a:xfrm>
        </p:grpSpPr>
        <p:sp>
          <p:nvSpPr>
            <p:cNvPr id="107" name="Freeform 21">
              <a:extLst>
                <a:ext uri="{FF2B5EF4-FFF2-40B4-BE49-F238E27FC236}">
                  <a16:creationId xmlns:a16="http://schemas.microsoft.com/office/drawing/2014/main" id="{4EF4F64E-6BF8-4263-AA3A-15F3B1D8D351}"/>
                </a:ext>
              </a:extLst>
            </p:cNvPr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108" name="TextBox 22">
              <a:extLst>
                <a:ext uri="{FF2B5EF4-FFF2-40B4-BE49-F238E27FC236}">
                  <a16:creationId xmlns:a16="http://schemas.microsoft.com/office/drawing/2014/main" id="{21E1D555-7387-4E15-A6BA-8C1B0F824F92}"/>
                </a:ext>
              </a:extLst>
            </p:cNvPr>
            <p:cNvSpPr txBox="1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lIns="55976" tIns="55976" rIns="55976" bIns="55976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34" name="Group 20">
            <a:extLst>
              <a:ext uri="{FF2B5EF4-FFF2-40B4-BE49-F238E27FC236}">
                <a16:creationId xmlns:a16="http://schemas.microsoft.com/office/drawing/2014/main" id="{B91F6ED0-036E-4668-8262-2368B524F856}"/>
              </a:ext>
            </a:extLst>
          </p:cNvPr>
          <p:cNvGrpSpPr/>
          <p:nvPr/>
        </p:nvGrpSpPr>
        <p:grpSpPr>
          <a:xfrm>
            <a:off x="13820690" y="3033754"/>
            <a:ext cx="2913826" cy="1204061"/>
            <a:chOff x="0" y="0"/>
            <a:chExt cx="812800" cy="406400"/>
          </a:xfrm>
        </p:grpSpPr>
        <p:sp>
          <p:nvSpPr>
            <p:cNvPr id="35" name="Freeform 21">
              <a:extLst>
                <a:ext uri="{FF2B5EF4-FFF2-40B4-BE49-F238E27FC236}">
                  <a16:creationId xmlns:a16="http://schemas.microsoft.com/office/drawing/2014/main" id="{FC081F61-2955-47DD-AD15-81EF42B3B2E9}"/>
                </a:ext>
              </a:extLst>
            </p:cNvPr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36" name="TextBox 22">
              <a:extLst>
                <a:ext uri="{FF2B5EF4-FFF2-40B4-BE49-F238E27FC236}">
                  <a16:creationId xmlns:a16="http://schemas.microsoft.com/office/drawing/2014/main" id="{2A604BA6-C875-4661-97EC-2BFF865682D7}"/>
                </a:ext>
              </a:extLst>
            </p:cNvPr>
            <p:cNvSpPr txBox="1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lIns="55976" tIns="55976" rIns="55976" bIns="55976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37" name="Group 20">
            <a:extLst>
              <a:ext uri="{FF2B5EF4-FFF2-40B4-BE49-F238E27FC236}">
                <a16:creationId xmlns:a16="http://schemas.microsoft.com/office/drawing/2014/main" id="{01C379CD-9A09-43D4-A861-016209EACBD3}"/>
              </a:ext>
            </a:extLst>
          </p:cNvPr>
          <p:cNvGrpSpPr/>
          <p:nvPr/>
        </p:nvGrpSpPr>
        <p:grpSpPr>
          <a:xfrm>
            <a:off x="11660453" y="3033754"/>
            <a:ext cx="2913826" cy="1204061"/>
            <a:chOff x="0" y="0"/>
            <a:chExt cx="812800" cy="406400"/>
          </a:xfrm>
        </p:grpSpPr>
        <p:sp>
          <p:nvSpPr>
            <p:cNvPr id="38" name="Freeform 21">
              <a:extLst>
                <a:ext uri="{FF2B5EF4-FFF2-40B4-BE49-F238E27FC236}">
                  <a16:creationId xmlns:a16="http://schemas.microsoft.com/office/drawing/2014/main" id="{A568D682-544E-4B4D-AF8F-E158E6ED2EE9}"/>
                </a:ext>
              </a:extLst>
            </p:cNvPr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39" name="TextBox 22">
              <a:extLst>
                <a:ext uri="{FF2B5EF4-FFF2-40B4-BE49-F238E27FC236}">
                  <a16:creationId xmlns:a16="http://schemas.microsoft.com/office/drawing/2014/main" id="{8D901E5D-D67B-46EA-BD8E-DE1BBB389B16}"/>
                </a:ext>
              </a:extLst>
            </p:cNvPr>
            <p:cNvSpPr txBox="1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lIns="55976" tIns="55976" rIns="55976" bIns="55976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31" name="Group 20">
            <a:extLst>
              <a:ext uri="{FF2B5EF4-FFF2-40B4-BE49-F238E27FC236}">
                <a16:creationId xmlns:a16="http://schemas.microsoft.com/office/drawing/2014/main" id="{181E2243-45F8-47CF-885E-A9C84B4E8524}"/>
              </a:ext>
            </a:extLst>
          </p:cNvPr>
          <p:cNvGrpSpPr/>
          <p:nvPr/>
        </p:nvGrpSpPr>
        <p:grpSpPr>
          <a:xfrm>
            <a:off x="9493946" y="3033754"/>
            <a:ext cx="2913826" cy="1204061"/>
            <a:chOff x="0" y="0"/>
            <a:chExt cx="812800" cy="406400"/>
          </a:xfrm>
        </p:grpSpPr>
        <p:sp>
          <p:nvSpPr>
            <p:cNvPr id="32" name="Freeform 21">
              <a:extLst>
                <a:ext uri="{FF2B5EF4-FFF2-40B4-BE49-F238E27FC236}">
                  <a16:creationId xmlns:a16="http://schemas.microsoft.com/office/drawing/2014/main" id="{D6535B19-4F64-4228-A25B-E02B5184C67D}"/>
                </a:ext>
              </a:extLst>
            </p:cNvPr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33" name="TextBox 22">
              <a:extLst>
                <a:ext uri="{FF2B5EF4-FFF2-40B4-BE49-F238E27FC236}">
                  <a16:creationId xmlns:a16="http://schemas.microsoft.com/office/drawing/2014/main" id="{6483BD02-D97D-4573-B605-11FA4F6F805C}"/>
                </a:ext>
              </a:extLst>
            </p:cNvPr>
            <p:cNvSpPr txBox="1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lIns="55976" tIns="55976" rIns="55976" bIns="55976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2" name="Group 2"/>
          <p:cNvGrpSpPr/>
          <p:nvPr/>
        </p:nvGrpSpPr>
        <p:grpSpPr>
          <a:xfrm>
            <a:off x="0" y="10073435"/>
            <a:ext cx="18288000" cy="213565"/>
            <a:chOff x="0" y="0"/>
            <a:chExt cx="4816593" cy="562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56248"/>
            </a:xfrm>
            <a:custGeom>
              <a:avLst/>
              <a:gdLst/>
              <a:ahLst/>
              <a:cxnLst/>
              <a:rect l="l" t="t" r="r" b="b"/>
              <a:pathLst>
                <a:path w="4816592" h="56248">
                  <a:moveTo>
                    <a:pt x="0" y="0"/>
                  </a:moveTo>
                  <a:lnTo>
                    <a:pt x="4816592" y="0"/>
                  </a:lnTo>
                  <a:lnTo>
                    <a:pt x="4816592" y="56248"/>
                  </a:lnTo>
                  <a:lnTo>
                    <a:pt x="0" y="56248"/>
                  </a:lnTo>
                  <a:close/>
                </a:path>
              </a:pathLst>
            </a:custGeom>
            <a:solidFill>
              <a:srgbClr val="E4E4E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943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18288000" cy="213565"/>
            <a:chOff x="0" y="0"/>
            <a:chExt cx="4816593" cy="562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16592" cy="56248"/>
            </a:xfrm>
            <a:custGeom>
              <a:avLst/>
              <a:gdLst/>
              <a:ahLst/>
              <a:cxnLst/>
              <a:rect l="l" t="t" r="r" b="b"/>
              <a:pathLst>
                <a:path w="4816592" h="56248">
                  <a:moveTo>
                    <a:pt x="0" y="0"/>
                  </a:moveTo>
                  <a:lnTo>
                    <a:pt x="4816592" y="0"/>
                  </a:lnTo>
                  <a:lnTo>
                    <a:pt x="4816592" y="56248"/>
                  </a:lnTo>
                  <a:lnTo>
                    <a:pt x="0" y="56248"/>
                  </a:lnTo>
                  <a:close/>
                </a:path>
              </a:pathLst>
            </a:custGeom>
            <a:solidFill>
              <a:srgbClr val="BFDDD2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816593" cy="943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389196" y="598254"/>
            <a:ext cx="851704" cy="777374"/>
          </a:xfrm>
          <a:custGeom>
            <a:avLst/>
            <a:gdLst/>
            <a:ahLst/>
            <a:cxnLst/>
            <a:rect l="l" t="t" r="r" b="b"/>
            <a:pathLst>
              <a:path w="851704" h="777374">
                <a:moveTo>
                  <a:pt x="0" y="0"/>
                </a:moveTo>
                <a:lnTo>
                  <a:pt x="851705" y="0"/>
                </a:lnTo>
                <a:lnTo>
                  <a:pt x="851705" y="777374"/>
                </a:lnTo>
                <a:lnTo>
                  <a:pt x="0" y="7773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632097" y="758341"/>
            <a:ext cx="365904" cy="337962"/>
          </a:xfrm>
          <a:custGeom>
            <a:avLst/>
            <a:gdLst/>
            <a:ahLst/>
            <a:cxnLst/>
            <a:rect l="l" t="t" r="r" b="b"/>
            <a:pathLst>
              <a:path w="365904" h="337962">
                <a:moveTo>
                  <a:pt x="0" y="0"/>
                </a:moveTo>
                <a:lnTo>
                  <a:pt x="365903" y="0"/>
                </a:lnTo>
                <a:lnTo>
                  <a:pt x="365903" y="337962"/>
                </a:lnTo>
                <a:lnTo>
                  <a:pt x="0" y="3379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6564000" y="8834437"/>
            <a:ext cx="955170" cy="762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299"/>
              </a:lnSpc>
            </a:pPr>
            <a:r>
              <a:rPr lang="en-US" sz="4499" b="1" dirty="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06</a:t>
            </a:r>
          </a:p>
        </p:txBody>
      </p:sp>
      <p:sp>
        <p:nvSpPr>
          <p:cNvPr id="11" name="AutoShape 11"/>
          <p:cNvSpPr/>
          <p:nvPr/>
        </p:nvSpPr>
        <p:spPr>
          <a:xfrm>
            <a:off x="16564000" y="8877554"/>
            <a:ext cx="0" cy="761492"/>
          </a:xfrm>
          <a:prstGeom prst="line">
            <a:avLst/>
          </a:prstGeom>
          <a:ln w="95250" cap="flat">
            <a:solidFill>
              <a:srgbClr val="BFDDD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Freeform 12"/>
          <p:cNvSpPr/>
          <p:nvPr/>
        </p:nvSpPr>
        <p:spPr>
          <a:xfrm>
            <a:off x="16315549" y="677272"/>
            <a:ext cx="1452071" cy="1457537"/>
          </a:xfrm>
          <a:custGeom>
            <a:avLst/>
            <a:gdLst/>
            <a:ahLst/>
            <a:cxnLst/>
            <a:rect l="l" t="t" r="r" b="b"/>
            <a:pathLst>
              <a:path w="1452071" h="1457537">
                <a:moveTo>
                  <a:pt x="0" y="0"/>
                </a:moveTo>
                <a:lnTo>
                  <a:pt x="1452072" y="0"/>
                </a:lnTo>
                <a:lnTo>
                  <a:pt x="1452072" y="1457537"/>
                </a:lnTo>
                <a:lnTo>
                  <a:pt x="0" y="14575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5380842" y="274281"/>
            <a:ext cx="713130" cy="713130"/>
          </a:xfrm>
          <a:custGeom>
            <a:avLst/>
            <a:gdLst/>
            <a:ahLst/>
            <a:cxnLst/>
            <a:rect l="l" t="t" r="r" b="b"/>
            <a:pathLst>
              <a:path w="713130" h="713130">
                <a:moveTo>
                  <a:pt x="0" y="0"/>
                </a:moveTo>
                <a:lnTo>
                  <a:pt x="713131" y="0"/>
                </a:lnTo>
                <a:lnTo>
                  <a:pt x="713131" y="713130"/>
                </a:lnTo>
                <a:lnTo>
                  <a:pt x="0" y="7131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 dirty="0"/>
          </a:p>
        </p:txBody>
      </p:sp>
      <p:sp>
        <p:nvSpPr>
          <p:cNvPr id="14" name="Freeform 14"/>
          <p:cNvSpPr/>
          <p:nvPr/>
        </p:nvSpPr>
        <p:spPr>
          <a:xfrm>
            <a:off x="-546230" y="8703151"/>
            <a:ext cx="3984149" cy="3984149"/>
          </a:xfrm>
          <a:custGeom>
            <a:avLst/>
            <a:gdLst/>
            <a:ahLst/>
            <a:cxnLst/>
            <a:rect l="l" t="t" r="r" b="b"/>
            <a:pathLst>
              <a:path w="3984149" h="3984149">
                <a:moveTo>
                  <a:pt x="0" y="0"/>
                </a:moveTo>
                <a:lnTo>
                  <a:pt x="3984149" y="0"/>
                </a:lnTo>
                <a:lnTo>
                  <a:pt x="3984149" y="3984148"/>
                </a:lnTo>
                <a:lnTo>
                  <a:pt x="0" y="39841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2986928" y="8724900"/>
            <a:ext cx="1909190" cy="1546444"/>
          </a:xfrm>
          <a:custGeom>
            <a:avLst/>
            <a:gdLst/>
            <a:ahLst/>
            <a:cxnLst/>
            <a:rect l="l" t="t" r="r" b="b"/>
            <a:pathLst>
              <a:path w="1909190" h="1546444">
                <a:moveTo>
                  <a:pt x="0" y="0"/>
                </a:moveTo>
                <a:lnTo>
                  <a:pt x="1909190" y="0"/>
                </a:lnTo>
                <a:lnTo>
                  <a:pt x="1909190" y="1546444"/>
                </a:lnTo>
                <a:lnTo>
                  <a:pt x="0" y="154644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4543730" y="1315954"/>
            <a:ext cx="8796615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 dirty="0" err="1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Landasan</a:t>
            </a:r>
            <a:r>
              <a:rPr lang="en-US" sz="6999" b="1" dirty="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</a:t>
            </a:r>
            <a:r>
              <a:rPr lang="en-US" sz="6999" b="1" dirty="0" err="1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Teori</a:t>
            </a:r>
            <a:endParaRPr lang="en-US" sz="6999" b="1" dirty="0">
              <a:solidFill>
                <a:srgbClr val="FFFFFF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445845" y="567841"/>
            <a:ext cx="3450273" cy="8527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 spc="140" dirty="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UNIVERSITAS</a:t>
            </a:r>
          </a:p>
          <a:p>
            <a:pPr algn="l">
              <a:lnSpc>
                <a:spcPts val="3360"/>
              </a:lnSpc>
            </a:pPr>
            <a:r>
              <a:rPr lang="en-US" sz="2800" spc="140" dirty="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NEGERI MANADO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429915" y="8963025"/>
            <a:ext cx="4752692" cy="500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200"/>
              </a:lnSpc>
            </a:pPr>
            <a:r>
              <a:rPr lang="en-US" sz="3000" b="1" spc="300" dirty="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TEKNIK INFORMATIKA</a:t>
            </a:r>
          </a:p>
        </p:txBody>
      </p:sp>
      <p:grpSp>
        <p:nvGrpSpPr>
          <p:cNvPr id="26" name="Group 20">
            <a:extLst>
              <a:ext uri="{FF2B5EF4-FFF2-40B4-BE49-F238E27FC236}">
                <a16:creationId xmlns:a16="http://schemas.microsoft.com/office/drawing/2014/main" id="{D856A10F-CC37-40CD-A126-867FB31CAE04}"/>
              </a:ext>
            </a:extLst>
          </p:cNvPr>
          <p:cNvGrpSpPr/>
          <p:nvPr/>
        </p:nvGrpSpPr>
        <p:grpSpPr>
          <a:xfrm>
            <a:off x="7333709" y="3033754"/>
            <a:ext cx="2913826" cy="1204061"/>
            <a:chOff x="0" y="0"/>
            <a:chExt cx="812800" cy="406400"/>
          </a:xfrm>
        </p:grpSpPr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DDDA26E7-6E00-4165-B774-78DF746F1A85}"/>
                </a:ext>
              </a:extLst>
            </p:cNvPr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28" name="TextBox 22">
              <a:extLst>
                <a:ext uri="{FF2B5EF4-FFF2-40B4-BE49-F238E27FC236}">
                  <a16:creationId xmlns:a16="http://schemas.microsoft.com/office/drawing/2014/main" id="{727E8E32-6B04-4DFC-85EC-498DD0566100}"/>
                </a:ext>
              </a:extLst>
            </p:cNvPr>
            <p:cNvSpPr txBox="1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lIns="55976" tIns="55976" rIns="55976" bIns="55976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29" name="TextBox 17">
            <a:extLst>
              <a:ext uri="{FF2B5EF4-FFF2-40B4-BE49-F238E27FC236}">
                <a16:creationId xmlns:a16="http://schemas.microsoft.com/office/drawing/2014/main" id="{43198E72-E417-4EA6-83D4-A0BE2701A124}"/>
              </a:ext>
            </a:extLst>
          </p:cNvPr>
          <p:cNvSpPr txBox="1"/>
          <p:nvPr/>
        </p:nvSpPr>
        <p:spPr>
          <a:xfrm>
            <a:off x="1240899" y="2842091"/>
            <a:ext cx="5865085" cy="49661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899"/>
              </a:lnSpc>
            </a:pPr>
            <a:r>
              <a:rPr lang="en-US" sz="3000" b="1" dirty="0" err="1">
                <a:solidFill>
                  <a:schemeClr val="bg1">
                    <a:alpha val="86000"/>
                  </a:schemeClr>
                </a:solidFill>
                <a:latin typeface="Glacial Indifference" panose="020B0604020202020204" charset="0"/>
                <a:cs typeface="Latha" panose="020B0502040204020203" pitchFamily="34" charset="0"/>
              </a:rPr>
              <a:t>Implementasi</a:t>
            </a:r>
            <a:r>
              <a:rPr lang="en-US" sz="3000" b="1" dirty="0">
                <a:solidFill>
                  <a:schemeClr val="bg1">
                    <a:alpha val="86000"/>
                  </a:schemeClr>
                </a:solidFill>
                <a:latin typeface="Glacial Indifference" panose="020B0604020202020204" charset="0"/>
                <a:cs typeface="Latha" panose="020B0502040204020203" pitchFamily="34" charset="0"/>
              </a:rPr>
              <a:t> </a:t>
            </a:r>
            <a:r>
              <a:rPr lang="en-US" sz="3000" b="1" dirty="0" err="1">
                <a:solidFill>
                  <a:schemeClr val="bg1">
                    <a:alpha val="86000"/>
                  </a:schemeClr>
                </a:solidFill>
                <a:latin typeface="Glacial Indifference" panose="020B0604020202020204" charset="0"/>
                <a:cs typeface="Latha" panose="020B0502040204020203" pitchFamily="34" charset="0"/>
              </a:rPr>
              <a:t>Algortima</a:t>
            </a:r>
            <a:r>
              <a:rPr lang="en-US" sz="3000" b="1" dirty="0">
                <a:solidFill>
                  <a:schemeClr val="bg1">
                    <a:alpha val="86000"/>
                  </a:schemeClr>
                </a:solidFill>
                <a:latin typeface="Glacial Indifference" panose="020B0604020202020204" charset="0"/>
                <a:cs typeface="Latha" panose="020B0502040204020203" pitchFamily="34" charset="0"/>
              </a:rPr>
              <a:t>  </a:t>
            </a:r>
            <a:r>
              <a:rPr lang="en-US" sz="3000" b="1" dirty="0" err="1">
                <a:solidFill>
                  <a:schemeClr val="bg1">
                    <a:alpha val="86000"/>
                  </a:schemeClr>
                </a:solidFill>
                <a:latin typeface="Glacial Indifference" panose="020B0604020202020204" charset="0"/>
                <a:cs typeface="Latha" panose="020B0502040204020203" pitchFamily="34" charset="0"/>
              </a:rPr>
              <a:t>dalam</a:t>
            </a:r>
            <a:r>
              <a:rPr lang="en-US" sz="3000" b="1" dirty="0">
                <a:solidFill>
                  <a:schemeClr val="bg1">
                    <a:alpha val="86000"/>
                  </a:schemeClr>
                </a:solidFill>
                <a:latin typeface="Glacial Indifference" panose="020B0604020202020204" charset="0"/>
                <a:cs typeface="Latha" panose="020B0502040204020203" pitchFamily="34" charset="0"/>
              </a:rPr>
              <a:t> </a:t>
            </a:r>
            <a:r>
              <a:rPr lang="en-US" sz="3000" b="1" dirty="0" err="1">
                <a:solidFill>
                  <a:schemeClr val="bg1">
                    <a:alpha val="86000"/>
                  </a:schemeClr>
                </a:solidFill>
                <a:latin typeface="Glacial Indifference" panose="020B0604020202020204" charset="0"/>
                <a:cs typeface="Latha" panose="020B0502040204020203" pitchFamily="34" charset="0"/>
              </a:rPr>
              <a:t>aplikasi</a:t>
            </a:r>
            <a:r>
              <a:rPr lang="en-US" sz="3000" b="1" dirty="0">
                <a:solidFill>
                  <a:schemeClr val="bg1">
                    <a:alpha val="86000"/>
                  </a:schemeClr>
                </a:solidFill>
                <a:latin typeface="Glacial Indifference" panose="020B0604020202020204" charset="0"/>
                <a:cs typeface="Latha" panose="020B0502040204020203" pitchFamily="34" charset="0"/>
              </a:rPr>
              <a:t> </a:t>
            </a:r>
            <a:r>
              <a:rPr lang="en-US" sz="3000" b="1" dirty="0" err="1">
                <a:solidFill>
                  <a:schemeClr val="bg1">
                    <a:alpha val="86000"/>
                  </a:schemeClr>
                </a:solidFill>
                <a:latin typeface="Glacial Indifference" panose="020B0604020202020204" charset="0"/>
                <a:cs typeface="Latha" panose="020B0502040204020203" pitchFamily="34" charset="0"/>
              </a:rPr>
              <a:t>ini</a:t>
            </a:r>
            <a:r>
              <a:rPr lang="en-US" sz="3000" b="1" dirty="0">
                <a:solidFill>
                  <a:schemeClr val="bg1">
                    <a:alpha val="86000"/>
                  </a:schemeClr>
                </a:solidFill>
                <a:latin typeface="Glacial Indifference" panose="020B0604020202020204" charset="0"/>
                <a:cs typeface="Latha" panose="020B0502040204020203" pitchFamily="34" charset="0"/>
              </a:rPr>
              <a:t> </a:t>
            </a:r>
            <a:r>
              <a:rPr lang="en-US" sz="3000" b="1" dirty="0" err="1">
                <a:solidFill>
                  <a:schemeClr val="bg1">
                    <a:alpha val="86000"/>
                  </a:schemeClr>
                </a:solidFill>
                <a:latin typeface="Glacial Indifference" panose="020B0604020202020204" charset="0"/>
                <a:cs typeface="Latha" panose="020B0502040204020203" pitchFamily="34" charset="0"/>
              </a:rPr>
              <a:t>mencakup</a:t>
            </a:r>
            <a:r>
              <a:rPr lang="en-US" sz="3000" b="1" dirty="0">
                <a:solidFill>
                  <a:schemeClr val="bg1">
                    <a:alpha val="86000"/>
                  </a:schemeClr>
                </a:solidFill>
                <a:latin typeface="Glacial Indifference" panose="020B0604020202020204" charset="0"/>
                <a:cs typeface="Latha" panose="020B0502040204020203" pitchFamily="34" charset="0"/>
              </a:rPr>
              <a:t>, </a:t>
            </a:r>
            <a:r>
              <a:rPr lang="en-US" sz="3000" b="1" dirty="0" err="1">
                <a:solidFill>
                  <a:schemeClr val="bg1">
                    <a:alpha val="86000"/>
                  </a:schemeClr>
                </a:solidFill>
                <a:latin typeface="Glacial Indifference" panose="020B0604020202020204" charset="0"/>
                <a:cs typeface="Latha" panose="020B0502040204020203" pitchFamily="34" charset="0"/>
              </a:rPr>
              <a:t>teknologi</a:t>
            </a:r>
            <a:r>
              <a:rPr lang="en-US" sz="3000" b="1" dirty="0">
                <a:solidFill>
                  <a:schemeClr val="bg1">
                    <a:alpha val="86000"/>
                  </a:schemeClr>
                </a:solidFill>
                <a:latin typeface="Glacial Indifference" panose="020B0604020202020204" charset="0"/>
                <a:cs typeface="Latha" panose="020B0502040204020203" pitchFamily="34" charset="0"/>
              </a:rPr>
              <a:t> </a:t>
            </a:r>
            <a:r>
              <a:rPr lang="en-US" sz="3000" b="1" dirty="0" err="1">
                <a:solidFill>
                  <a:schemeClr val="bg1">
                    <a:alpha val="86000"/>
                  </a:schemeClr>
                </a:solidFill>
                <a:latin typeface="Glacial Indifference" panose="020B0604020202020204" charset="0"/>
                <a:cs typeface="Latha" panose="020B0502040204020203" pitchFamily="34" charset="0"/>
              </a:rPr>
              <a:t>pengembangan</a:t>
            </a:r>
            <a:r>
              <a:rPr lang="en-US" sz="3000" b="1" dirty="0">
                <a:solidFill>
                  <a:schemeClr val="bg1">
                    <a:alpha val="86000"/>
                  </a:schemeClr>
                </a:solidFill>
                <a:latin typeface="Glacial Indifference" panose="020B0604020202020204" charset="0"/>
                <a:cs typeface="Latha" panose="020B0502040204020203" pitchFamily="34" charset="0"/>
              </a:rPr>
              <a:t> web, dan </a:t>
            </a:r>
            <a:r>
              <a:rPr lang="en-US" sz="3000" b="1" dirty="0" err="1">
                <a:solidFill>
                  <a:schemeClr val="bg1">
                    <a:alpha val="86000"/>
                  </a:schemeClr>
                </a:solidFill>
                <a:latin typeface="Glacial Indifference" panose="020B0604020202020204" charset="0"/>
                <a:cs typeface="Latha" panose="020B0502040204020203" pitchFamily="34" charset="0"/>
              </a:rPr>
              <a:t>metodologi</a:t>
            </a:r>
            <a:r>
              <a:rPr lang="en-US" sz="3000" b="1" dirty="0">
                <a:solidFill>
                  <a:schemeClr val="bg1">
                    <a:alpha val="86000"/>
                  </a:schemeClr>
                </a:solidFill>
                <a:latin typeface="Glacial Indifference" panose="020B0604020202020204" charset="0"/>
                <a:cs typeface="Latha" panose="020B0502040204020203" pitchFamily="34" charset="0"/>
              </a:rPr>
              <a:t> </a:t>
            </a:r>
            <a:r>
              <a:rPr lang="en-US" sz="3000" b="1" dirty="0" err="1">
                <a:solidFill>
                  <a:schemeClr val="bg1">
                    <a:alpha val="86000"/>
                  </a:schemeClr>
                </a:solidFill>
                <a:latin typeface="Glacial Indifference" panose="020B0604020202020204" charset="0"/>
                <a:cs typeface="Latha" panose="020B0502040204020203" pitchFamily="34" charset="0"/>
              </a:rPr>
              <a:t>pengembangan</a:t>
            </a:r>
            <a:r>
              <a:rPr lang="en-US" sz="3000" b="1" dirty="0">
                <a:solidFill>
                  <a:schemeClr val="bg1">
                    <a:alpha val="86000"/>
                  </a:schemeClr>
                </a:solidFill>
                <a:latin typeface="Glacial Indifference" panose="020B0604020202020204" charset="0"/>
                <a:cs typeface="Latha" panose="020B0502040204020203" pitchFamily="34" charset="0"/>
              </a:rPr>
              <a:t> yang </a:t>
            </a:r>
            <a:r>
              <a:rPr lang="en-US" sz="3000" b="1" dirty="0" err="1">
                <a:solidFill>
                  <a:schemeClr val="bg1">
                    <a:alpha val="86000"/>
                  </a:schemeClr>
                </a:solidFill>
                <a:latin typeface="Glacial Indifference" panose="020B0604020202020204" charset="0"/>
                <a:cs typeface="Latha" panose="020B0502040204020203" pitchFamily="34" charset="0"/>
              </a:rPr>
              <a:t>digunakan</a:t>
            </a:r>
            <a:r>
              <a:rPr lang="en-US" sz="3000" b="1" dirty="0">
                <a:solidFill>
                  <a:schemeClr val="bg1">
                    <a:alpha val="86000"/>
                  </a:schemeClr>
                </a:solidFill>
                <a:latin typeface="Glacial Indifference" panose="020B0604020202020204" charset="0"/>
                <a:cs typeface="Latha" panose="020B0502040204020203" pitchFamily="34" charset="0"/>
              </a:rPr>
              <a:t>. </a:t>
            </a:r>
            <a:r>
              <a:rPr lang="en-US" sz="3000" b="1" dirty="0" err="1">
                <a:solidFill>
                  <a:schemeClr val="bg1">
                    <a:alpha val="86000"/>
                  </a:schemeClr>
                </a:solidFill>
                <a:latin typeface="Glacial Indifference" panose="020B0604020202020204" charset="0"/>
                <a:cs typeface="Latha" panose="020B0502040204020203" pitchFamily="34" charset="0"/>
              </a:rPr>
              <a:t>Teori-teori</a:t>
            </a:r>
            <a:r>
              <a:rPr lang="en-US" sz="3000" b="1" dirty="0">
                <a:solidFill>
                  <a:schemeClr val="bg1">
                    <a:alpha val="86000"/>
                  </a:schemeClr>
                </a:solidFill>
                <a:latin typeface="Glacial Indifference" panose="020B0604020202020204" charset="0"/>
                <a:cs typeface="Latha" panose="020B0502040204020203" pitchFamily="34" charset="0"/>
              </a:rPr>
              <a:t> </a:t>
            </a:r>
            <a:r>
              <a:rPr lang="en-US" sz="3000" b="1" dirty="0" err="1">
                <a:solidFill>
                  <a:schemeClr val="bg1">
                    <a:alpha val="86000"/>
                  </a:schemeClr>
                </a:solidFill>
                <a:latin typeface="Glacial Indifference" panose="020B0604020202020204" charset="0"/>
                <a:cs typeface="Latha" panose="020B0502040204020203" pitchFamily="34" charset="0"/>
              </a:rPr>
              <a:t>ini</a:t>
            </a:r>
            <a:r>
              <a:rPr lang="en-US" sz="3000" b="1" dirty="0">
                <a:solidFill>
                  <a:schemeClr val="bg1">
                    <a:alpha val="86000"/>
                  </a:schemeClr>
                </a:solidFill>
                <a:latin typeface="Glacial Indifference" panose="020B0604020202020204" charset="0"/>
                <a:cs typeface="Latha" panose="020B0502040204020203" pitchFamily="34" charset="0"/>
              </a:rPr>
              <a:t> </a:t>
            </a:r>
            <a:r>
              <a:rPr lang="en-US" sz="3000" b="1" dirty="0" err="1">
                <a:solidFill>
                  <a:schemeClr val="bg1">
                    <a:alpha val="86000"/>
                  </a:schemeClr>
                </a:solidFill>
                <a:latin typeface="Glacial Indifference" panose="020B0604020202020204" charset="0"/>
                <a:cs typeface="Latha" panose="020B0502040204020203" pitchFamily="34" charset="0"/>
              </a:rPr>
              <a:t>menjadi</a:t>
            </a:r>
            <a:r>
              <a:rPr lang="en-US" sz="3000" b="1" dirty="0">
                <a:solidFill>
                  <a:schemeClr val="bg1">
                    <a:alpha val="86000"/>
                  </a:schemeClr>
                </a:solidFill>
                <a:latin typeface="Glacial Indifference" panose="020B0604020202020204" charset="0"/>
                <a:cs typeface="Latha" panose="020B0502040204020203" pitchFamily="34" charset="0"/>
              </a:rPr>
              <a:t> </a:t>
            </a:r>
            <a:r>
              <a:rPr lang="en-US" sz="3000" b="1" dirty="0" err="1">
                <a:solidFill>
                  <a:schemeClr val="bg1">
                    <a:alpha val="86000"/>
                  </a:schemeClr>
                </a:solidFill>
                <a:latin typeface="Glacial Indifference" panose="020B0604020202020204" charset="0"/>
                <a:cs typeface="Latha" panose="020B0502040204020203" pitchFamily="34" charset="0"/>
              </a:rPr>
              <a:t>dasar</a:t>
            </a:r>
            <a:r>
              <a:rPr lang="en-US" sz="3000" b="1" dirty="0">
                <a:solidFill>
                  <a:schemeClr val="bg1">
                    <a:alpha val="86000"/>
                  </a:schemeClr>
                </a:solidFill>
                <a:latin typeface="Glacial Indifference" panose="020B0604020202020204" charset="0"/>
                <a:cs typeface="Latha" panose="020B0502040204020203" pitchFamily="34" charset="0"/>
              </a:rPr>
              <a:t> </a:t>
            </a:r>
            <a:r>
              <a:rPr lang="en-US" sz="3000" b="1" dirty="0" err="1">
                <a:solidFill>
                  <a:schemeClr val="bg1">
                    <a:alpha val="86000"/>
                  </a:schemeClr>
                </a:solidFill>
                <a:latin typeface="Glacial Indifference" panose="020B0604020202020204" charset="0"/>
                <a:cs typeface="Latha" panose="020B0502040204020203" pitchFamily="34" charset="0"/>
              </a:rPr>
              <a:t>dalam</a:t>
            </a:r>
            <a:r>
              <a:rPr lang="en-US" sz="3000" b="1" dirty="0">
                <a:solidFill>
                  <a:schemeClr val="bg1">
                    <a:alpha val="86000"/>
                  </a:schemeClr>
                </a:solidFill>
                <a:latin typeface="Glacial Indifference" panose="020B0604020202020204" charset="0"/>
                <a:cs typeface="Latha" panose="020B0502040204020203" pitchFamily="34" charset="0"/>
              </a:rPr>
              <a:t> </a:t>
            </a:r>
            <a:r>
              <a:rPr lang="en-US" sz="3000" b="1" dirty="0" err="1">
                <a:solidFill>
                  <a:schemeClr val="bg1">
                    <a:alpha val="86000"/>
                  </a:schemeClr>
                </a:solidFill>
                <a:latin typeface="Glacial Indifference" panose="020B0604020202020204" charset="0"/>
                <a:cs typeface="Latha" panose="020B0502040204020203" pitchFamily="34" charset="0"/>
              </a:rPr>
              <a:t>merancang</a:t>
            </a:r>
            <a:r>
              <a:rPr lang="en-US" sz="3000" b="1" dirty="0">
                <a:solidFill>
                  <a:schemeClr val="bg1">
                    <a:alpha val="86000"/>
                  </a:schemeClr>
                </a:solidFill>
                <a:latin typeface="Glacial Indifference" panose="020B0604020202020204" charset="0"/>
                <a:cs typeface="Latha" panose="020B0502040204020203" pitchFamily="34" charset="0"/>
              </a:rPr>
              <a:t> dan </a:t>
            </a:r>
            <a:r>
              <a:rPr lang="en-US" sz="3000" b="1" dirty="0" err="1">
                <a:solidFill>
                  <a:schemeClr val="bg1">
                    <a:alpha val="86000"/>
                  </a:schemeClr>
                </a:solidFill>
                <a:latin typeface="Glacial Indifference" panose="020B0604020202020204" charset="0"/>
                <a:cs typeface="Latha" panose="020B0502040204020203" pitchFamily="34" charset="0"/>
              </a:rPr>
              <a:t>mengimplementasikan</a:t>
            </a:r>
            <a:r>
              <a:rPr lang="en-US" sz="3000" b="1" dirty="0">
                <a:solidFill>
                  <a:schemeClr val="bg1">
                    <a:alpha val="86000"/>
                  </a:schemeClr>
                </a:solidFill>
                <a:latin typeface="Glacial Indifference" panose="020B0604020202020204" charset="0"/>
                <a:cs typeface="Latha" panose="020B0502040204020203" pitchFamily="34" charset="0"/>
              </a:rPr>
              <a:t> </a:t>
            </a:r>
            <a:r>
              <a:rPr lang="en-US" sz="3000" b="1" dirty="0" err="1">
                <a:solidFill>
                  <a:schemeClr val="bg1">
                    <a:alpha val="86000"/>
                  </a:schemeClr>
                </a:solidFill>
                <a:latin typeface="Glacial Indifference" panose="020B0604020202020204" charset="0"/>
                <a:cs typeface="Latha" panose="020B0502040204020203" pitchFamily="34" charset="0"/>
              </a:rPr>
              <a:t>sistem</a:t>
            </a:r>
            <a:r>
              <a:rPr lang="en-US" sz="3000" b="1" dirty="0">
                <a:solidFill>
                  <a:schemeClr val="bg1">
                    <a:alpha val="86000"/>
                  </a:schemeClr>
                </a:solidFill>
                <a:latin typeface="Glacial Indifference" panose="020B0604020202020204" charset="0"/>
                <a:cs typeface="Latha" panose="020B0502040204020203" pitchFamily="34" charset="0"/>
              </a:rPr>
              <a:t> yang </a:t>
            </a:r>
            <a:r>
              <a:rPr lang="en-US" sz="3000" b="1" dirty="0" err="1">
                <a:solidFill>
                  <a:schemeClr val="bg1">
                    <a:alpha val="86000"/>
                  </a:schemeClr>
                </a:solidFill>
                <a:latin typeface="Glacial Indifference" panose="020B0604020202020204" charset="0"/>
                <a:cs typeface="Latha" panose="020B0502040204020203" pitchFamily="34" charset="0"/>
              </a:rPr>
              <a:t>efektif</a:t>
            </a:r>
            <a:r>
              <a:rPr lang="en-US" sz="3000" b="1" dirty="0">
                <a:solidFill>
                  <a:schemeClr val="bg1">
                    <a:alpha val="86000"/>
                  </a:schemeClr>
                </a:solidFill>
                <a:latin typeface="Glacial Indifference" panose="020B0604020202020204" charset="0"/>
                <a:cs typeface="Latha" panose="020B0502040204020203" pitchFamily="34" charset="0"/>
              </a:rPr>
              <a:t> dan </a:t>
            </a:r>
            <a:r>
              <a:rPr lang="en-US" sz="3000" b="1" dirty="0" err="1">
                <a:solidFill>
                  <a:schemeClr val="bg1">
                    <a:alpha val="86000"/>
                  </a:schemeClr>
                </a:solidFill>
                <a:latin typeface="Glacial Indifference" panose="020B0604020202020204" charset="0"/>
                <a:cs typeface="Latha" panose="020B0502040204020203" pitchFamily="34" charset="0"/>
              </a:rPr>
              <a:t>efisien</a:t>
            </a:r>
            <a:r>
              <a:rPr lang="en-US" sz="3000" b="1" dirty="0">
                <a:solidFill>
                  <a:schemeClr val="bg1">
                    <a:alpha val="86000"/>
                  </a:schemeClr>
                </a:solidFill>
                <a:latin typeface="Glacial Indifference" panose="020B0604020202020204" charset="0"/>
                <a:cs typeface="Latha" panose="020B0502040204020203" pitchFamily="34" charset="0"/>
              </a:rPr>
              <a:t>. </a:t>
            </a:r>
            <a:endParaRPr kumimoji="0" lang="en-US" sz="30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alpha val="86000"/>
                </a:schemeClr>
              </a:solidFill>
              <a:effectLst/>
              <a:uLnTx/>
              <a:uFillTx/>
              <a:latin typeface="Glacial Indifference" panose="020B0604020202020204" charset="0"/>
              <a:cs typeface="Latha" panose="020B0502040204020203" pitchFamily="34" charset="0"/>
            </a:endParaRPr>
          </a:p>
        </p:txBody>
      </p:sp>
      <p:sp>
        <p:nvSpPr>
          <p:cNvPr id="30" name="TextBox 38">
            <a:extLst>
              <a:ext uri="{FF2B5EF4-FFF2-40B4-BE49-F238E27FC236}">
                <a16:creationId xmlns:a16="http://schemas.microsoft.com/office/drawing/2014/main" id="{8247D005-F544-4694-AB1D-F26973B16989}"/>
              </a:ext>
            </a:extLst>
          </p:cNvPr>
          <p:cNvSpPr txBox="1"/>
          <p:nvPr/>
        </p:nvSpPr>
        <p:spPr>
          <a:xfrm>
            <a:off x="8324309" y="3009900"/>
            <a:ext cx="8137035" cy="10387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25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Linear Search : </a:t>
            </a:r>
            <a:r>
              <a:rPr lang="en-US" sz="25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Metode</a:t>
            </a:r>
            <a:r>
              <a:rPr lang="en-US" sz="25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Pencarian</a:t>
            </a:r>
            <a:r>
              <a:rPr lang="en-US" sz="25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elemen</a:t>
            </a:r>
            <a:r>
              <a:rPr lang="en-US" sz="25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dalam</a:t>
            </a:r>
            <a:r>
              <a:rPr lang="en-US" sz="25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suatu</a:t>
            </a:r>
            <a:r>
              <a:rPr lang="en-US" sz="25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kumpulan</a:t>
            </a:r>
            <a:r>
              <a:rPr lang="en-US" sz="25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data </a:t>
            </a:r>
            <a:r>
              <a:rPr lang="en-US" sz="25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dengan</a:t>
            </a:r>
            <a:r>
              <a:rPr lang="en-US" sz="25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memeriksa</a:t>
            </a:r>
            <a:r>
              <a:rPr lang="en-US" sz="25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satu</a:t>
            </a:r>
            <a:r>
              <a:rPr lang="en-US" sz="25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persatu</a:t>
            </a:r>
            <a:r>
              <a:rPr lang="en-US" sz="25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elemen</a:t>
            </a:r>
            <a:endParaRPr lang="en-US" sz="2500" dirty="0">
              <a:solidFill>
                <a:srgbClr val="00000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grpSp>
        <p:nvGrpSpPr>
          <p:cNvPr id="53" name="Group 20">
            <a:extLst>
              <a:ext uri="{FF2B5EF4-FFF2-40B4-BE49-F238E27FC236}">
                <a16:creationId xmlns:a16="http://schemas.microsoft.com/office/drawing/2014/main" id="{F3DBCA19-F885-46C0-AE03-85933697CA1E}"/>
              </a:ext>
            </a:extLst>
          </p:cNvPr>
          <p:cNvGrpSpPr/>
          <p:nvPr/>
        </p:nvGrpSpPr>
        <p:grpSpPr>
          <a:xfrm>
            <a:off x="14456512" y="4376149"/>
            <a:ext cx="2913826" cy="1204061"/>
            <a:chOff x="0" y="0"/>
            <a:chExt cx="812800" cy="406400"/>
          </a:xfrm>
        </p:grpSpPr>
        <p:sp>
          <p:nvSpPr>
            <p:cNvPr id="54" name="Freeform 21">
              <a:extLst>
                <a:ext uri="{FF2B5EF4-FFF2-40B4-BE49-F238E27FC236}">
                  <a16:creationId xmlns:a16="http://schemas.microsoft.com/office/drawing/2014/main" id="{3A83C9EA-E42D-4FB6-9AE9-55BA1ACF743A}"/>
                </a:ext>
              </a:extLst>
            </p:cNvPr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55" name="TextBox 22">
              <a:extLst>
                <a:ext uri="{FF2B5EF4-FFF2-40B4-BE49-F238E27FC236}">
                  <a16:creationId xmlns:a16="http://schemas.microsoft.com/office/drawing/2014/main" id="{99A8BEA7-5FD2-4946-9EEC-3D1BBEB6C6A7}"/>
                </a:ext>
              </a:extLst>
            </p:cNvPr>
            <p:cNvSpPr txBox="1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lIns="55976" tIns="55976" rIns="55976" bIns="55976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56" name="Group 20">
            <a:extLst>
              <a:ext uri="{FF2B5EF4-FFF2-40B4-BE49-F238E27FC236}">
                <a16:creationId xmlns:a16="http://schemas.microsoft.com/office/drawing/2014/main" id="{34642ABE-5E37-4EC1-9C7F-C16FD1758401}"/>
              </a:ext>
            </a:extLst>
          </p:cNvPr>
          <p:cNvGrpSpPr/>
          <p:nvPr/>
        </p:nvGrpSpPr>
        <p:grpSpPr>
          <a:xfrm>
            <a:off x="12296275" y="4376149"/>
            <a:ext cx="2913826" cy="1204061"/>
            <a:chOff x="0" y="0"/>
            <a:chExt cx="812800" cy="406400"/>
          </a:xfrm>
        </p:grpSpPr>
        <p:sp>
          <p:nvSpPr>
            <p:cNvPr id="57" name="Freeform 21">
              <a:extLst>
                <a:ext uri="{FF2B5EF4-FFF2-40B4-BE49-F238E27FC236}">
                  <a16:creationId xmlns:a16="http://schemas.microsoft.com/office/drawing/2014/main" id="{4015ABCB-906A-42CB-811F-657E6221F2E4}"/>
                </a:ext>
              </a:extLst>
            </p:cNvPr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58" name="TextBox 22">
              <a:extLst>
                <a:ext uri="{FF2B5EF4-FFF2-40B4-BE49-F238E27FC236}">
                  <a16:creationId xmlns:a16="http://schemas.microsoft.com/office/drawing/2014/main" id="{5056526C-94ED-4975-BAEE-AE462568564F}"/>
                </a:ext>
              </a:extLst>
            </p:cNvPr>
            <p:cNvSpPr txBox="1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lIns="55976" tIns="55976" rIns="55976" bIns="55976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59" name="Group 20">
            <a:extLst>
              <a:ext uri="{FF2B5EF4-FFF2-40B4-BE49-F238E27FC236}">
                <a16:creationId xmlns:a16="http://schemas.microsoft.com/office/drawing/2014/main" id="{D3C6BBD3-BF9C-4324-BD24-C3DFB52B782B}"/>
              </a:ext>
            </a:extLst>
          </p:cNvPr>
          <p:cNvGrpSpPr/>
          <p:nvPr/>
        </p:nvGrpSpPr>
        <p:grpSpPr>
          <a:xfrm>
            <a:off x="10129768" y="4376149"/>
            <a:ext cx="2913826" cy="1204061"/>
            <a:chOff x="0" y="0"/>
            <a:chExt cx="812800" cy="406400"/>
          </a:xfrm>
        </p:grpSpPr>
        <p:sp>
          <p:nvSpPr>
            <p:cNvPr id="60" name="Freeform 21">
              <a:extLst>
                <a:ext uri="{FF2B5EF4-FFF2-40B4-BE49-F238E27FC236}">
                  <a16:creationId xmlns:a16="http://schemas.microsoft.com/office/drawing/2014/main" id="{6B5DB39C-E32C-4DD9-AA5B-BB22F4553FF1}"/>
                </a:ext>
              </a:extLst>
            </p:cNvPr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61" name="TextBox 22">
              <a:extLst>
                <a:ext uri="{FF2B5EF4-FFF2-40B4-BE49-F238E27FC236}">
                  <a16:creationId xmlns:a16="http://schemas.microsoft.com/office/drawing/2014/main" id="{32828B8E-21AE-4CC1-B056-8FAB894C7456}"/>
                </a:ext>
              </a:extLst>
            </p:cNvPr>
            <p:cNvSpPr txBox="1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lIns="55976" tIns="55976" rIns="55976" bIns="55976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62" name="Group 20">
            <a:extLst>
              <a:ext uri="{FF2B5EF4-FFF2-40B4-BE49-F238E27FC236}">
                <a16:creationId xmlns:a16="http://schemas.microsoft.com/office/drawing/2014/main" id="{F204AD58-FFBB-40D9-8CAD-6E711A546476}"/>
              </a:ext>
            </a:extLst>
          </p:cNvPr>
          <p:cNvGrpSpPr/>
          <p:nvPr/>
        </p:nvGrpSpPr>
        <p:grpSpPr>
          <a:xfrm>
            <a:off x="7969531" y="4376149"/>
            <a:ext cx="2913826" cy="1204061"/>
            <a:chOff x="0" y="0"/>
            <a:chExt cx="812800" cy="406400"/>
          </a:xfrm>
        </p:grpSpPr>
        <p:sp>
          <p:nvSpPr>
            <p:cNvPr id="63" name="Freeform 21">
              <a:extLst>
                <a:ext uri="{FF2B5EF4-FFF2-40B4-BE49-F238E27FC236}">
                  <a16:creationId xmlns:a16="http://schemas.microsoft.com/office/drawing/2014/main" id="{499CDDA3-E034-4A79-A47F-307A0CD09061}"/>
                </a:ext>
              </a:extLst>
            </p:cNvPr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64" name="TextBox 22">
              <a:extLst>
                <a:ext uri="{FF2B5EF4-FFF2-40B4-BE49-F238E27FC236}">
                  <a16:creationId xmlns:a16="http://schemas.microsoft.com/office/drawing/2014/main" id="{17165EBC-3DBB-4146-87AE-E6CEF916F059}"/>
                </a:ext>
              </a:extLst>
            </p:cNvPr>
            <p:cNvSpPr txBox="1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lIns="55976" tIns="55976" rIns="55976" bIns="55976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65" name="TextBox 38">
            <a:extLst>
              <a:ext uri="{FF2B5EF4-FFF2-40B4-BE49-F238E27FC236}">
                <a16:creationId xmlns:a16="http://schemas.microsoft.com/office/drawing/2014/main" id="{701E0D68-62B9-405D-B43C-3A89DC201B27}"/>
              </a:ext>
            </a:extLst>
          </p:cNvPr>
          <p:cNvSpPr txBox="1"/>
          <p:nvPr/>
        </p:nvSpPr>
        <p:spPr>
          <a:xfrm>
            <a:off x="8855498" y="4385631"/>
            <a:ext cx="7909202" cy="10227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25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Aplikasi</a:t>
            </a:r>
            <a:r>
              <a:rPr lang="en-US" sz="25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: Program computer / </a:t>
            </a:r>
            <a:r>
              <a:rPr lang="en-US" sz="25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sofeware</a:t>
            </a:r>
            <a:r>
              <a:rPr lang="en-US" sz="25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yang di </a:t>
            </a:r>
            <a:r>
              <a:rPr lang="en-US" sz="25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rancang</a:t>
            </a:r>
            <a:r>
              <a:rPr lang="en-US" sz="25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untuk</a:t>
            </a:r>
            <a:r>
              <a:rPr lang="en-US" sz="25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menjalankan</a:t>
            </a:r>
            <a:r>
              <a:rPr lang="en-US" sz="25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fungsi</a:t>
            </a:r>
            <a:r>
              <a:rPr lang="en-US" sz="25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atau</a:t>
            </a:r>
            <a:r>
              <a:rPr lang="en-US" sz="25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perintah</a:t>
            </a:r>
            <a:r>
              <a:rPr lang="en-US" sz="25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tertentu</a:t>
            </a:r>
            <a:endParaRPr lang="en-US" sz="2500" dirty="0">
              <a:solidFill>
                <a:srgbClr val="00000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grpSp>
        <p:nvGrpSpPr>
          <p:cNvPr id="66" name="Group 20">
            <a:extLst>
              <a:ext uri="{FF2B5EF4-FFF2-40B4-BE49-F238E27FC236}">
                <a16:creationId xmlns:a16="http://schemas.microsoft.com/office/drawing/2014/main" id="{3146C9F4-5163-40AD-BF00-DA5DA4CCF93A}"/>
              </a:ext>
            </a:extLst>
          </p:cNvPr>
          <p:cNvGrpSpPr/>
          <p:nvPr/>
        </p:nvGrpSpPr>
        <p:grpSpPr>
          <a:xfrm>
            <a:off x="13838281" y="5727049"/>
            <a:ext cx="3370040" cy="1204061"/>
            <a:chOff x="0" y="0"/>
            <a:chExt cx="812800" cy="406400"/>
          </a:xfrm>
        </p:grpSpPr>
        <p:sp>
          <p:nvSpPr>
            <p:cNvPr id="67" name="Freeform 21">
              <a:extLst>
                <a:ext uri="{FF2B5EF4-FFF2-40B4-BE49-F238E27FC236}">
                  <a16:creationId xmlns:a16="http://schemas.microsoft.com/office/drawing/2014/main" id="{4774E46D-BD72-458C-B711-5A3661CB09BA}"/>
                </a:ext>
              </a:extLst>
            </p:cNvPr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68" name="TextBox 22">
              <a:extLst>
                <a:ext uri="{FF2B5EF4-FFF2-40B4-BE49-F238E27FC236}">
                  <a16:creationId xmlns:a16="http://schemas.microsoft.com/office/drawing/2014/main" id="{D1150E25-C885-455C-96E7-E27AD5711E97}"/>
                </a:ext>
              </a:extLst>
            </p:cNvPr>
            <p:cNvSpPr txBox="1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lIns="55976" tIns="55976" rIns="55976" bIns="55976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69" name="Group 20">
            <a:extLst>
              <a:ext uri="{FF2B5EF4-FFF2-40B4-BE49-F238E27FC236}">
                <a16:creationId xmlns:a16="http://schemas.microsoft.com/office/drawing/2014/main" id="{B705C6E9-CA09-4E44-8C84-81A45541E805}"/>
              </a:ext>
            </a:extLst>
          </p:cNvPr>
          <p:cNvGrpSpPr/>
          <p:nvPr/>
        </p:nvGrpSpPr>
        <p:grpSpPr>
          <a:xfrm>
            <a:off x="11678044" y="5727049"/>
            <a:ext cx="2913826" cy="1204061"/>
            <a:chOff x="0" y="0"/>
            <a:chExt cx="812800" cy="406400"/>
          </a:xfrm>
        </p:grpSpPr>
        <p:sp>
          <p:nvSpPr>
            <p:cNvPr id="70" name="Freeform 21">
              <a:extLst>
                <a:ext uri="{FF2B5EF4-FFF2-40B4-BE49-F238E27FC236}">
                  <a16:creationId xmlns:a16="http://schemas.microsoft.com/office/drawing/2014/main" id="{3C807630-09C4-485D-8138-BA89FF81848D}"/>
                </a:ext>
              </a:extLst>
            </p:cNvPr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71" name="TextBox 22">
              <a:extLst>
                <a:ext uri="{FF2B5EF4-FFF2-40B4-BE49-F238E27FC236}">
                  <a16:creationId xmlns:a16="http://schemas.microsoft.com/office/drawing/2014/main" id="{26A32FEB-B720-455C-A0E1-657AAD0E86F3}"/>
                </a:ext>
              </a:extLst>
            </p:cNvPr>
            <p:cNvSpPr txBox="1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lIns="55976" tIns="55976" rIns="55976" bIns="55976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72" name="Group 20">
            <a:extLst>
              <a:ext uri="{FF2B5EF4-FFF2-40B4-BE49-F238E27FC236}">
                <a16:creationId xmlns:a16="http://schemas.microsoft.com/office/drawing/2014/main" id="{A64290F7-B932-47B0-B130-A98869FC4343}"/>
              </a:ext>
            </a:extLst>
          </p:cNvPr>
          <p:cNvGrpSpPr/>
          <p:nvPr/>
        </p:nvGrpSpPr>
        <p:grpSpPr>
          <a:xfrm>
            <a:off x="9511537" y="5727049"/>
            <a:ext cx="2913826" cy="1204061"/>
            <a:chOff x="0" y="0"/>
            <a:chExt cx="812800" cy="406400"/>
          </a:xfrm>
        </p:grpSpPr>
        <p:sp>
          <p:nvSpPr>
            <p:cNvPr id="73" name="Freeform 21">
              <a:extLst>
                <a:ext uri="{FF2B5EF4-FFF2-40B4-BE49-F238E27FC236}">
                  <a16:creationId xmlns:a16="http://schemas.microsoft.com/office/drawing/2014/main" id="{C6401A37-C434-4C4A-B460-B825D1AF3E88}"/>
                </a:ext>
              </a:extLst>
            </p:cNvPr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74" name="TextBox 22">
              <a:extLst>
                <a:ext uri="{FF2B5EF4-FFF2-40B4-BE49-F238E27FC236}">
                  <a16:creationId xmlns:a16="http://schemas.microsoft.com/office/drawing/2014/main" id="{23DD8211-7FB1-4C9F-880B-A64EDB9CE95F}"/>
                </a:ext>
              </a:extLst>
            </p:cNvPr>
            <p:cNvSpPr txBox="1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lIns="55976" tIns="55976" rIns="55976" bIns="55976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75" name="Group 20">
            <a:extLst>
              <a:ext uri="{FF2B5EF4-FFF2-40B4-BE49-F238E27FC236}">
                <a16:creationId xmlns:a16="http://schemas.microsoft.com/office/drawing/2014/main" id="{0C92360B-6545-4FAF-BD34-C52CAD61F402}"/>
              </a:ext>
            </a:extLst>
          </p:cNvPr>
          <p:cNvGrpSpPr/>
          <p:nvPr/>
        </p:nvGrpSpPr>
        <p:grpSpPr>
          <a:xfrm>
            <a:off x="7351300" y="5727049"/>
            <a:ext cx="2913826" cy="1204061"/>
            <a:chOff x="0" y="0"/>
            <a:chExt cx="812800" cy="406400"/>
          </a:xfrm>
        </p:grpSpPr>
        <p:sp>
          <p:nvSpPr>
            <p:cNvPr id="76" name="Freeform 21">
              <a:extLst>
                <a:ext uri="{FF2B5EF4-FFF2-40B4-BE49-F238E27FC236}">
                  <a16:creationId xmlns:a16="http://schemas.microsoft.com/office/drawing/2014/main" id="{0D1B393A-8D99-4E89-97FA-67CA726F4FD8}"/>
                </a:ext>
              </a:extLst>
            </p:cNvPr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77" name="TextBox 22">
              <a:extLst>
                <a:ext uri="{FF2B5EF4-FFF2-40B4-BE49-F238E27FC236}">
                  <a16:creationId xmlns:a16="http://schemas.microsoft.com/office/drawing/2014/main" id="{57C7B1BC-CFE3-4278-8ED2-E743172051E0}"/>
                </a:ext>
              </a:extLst>
            </p:cNvPr>
            <p:cNvSpPr txBox="1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lIns="55976" tIns="55976" rIns="55976" bIns="55976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78" name="TextBox 38">
            <a:extLst>
              <a:ext uri="{FF2B5EF4-FFF2-40B4-BE49-F238E27FC236}">
                <a16:creationId xmlns:a16="http://schemas.microsoft.com/office/drawing/2014/main" id="{EC4CD9C3-25F6-4809-80F3-5079D4594054}"/>
              </a:ext>
            </a:extLst>
          </p:cNvPr>
          <p:cNvSpPr txBox="1"/>
          <p:nvPr/>
        </p:nvSpPr>
        <p:spPr>
          <a:xfrm>
            <a:off x="8150716" y="5779041"/>
            <a:ext cx="8708618" cy="10227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25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Inventaris</a:t>
            </a:r>
            <a:r>
              <a:rPr lang="en-US" sz="25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: </a:t>
            </a:r>
            <a:r>
              <a:rPr lang="en-US" sz="25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Barang</a:t>
            </a:r>
            <a:r>
              <a:rPr lang="en-US" sz="25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/material yang </a:t>
            </a:r>
            <a:r>
              <a:rPr lang="en-US" sz="25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dimiliki</a:t>
            </a:r>
            <a:r>
              <a:rPr lang="en-US" sz="25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dan </a:t>
            </a:r>
            <a:r>
              <a:rPr lang="en-US" sz="25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digunakan</a:t>
            </a:r>
            <a:r>
              <a:rPr lang="en-US" sz="25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oleh </a:t>
            </a:r>
            <a:r>
              <a:rPr lang="en-US" sz="25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suatu</a:t>
            </a:r>
            <a:r>
              <a:rPr lang="en-US" sz="25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instansi</a:t>
            </a:r>
            <a:r>
              <a:rPr lang="en-US" sz="25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dalam</a:t>
            </a:r>
            <a:r>
              <a:rPr lang="en-US" sz="25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menjalankan</a:t>
            </a:r>
            <a:r>
              <a:rPr lang="en-US" sz="25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aktifitas</a:t>
            </a:r>
            <a:r>
              <a:rPr lang="en-US" sz="25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oprasionalnya</a:t>
            </a:r>
            <a:endParaRPr lang="en-US" sz="2500" dirty="0">
              <a:solidFill>
                <a:srgbClr val="00000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grpSp>
        <p:nvGrpSpPr>
          <p:cNvPr id="92" name="Group 20">
            <a:extLst>
              <a:ext uri="{FF2B5EF4-FFF2-40B4-BE49-F238E27FC236}">
                <a16:creationId xmlns:a16="http://schemas.microsoft.com/office/drawing/2014/main" id="{5B40F464-16BB-450F-8603-5F613A454BA0}"/>
              </a:ext>
            </a:extLst>
          </p:cNvPr>
          <p:cNvGrpSpPr/>
          <p:nvPr/>
        </p:nvGrpSpPr>
        <p:grpSpPr>
          <a:xfrm>
            <a:off x="14294495" y="7216584"/>
            <a:ext cx="2913826" cy="1204061"/>
            <a:chOff x="0" y="0"/>
            <a:chExt cx="812800" cy="406400"/>
          </a:xfrm>
        </p:grpSpPr>
        <p:sp>
          <p:nvSpPr>
            <p:cNvPr id="93" name="Freeform 21">
              <a:extLst>
                <a:ext uri="{FF2B5EF4-FFF2-40B4-BE49-F238E27FC236}">
                  <a16:creationId xmlns:a16="http://schemas.microsoft.com/office/drawing/2014/main" id="{AF5837CE-80B3-4ECD-AC10-D52B1E966C9F}"/>
                </a:ext>
              </a:extLst>
            </p:cNvPr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94" name="TextBox 22">
              <a:extLst>
                <a:ext uri="{FF2B5EF4-FFF2-40B4-BE49-F238E27FC236}">
                  <a16:creationId xmlns:a16="http://schemas.microsoft.com/office/drawing/2014/main" id="{4248F6A5-55A4-4A23-97FB-9A1412567AA8}"/>
                </a:ext>
              </a:extLst>
            </p:cNvPr>
            <p:cNvSpPr txBox="1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lIns="55976" tIns="55976" rIns="55976" bIns="55976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95" name="Group 20">
            <a:extLst>
              <a:ext uri="{FF2B5EF4-FFF2-40B4-BE49-F238E27FC236}">
                <a16:creationId xmlns:a16="http://schemas.microsoft.com/office/drawing/2014/main" id="{008E61A0-71EB-40C5-9058-79D6D410B9DE}"/>
              </a:ext>
            </a:extLst>
          </p:cNvPr>
          <p:cNvGrpSpPr/>
          <p:nvPr/>
        </p:nvGrpSpPr>
        <p:grpSpPr>
          <a:xfrm>
            <a:off x="12134258" y="7216584"/>
            <a:ext cx="2913826" cy="1204061"/>
            <a:chOff x="0" y="0"/>
            <a:chExt cx="812800" cy="406400"/>
          </a:xfrm>
        </p:grpSpPr>
        <p:sp>
          <p:nvSpPr>
            <p:cNvPr id="96" name="Freeform 21">
              <a:extLst>
                <a:ext uri="{FF2B5EF4-FFF2-40B4-BE49-F238E27FC236}">
                  <a16:creationId xmlns:a16="http://schemas.microsoft.com/office/drawing/2014/main" id="{56DE401E-4D14-4E79-9B89-DE992D3A4D9E}"/>
                </a:ext>
              </a:extLst>
            </p:cNvPr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97" name="TextBox 22">
              <a:extLst>
                <a:ext uri="{FF2B5EF4-FFF2-40B4-BE49-F238E27FC236}">
                  <a16:creationId xmlns:a16="http://schemas.microsoft.com/office/drawing/2014/main" id="{5EDAB901-2F38-40DB-BAC3-395FD5E29E50}"/>
                </a:ext>
              </a:extLst>
            </p:cNvPr>
            <p:cNvSpPr txBox="1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lIns="55976" tIns="55976" rIns="55976" bIns="55976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98" name="Group 20">
            <a:extLst>
              <a:ext uri="{FF2B5EF4-FFF2-40B4-BE49-F238E27FC236}">
                <a16:creationId xmlns:a16="http://schemas.microsoft.com/office/drawing/2014/main" id="{AA22383D-FCE9-414F-A472-256A41BDAA0C}"/>
              </a:ext>
            </a:extLst>
          </p:cNvPr>
          <p:cNvGrpSpPr/>
          <p:nvPr/>
        </p:nvGrpSpPr>
        <p:grpSpPr>
          <a:xfrm>
            <a:off x="9967751" y="7216584"/>
            <a:ext cx="2913826" cy="1204061"/>
            <a:chOff x="0" y="0"/>
            <a:chExt cx="812800" cy="406400"/>
          </a:xfrm>
        </p:grpSpPr>
        <p:sp>
          <p:nvSpPr>
            <p:cNvPr id="99" name="Freeform 21">
              <a:extLst>
                <a:ext uri="{FF2B5EF4-FFF2-40B4-BE49-F238E27FC236}">
                  <a16:creationId xmlns:a16="http://schemas.microsoft.com/office/drawing/2014/main" id="{E074251E-00D5-4179-A40C-85E900185322}"/>
                </a:ext>
              </a:extLst>
            </p:cNvPr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100" name="TextBox 22">
              <a:extLst>
                <a:ext uri="{FF2B5EF4-FFF2-40B4-BE49-F238E27FC236}">
                  <a16:creationId xmlns:a16="http://schemas.microsoft.com/office/drawing/2014/main" id="{30B1F854-21F4-4F57-8FD9-45B9549B478C}"/>
                </a:ext>
              </a:extLst>
            </p:cNvPr>
            <p:cNvSpPr txBox="1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lIns="55976" tIns="55976" rIns="55976" bIns="55976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101" name="Group 20">
            <a:extLst>
              <a:ext uri="{FF2B5EF4-FFF2-40B4-BE49-F238E27FC236}">
                <a16:creationId xmlns:a16="http://schemas.microsoft.com/office/drawing/2014/main" id="{72734DBD-AD2F-463C-8FBB-3CBF9B1F02B3}"/>
              </a:ext>
            </a:extLst>
          </p:cNvPr>
          <p:cNvGrpSpPr/>
          <p:nvPr/>
        </p:nvGrpSpPr>
        <p:grpSpPr>
          <a:xfrm>
            <a:off x="7807514" y="7216584"/>
            <a:ext cx="2913826" cy="1204061"/>
            <a:chOff x="0" y="0"/>
            <a:chExt cx="812800" cy="406400"/>
          </a:xfrm>
        </p:grpSpPr>
        <p:sp>
          <p:nvSpPr>
            <p:cNvPr id="102" name="Freeform 21">
              <a:extLst>
                <a:ext uri="{FF2B5EF4-FFF2-40B4-BE49-F238E27FC236}">
                  <a16:creationId xmlns:a16="http://schemas.microsoft.com/office/drawing/2014/main" id="{46A69364-DE28-48F6-BC7B-EEEEAC84A2C2}"/>
                </a:ext>
              </a:extLst>
            </p:cNvPr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103" name="TextBox 22">
              <a:extLst>
                <a:ext uri="{FF2B5EF4-FFF2-40B4-BE49-F238E27FC236}">
                  <a16:creationId xmlns:a16="http://schemas.microsoft.com/office/drawing/2014/main" id="{3E8EA7AA-3C85-4F9F-8491-30D1C0FAA7E9}"/>
                </a:ext>
              </a:extLst>
            </p:cNvPr>
            <p:cNvSpPr txBox="1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lIns="55976" tIns="55976" rIns="55976" bIns="55976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104" name="TextBox 38">
            <a:extLst>
              <a:ext uri="{FF2B5EF4-FFF2-40B4-BE49-F238E27FC236}">
                <a16:creationId xmlns:a16="http://schemas.microsoft.com/office/drawing/2014/main" id="{305C8C1E-3A7C-40C7-A796-3909D93A70A0}"/>
              </a:ext>
            </a:extLst>
          </p:cNvPr>
          <p:cNvSpPr txBox="1"/>
          <p:nvPr/>
        </p:nvSpPr>
        <p:spPr>
          <a:xfrm>
            <a:off x="8915400" y="7268576"/>
            <a:ext cx="7659478" cy="15613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25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Aplikasi</a:t>
            </a:r>
            <a:r>
              <a:rPr lang="en-US" sz="25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Pendukung</a:t>
            </a:r>
            <a:r>
              <a:rPr lang="en-US" sz="25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: Web Browser, XAMPP, PHP, Framework Laravel, </a:t>
            </a:r>
            <a:r>
              <a:rPr lang="en-US" sz="25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MySql</a:t>
            </a:r>
            <a:endParaRPr lang="en-US" sz="2500" dirty="0">
              <a:solidFill>
                <a:srgbClr val="00000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algn="l">
              <a:lnSpc>
                <a:spcPts val="4200"/>
              </a:lnSpc>
            </a:pPr>
            <a:endParaRPr lang="en-US" sz="2500" dirty="0">
              <a:solidFill>
                <a:srgbClr val="00000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pic>
        <p:nvPicPr>
          <p:cNvPr id="105" name="Picture 104">
            <a:extLst>
              <a:ext uri="{FF2B5EF4-FFF2-40B4-BE49-F238E27FC236}">
                <a16:creationId xmlns:a16="http://schemas.microsoft.com/office/drawing/2014/main" id="{FCDBEAF0-6ECB-411B-8266-440F0FDE1CE8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505" y="503294"/>
            <a:ext cx="942895" cy="9458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77032" y="8227689"/>
            <a:ext cx="3304243" cy="3304243"/>
          </a:xfrm>
          <a:custGeom>
            <a:avLst/>
            <a:gdLst/>
            <a:ahLst/>
            <a:cxnLst/>
            <a:rect l="l" t="t" r="r" b="b"/>
            <a:pathLst>
              <a:path w="3304243" h="3304243">
                <a:moveTo>
                  <a:pt x="0" y="0"/>
                </a:moveTo>
                <a:lnTo>
                  <a:pt x="3304244" y="0"/>
                </a:lnTo>
                <a:lnTo>
                  <a:pt x="3304244" y="3304243"/>
                </a:lnTo>
                <a:lnTo>
                  <a:pt x="0" y="33042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857121" y="6106625"/>
            <a:ext cx="3380275" cy="3380275"/>
          </a:xfrm>
          <a:custGeom>
            <a:avLst/>
            <a:gdLst/>
            <a:ahLst/>
            <a:cxnLst/>
            <a:rect l="l" t="t" r="r" b="b"/>
            <a:pathLst>
              <a:path w="3380275" h="3380275">
                <a:moveTo>
                  <a:pt x="0" y="0"/>
                </a:moveTo>
                <a:lnTo>
                  <a:pt x="3380276" y="0"/>
                </a:lnTo>
                <a:lnTo>
                  <a:pt x="3380276" y="3380275"/>
                </a:lnTo>
                <a:lnTo>
                  <a:pt x="0" y="33802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0" y="10073435"/>
            <a:ext cx="18288000" cy="213565"/>
            <a:chOff x="0" y="0"/>
            <a:chExt cx="4816593" cy="5624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2" cy="56248"/>
            </a:xfrm>
            <a:custGeom>
              <a:avLst/>
              <a:gdLst/>
              <a:ahLst/>
              <a:cxnLst/>
              <a:rect l="l" t="t" r="r" b="b"/>
              <a:pathLst>
                <a:path w="4816592" h="56248">
                  <a:moveTo>
                    <a:pt x="0" y="0"/>
                  </a:moveTo>
                  <a:lnTo>
                    <a:pt x="4816592" y="0"/>
                  </a:lnTo>
                  <a:lnTo>
                    <a:pt x="4816592" y="56248"/>
                  </a:lnTo>
                  <a:lnTo>
                    <a:pt x="0" y="56248"/>
                  </a:lnTo>
                  <a:close/>
                </a:path>
              </a:pathLst>
            </a:custGeom>
            <a:solidFill>
              <a:srgbClr val="5DA295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4816593" cy="943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flipV="1">
            <a:off x="14380637" y="-611753"/>
            <a:ext cx="4271475" cy="3459895"/>
          </a:xfrm>
          <a:custGeom>
            <a:avLst/>
            <a:gdLst/>
            <a:ahLst/>
            <a:cxnLst/>
            <a:rect l="l" t="t" r="r" b="b"/>
            <a:pathLst>
              <a:path w="4271475" h="3459895">
                <a:moveTo>
                  <a:pt x="0" y="3459895"/>
                </a:moveTo>
                <a:lnTo>
                  <a:pt x="4271475" y="3459895"/>
                </a:lnTo>
                <a:lnTo>
                  <a:pt x="4271475" y="0"/>
                </a:lnTo>
                <a:lnTo>
                  <a:pt x="0" y="0"/>
                </a:lnTo>
                <a:lnTo>
                  <a:pt x="0" y="3459895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0" y="0"/>
            <a:ext cx="18288000" cy="213565"/>
            <a:chOff x="0" y="0"/>
            <a:chExt cx="4816593" cy="5624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816592" cy="56248"/>
            </a:xfrm>
            <a:custGeom>
              <a:avLst/>
              <a:gdLst/>
              <a:ahLst/>
              <a:cxnLst/>
              <a:rect l="l" t="t" r="r" b="b"/>
              <a:pathLst>
                <a:path w="4816592" h="56248">
                  <a:moveTo>
                    <a:pt x="0" y="0"/>
                  </a:moveTo>
                  <a:lnTo>
                    <a:pt x="4816592" y="0"/>
                  </a:lnTo>
                  <a:lnTo>
                    <a:pt x="4816592" y="56248"/>
                  </a:lnTo>
                  <a:lnTo>
                    <a:pt x="0" y="56248"/>
                  </a:lnTo>
                  <a:close/>
                </a:path>
              </a:pathLst>
            </a:custGeom>
            <a:solidFill>
              <a:srgbClr val="BFDDD2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4816593" cy="943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389196" y="598254"/>
            <a:ext cx="851704" cy="777374"/>
          </a:xfrm>
          <a:custGeom>
            <a:avLst/>
            <a:gdLst/>
            <a:ahLst/>
            <a:cxnLst/>
            <a:rect l="l" t="t" r="r" b="b"/>
            <a:pathLst>
              <a:path w="851704" h="777374">
                <a:moveTo>
                  <a:pt x="0" y="0"/>
                </a:moveTo>
                <a:lnTo>
                  <a:pt x="851705" y="0"/>
                </a:lnTo>
                <a:lnTo>
                  <a:pt x="851705" y="777374"/>
                </a:lnTo>
                <a:lnTo>
                  <a:pt x="0" y="77737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32097" y="758341"/>
            <a:ext cx="365904" cy="337962"/>
          </a:xfrm>
          <a:custGeom>
            <a:avLst/>
            <a:gdLst/>
            <a:ahLst/>
            <a:cxnLst/>
            <a:rect l="l" t="t" r="r" b="b"/>
            <a:pathLst>
              <a:path w="365904" h="337962">
                <a:moveTo>
                  <a:pt x="0" y="0"/>
                </a:moveTo>
                <a:lnTo>
                  <a:pt x="365903" y="0"/>
                </a:lnTo>
                <a:lnTo>
                  <a:pt x="365903" y="337962"/>
                </a:lnTo>
                <a:lnTo>
                  <a:pt x="0" y="33796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6564000" y="8834437"/>
            <a:ext cx="955170" cy="762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299"/>
              </a:lnSpc>
            </a:pPr>
            <a:r>
              <a:rPr lang="en-US" sz="4499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07</a:t>
            </a:r>
          </a:p>
        </p:txBody>
      </p:sp>
      <p:sp>
        <p:nvSpPr>
          <p:cNvPr id="14" name="AutoShape 14"/>
          <p:cNvSpPr/>
          <p:nvPr/>
        </p:nvSpPr>
        <p:spPr>
          <a:xfrm>
            <a:off x="16564000" y="8877554"/>
            <a:ext cx="0" cy="761492"/>
          </a:xfrm>
          <a:prstGeom prst="line">
            <a:avLst/>
          </a:prstGeom>
          <a:ln w="95250" cap="flat">
            <a:solidFill>
              <a:srgbClr val="5DA295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6" name="Group 16"/>
          <p:cNvGrpSpPr/>
          <p:nvPr/>
        </p:nvGrpSpPr>
        <p:grpSpPr>
          <a:xfrm>
            <a:off x="16368649" y="2629502"/>
            <a:ext cx="1150521" cy="1006706"/>
            <a:chOff x="0" y="0"/>
            <a:chExt cx="812800" cy="7112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BFDDD2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4725212" y="307435"/>
            <a:ext cx="8866624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 b="1" dirty="0" err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Penelitian</a:t>
            </a:r>
            <a:r>
              <a:rPr lang="en-US" sz="7500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</a:t>
            </a:r>
            <a:r>
              <a:rPr lang="en-US" sz="7500" b="1" dirty="0" err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Relevan</a:t>
            </a:r>
            <a:endParaRPr lang="en-US" sz="7500" b="1" dirty="0">
              <a:solidFill>
                <a:srgbClr val="000000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445845" y="567841"/>
            <a:ext cx="3736997" cy="8527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 spc="14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UNIVERSITAS</a:t>
            </a:r>
          </a:p>
          <a:p>
            <a:pPr algn="l">
              <a:lnSpc>
                <a:spcPts val="3360"/>
              </a:lnSpc>
            </a:pPr>
            <a:r>
              <a:rPr lang="en-US" sz="2800" spc="14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NEGERI MANADO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429915" y="8963025"/>
            <a:ext cx="4752692" cy="500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200"/>
              </a:lnSpc>
            </a:pPr>
            <a:r>
              <a:rPr lang="en-US" sz="3000" b="1" spc="300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TEKNIK INFORMATIKA</a:t>
            </a:r>
          </a:p>
        </p:txBody>
      </p:sp>
      <p:sp>
        <p:nvSpPr>
          <p:cNvPr id="24" name="Rectangle: Diagonal Corners Snipped 23">
            <a:extLst>
              <a:ext uri="{FF2B5EF4-FFF2-40B4-BE49-F238E27FC236}">
                <a16:creationId xmlns:a16="http://schemas.microsoft.com/office/drawing/2014/main" id="{CE5EAFEB-278F-46BE-873C-8FD121E7C9C5}"/>
              </a:ext>
            </a:extLst>
          </p:cNvPr>
          <p:cNvSpPr/>
          <p:nvPr/>
        </p:nvSpPr>
        <p:spPr>
          <a:xfrm>
            <a:off x="1053494" y="1899013"/>
            <a:ext cx="7052402" cy="2029631"/>
          </a:xfrm>
          <a:prstGeom prst="snip2DiagRect">
            <a:avLst/>
          </a:prstGeom>
          <a:solidFill>
            <a:srgbClr val="5DA2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5" name="Rectangle: Diagonal Corners Snipped 34">
            <a:extLst>
              <a:ext uri="{FF2B5EF4-FFF2-40B4-BE49-F238E27FC236}">
                <a16:creationId xmlns:a16="http://schemas.microsoft.com/office/drawing/2014/main" id="{F711E183-E62D-4371-8F8A-2CF09D3995B3}"/>
              </a:ext>
            </a:extLst>
          </p:cNvPr>
          <p:cNvSpPr/>
          <p:nvPr/>
        </p:nvSpPr>
        <p:spPr>
          <a:xfrm>
            <a:off x="1230266" y="2613421"/>
            <a:ext cx="6697434" cy="1153943"/>
          </a:xfrm>
          <a:prstGeom prst="snip2Diag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2800" dirty="0" err="1">
                <a:solidFill>
                  <a:srgbClr val="5DA295"/>
                </a:solidFill>
                <a:latin typeface="Glacial Indifference" panose="020B0604020202020204" charset="0"/>
              </a:rPr>
              <a:t>Aplikasi</a:t>
            </a:r>
            <a:r>
              <a:rPr lang="en-ID" sz="2800" dirty="0">
                <a:solidFill>
                  <a:srgbClr val="5DA295"/>
                </a:solidFill>
                <a:latin typeface="Glacial Indifference" panose="020B0604020202020204" charset="0"/>
              </a:rPr>
              <a:t> </a:t>
            </a:r>
            <a:r>
              <a:rPr lang="en-ID" sz="2800" dirty="0" err="1">
                <a:solidFill>
                  <a:srgbClr val="5DA295"/>
                </a:solidFill>
                <a:latin typeface="Glacial Indifference" panose="020B0604020202020204" charset="0"/>
              </a:rPr>
              <a:t>Inventaris</a:t>
            </a:r>
            <a:r>
              <a:rPr lang="en-ID" sz="2800" dirty="0">
                <a:solidFill>
                  <a:srgbClr val="5DA295"/>
                </a:solidFill>
                <a:latin typeface="Glacial Indifference" panose="020B0604020202020204" charset="0"/>
              </a:rPr>
              <a:t> </a:t>
            </a:r>
            <a:r>
              <a:rPr lang="en-ID" sz="2800" dirty="0" err="1">
                <a:solidFill>
                  <a:srgbClr val="5DA295"/>
                </a:solidFill>
                <a:latin typeface="Glacial Indifference" panose="020B0604020202020204" charset="0"/>
              </a:rPr>
              <a:t>Berbasis</a:t>
            </a:r>
            <a:r>
              <a:rPr lang="en-ID" sz="2800" dirty="0">
                <a:solidFill>
                  <a:srgbClr val="5DA295"/>
                </a:solidFill>
                <a:latin typeface="Glacial Indifference" panose="020B0604020202020204" charset="0"/>
              </a:rPr>
              <a:t> Website Di Dinas Kesehatan Daerah Kota </a:t>
            </a:r>
            <a:r>
              <a:rPr lang="en-ID" sz="2800" dirty="0" err="1">
                <a:solidFill>
                  <a:srgbClr val="5DA295"/>
                </a:solidFill>
                <a:latin typeface="Glacial Indifference" panose="020B0604020202020204" charset="0"/>
              </a:rPr>
              <a:t>Tomohon</a:t>
            </a:r>
            <a:r>
              <a:rPr lang="en-ID" sz="2800" dirty="0">
                <a:solidFill>
                  <a:srgbClr val="5DA295"/>
                </a:solidFill>
                <a:latin typeface="Glacial Indifference" panose="020B0604020202020204" charset="0"/>
              </a:rPr>
              <a:t> 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7127077-27B0-41B2-AD64-E89910CEED00}"/>
              </a:ext>
            </a:extLst>
          </p:cNvPr>
          <p:cNvSpPr/>
          <p:nvPr/>
        </p:nvSpPr>
        <p:spPr>
          <a:xfrm>
            <a:off x="873726" y="1545590"/>
            <a:ext cx="1710606" cy="962937"/>
          </a:xfrm>
          <a:prstGeom prst="rect">
            <a:avLst/>
          </a:prstGeom>
          <a:solidFill>
            <a:srgbClr val="BFDDD2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rgbClr val="5DA295"/>
                </a:solidFill>
                <a:latin typeface="Glacial Indifference" panose="020B0604020202020204" charset="0"/>
              </a:rPr>
              <a:t>2024</a:t>
            </a:r>
            <a:endParaRPr lang="en-ID" sz="3600" dirty="0">
              <a:solidFill>
                <a:srgbClr val="5DA295"/>
              </a:solidFill>
              <a:latin typeface="Glacial Indifference" panose="020B060402020202020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D58F6CC-7953-4482-9B03-DD162DA75C3D}"/>
              </a:ext>
            </a:extLst>
          </p:cNvPr>
          <p:cNvSpPr txBox="1"/>
          <p:nvPr/>
        </p:nvSpPr>
        <p:spPr>
          <a:xfrm>
            <a:off x="2701504" y="2004375"/>
            <a:ext cx="60917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400" dirty="0">
                <a:solidFill>
                  <a:schemeClr val="bg1"/>
                </a:solidFill>
                <a:latin typeface="Glacial Indifference" panose="020B0604020202020204" charset="0"/>
              </a:rPr>
              <a:t>Riedel John Hamel BJ, </a:t>
            </a:r>
            <a:r>
              <a:rPr lang="en-ID" sz="2400" dirty="0" err="1">
                <a:solidFill>
                  <a:schemeClr val="bg1"/>
                </a:solidFill>
                <a:latin typeface="Glacial Indifference" panose="020B0604020202020204" charset="0"/>
              </a:rPr>
              <a:t>Quido</a:t>
            </a:r>
            <a:r>
              <a:rPr lang="en-ID" sz="2400" dirty="0">
                <a:solidFill>
                  <a:schemeClr val="bg1"/>
                </a:solidFill>
                <a:latin typeface="Glacial Indifference" panose="020B0604020202020204" charset="0"/>
              </a:rPr>
              <a:t> C, </a:t>
            </a:r>
            <a:r>
              <a:rPr lang="en-ID" sz="2400" dirty="0" err="1">
                <a:solidFill>
                  <a:schemeClr val="bg1"/>
                </a:solidFill>
                <a:latin typeface="Glacial Indifference" panose="020B0604020202020204" charset="0"/>
              </a:rPr>
              <a:t>Kainde</a:t>
            </a:r>
            <a:r>
              <a:rPr lang="en-ID" sz="2400" dirty="0">
                <a:solidFill>
                  <a:schemeClr val="bg1"/>
                </a:solidFill>
                <a:latin typeface="Glacial Indifference" panose="020B0604020202020204" charset="0"/>
              </a:rPr>
              <a:t> </a:t>
            </a:r>
          </a:p>
        </p:txBody>
      </p:sp>
      <p:sp>
        <p:nvSpPr>
          <p:cNvPr id="38" name="Rectangle: Diagonal Corners Snipped 37">
            <a:extLst>
              <a:ext uri="{FF2B5EF4-FFF2-40B4-BE49-F238E27FC236}">
                <a16:creationId xmlns:a16="http://schemas.microsoft.com/office/drawing/2014/main" id="{27266C34-6BDC-4AE6-9615-FAFF375C00F2}"/>
              </a:ext>
            </a:extLst>
          </p:cNvPr>
          <p:cNvSpPr/>
          <p:nvPr/>
        </p:nvSpPr>
        <p:spPr>
          <a:xfrm>
            <a:off x="8547786" y="1899013"/>
            <a:ext cx="7052402" cy="2029631"/>
          </a:xfrm>
          <a:prstGeom prst="snip2DiagRect">
            <a:avLst/>
          </a:prstGeom>
          <a:solidFill>
            <a:srgbClr val="5DA2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9" name="Rectangle: Diagonal Corners Snipped 38">
            <a:extLst>
              <a:ext uri="{FF2B5EF4-FFF2-40B4-BE49-F238E27FC236}">
                <a16:creationId xmlns:a16="http://schemas.microsoft.com/office/drawing/2014/main" id="{8815C993-72E3-46B7-898B-0962A5AE38DA}"/>
              </a:ext>
            </a:extLst>
          </p:cNvPr>
          <p:cNvSpPr/>
          <p:nvPr/>
        </p:nvSpPr>
        <p:spPr>
          <a:xfrm>
            <a:off x="8724558" y="2613421"/>
            <a:ext cx="6697434" cy="1153943"/>
          </a:xfrm>
          <a:prstGeom prst="snip2Diag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2800" dirty="0" err="1">
                <a:solidFill>
                  <a:srgbClr val="5DA295"/>
                </a:solidFill>
                <a:latin typeface="Glacial Indifference" panose="020B0604020202020204" charset="0"/>
              </a:rPr>
              <a:t>Sistem</a:t>
            </a:r>
            <a:r>
              <a:rPr lang="en-ID" sz="2800" dirty="0">
                <a:solidFill>
                  <a:srgbClr val="5DA295"/>
                </a:solidFill>
                <a:latin typeface="Glacial Indifference" panose="020B0604020202020204" charset="0"/>
              </a:rPr>
              <a:t> </a:t>
            </a:r>
            <a:r>
              <a:rPr lang="en-ID" sz="2800" dirty="0" err="1">
                <a:solidFill>
                  <a:srgbClr val="5DA295"/>
                </a:solidFill>
                <a:latin typeface="Glacial Indifference" panose="020B0604020202020204" charset="0"/>
              </a:rPr>
              <a:t>Inventaris</a:t>
            </a:r>
            <a:r>
              <a:rPr lang="en-ID" sz="2800" dirty="0">
                <a:solidFill>
                  <a:srgbClr val="5DA295"/>
                </a:solidFill>
                <a:latin typeface="Glacial Indifference" panose="020B0604020202020204" charset="0"/>
              </a:rPr>
              <a:t> </a:t>
            </a:r>
            <a:r>
              <a:rPr lang="en-ID" sz="2800" dirty="0" err="1">
                <a:solidFill>
                  <a:srgbClr val="5DA295"/>
                </a:solidFill>
                <a:latin typeface="Glacial Indifference" panose="020B0604020202020204" charset="0"/>
              </a:rPr>
              <a:t>Barang</a:t>
            </a:r>
            <a:r>
              <a:rPr lang="en-ID" sz="2800" dirty="0">
                <a:solidFill>
                  <a:srgbClr val="5DA295"/>
                </a:solidFill>
                <a:latin typeface="Glacial Indifference" panose="020B0604020202020204" charset="0"/>
              </a:rPr>
              <a:t> Di Dinas </a:t>
            </a:r>
            <a:r>
              <a:rPr lang="en-ID" sz="2800" dirty="0" err="1">
                <a:solidFill>
                  <a:srgbClr val="5DA295"/>
                </a:solidFill>
                <a:latin typeface="Glacial Indifference" panose="020B0604020202020204" charset="0"/>
              </a:rPr>
              <a:t>Komunikasi</a:t>
            </a:r>
            <a:r>
              <a:rPr lang="en-ID" sz="2800" dirty="0">
                <a:solidFill>
                  <a:srgbClr val="5DA295"/>
                </a:solidFill>
                <a:latin typeface="Glacial Indifference" panose="020B0604020202020204" charset="0"/>
              </a:rPr>
              <a:t> Dan </a:t>
            </a:r>
            <a:r>
              <a:rPr lang="en-ID" sz="2800" dirty="0" err="1">
                <a:solidFill>
                  <a:srgbClr val="5DA295"/>
                </a:solidFill>
                <a:latin typeface="Glacial Indifference" panose="020B0604020202020204" charset="0"/>
              </a:rPr>
              <a:t>Informatika</a:t>
            </a:r>
            <a:r>
              <a:rPr lang="en-ID" sz="2800" dirty="0">
                <a:solidFill>
                  <a:srgbClr val="5DA295"/>
                </a:solidFill>
                <a:latin typeface="Glacial Indifference" panose="020B0604020202020204" charset="0"/>
              </a:rPr>
              <a:t> </a:t>
            </a:r>
            <a:r>
              <a:rPr lang="en-ID" sz="2800" dirty="0" err="1">
                <a:solidFill>
                  <a:srgbClr val="5DA295"/>
                </a:solidFill>
                <a:latin typeface="Glacial Indifference" panose="020B0604020202020204" charset="0"/>
              </a:rPr>
              <a:t>Minahasa</a:t>
            </a:r>
            <a:r>
              <a:rPr lang="en-ID" sz="2800" dirty="0">
                <a:solidFill>
                  <a:srgbClr val="5DA295"/>
                </a:solidFill>
                <a:latin typeface="Glacial Indifference" panose="020B0604020202020204" charset="0"/>
              </a:rPr>
              <a:t> Selatan </a:t>
            </a:r>
            <a:r>
              <a:rPr lang="en-ID" sz="2800" dirty="0" err="1">
                <a:solidFill>
                  <a:srgbClr val="5DA295"/>
                </a:solidFill>
                <a:latin typeface="Glacial Indifference" panose="020B0604020202020204" charset="0"/>
              </a:rPr>
              <a:t>Berbasis</a:t>
            </a:r>
            <a:r>
              <a:rPr lang="en-ID" sz="2800" dirty="0">
                <a:solidFill>
                  <a:srgbClr val="5DA295"/>
                </a:solidFill>
                <a:latin typeface="Glacial Indifference" panose="020B0604020202020204" charset="0"/>
              </a:rPr>
              <a:t> Website 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ED66696-3DAE-4421-B140-264365945D75}"/>
              </a:ext>
            </a:extLst>
          </p:cNvPr>
          <p:cNvSpPr/>
          <p:nvPr/>
        </p:nvSpPr>
        <p:spPr>
          <a:xfrm>
            <a:off x="8368018" y="1545590"/>
            <a:ext cx="1710606" cy="962937"/>
          </a:xfrm>
          <a:prstGeom prst="rect">
            <a:avLst/>
          </a:prstGeom>
          <a:solidFill>
            <a:srgbClr val="BFDDD2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rgbClr val="5DA295"/>
                </a:solidFill>
                <a:latin typeface="Glacial Indifference" panose="020B0604020202020204" charset="0"/>
              </a:rPr>
              <a:t>2023</a:t>
            </a:r>
            <a:endParaRPr lang="en-ID" sz="3600" dirty="0">
              <a:solidFill>
                <a:srgbClr val="5DA295"/>
              </a:solidFill>
              <a:latin typeface="Glacial Indifference" panose="020B060402020202020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1920714-AAC6-41B3-A964-7E042458CCF2}"/>
              </a:ext>
            </a:extLst>
          </p:cNvPr>
          <p:cNvSpPr txBox="1"/>
          <p:nvPr/>
        </p:nvSpPr>
        <p:spPr>
          <a:xfrm>
            <a:off x="10195796" y="2004375"/>
            <a:ext cx="60917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400" dirty="0" err="1">
                <a:solidFill>
                  <a:srgbClr val="FFFFFF"/>
                </a:solidFill>
                <a:latin typeface="Glacial Indifference" panose="020B0604020202020204" charset="0"/>
              </a:rPr>
              <a:t>Sifra</a:t>
            </a:r>
            <a:r>
              <a:rPr lang="en-ID" sz="2400" dirty="0">
                <a:solidFill>
                  <a:srgbClr val="FFFFFF"/>
                </a:solidFill>
                <a:latin typeface="Glacial Indifference" panose="020B0604020202020204" charset="0"/>
              </a:rPr>
              <a:t> </a:t>
            </a:r>
            <a:r>
              <a:rPr lang="en-ID" sz="2400" dirty="0" err="1">
                <a:solidFill>
                  <a:srgbClr val="FFFFFF"/>
                </a:solidFill>
                <a:latin typeface="Glacial Indifference" panose="020B0604020202020204" charset="0"/>
              </a:rPr>
              <a:t>Ropa</a:t>
            </a:r>
            <a:r>
              <a:rPr lang="en-ID" sz="2400" dirty="0">
                <a:solidFill>
                  <a:srgbClr val="FFFFFF"/>
                </a:solidFill>
                <a:latin typeface="Glacial Indifference" panose="020B0604020202020204" charset="0"/>
              </a:rPr>
              <a:t>, </a:t>
            </a:r>
            <a:r>
              <a:rPr lang="en-ID" sz="2400" dirty="0" err="1">
                <a:solidFill>
                  <a:srgbClr val="FFFFFF"/>
                </a:solidFill>
                <a:latin typeface="Glacial Indifference" panose="020B0604020202020204" charset="0"/>
              </a:rPr>
              <a:t>Kristofel</a:t>
            </a:r>
            <a:r>
              <a:rPr lang="en-ID" sz="2400" dirty="0">
                <a:solidFill>
                  <a:srgbClr val="FFFFFF"/>
                </a:solidFill>
                <a:latin typeface="Glacial Indifference" panose="020B0604020202020204" charset="0"/>
              </a:rPr>
              <a:t> Santa </a:t>
            </a:r>
          </a:p>
        </p:txBody>
      </p:sp>
      <p:sp>
        <p:nvSpPr>
          <p:cNvPr id="42" name="Rectangle: Diagonal Corners Snipped 41">
            <a:extLst>
              <a:ext uri="{FF2B5EF4-FFF2-40B4-BE49-F238E27FC236}">
                <a16:creationId xmlns:a16="http://schemas.microsoft.com/office/drawing/2014/main" id="{A03F2AD0-D8DE-498A-ABC8-2D6A6A9256BA}"/>
              </a:ext>
            </a:extLst>
          </p:cNvPr>
          <p:cNvSpPr/>
          <p:nvPr/>
        </p:nvSpPr>
        <p:spPr>
          <a:xfrm>
            <a:off x="2176618" y="4347204"/>
            <a:ext cx="7052402" cy="2029631"/>
          </a:xfrm>
          <a:prstGeom prst="snip2DiagRect">
            <a:avLst/>
          </a:prstGeom>
          <a:solidFill>
            <a:srgbClr val="5DA2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3" name="Rectangle: Diagonal Corners Snipped 42">
            <a:extLst>
              <a:ext uri="{FF2B5EF4-FFF2-40B4-BE49-F238E27FC236}">
                <a16:creationId xmlns:a16="http://schemas.microsoft.com/office/drawing/2014/main" id="{F2C9ACAE-8C21-4A89-9101-49C838664F0C}"/>
              </a:ext>
            </a:extLst>
          </p:cNvPr>
          <p:cNvSpPr/>
          <p:nvPr/>
        </p:nvSpPr>
        <p:spPr>
          <a:xfrm>
            <a:off x="2353390" y="5061612"/>
            <a:ext cx="6697434" cy="1153943"/>
          </a:xfrm>
          <a:prstGeom prst="snip2Diag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2800" dirty="0" err="1">
                <a:solidFill>
                  <a:srgbClr val="5DA295"/>
                </a:solidFill>
                <a:latin typeface="Glacial Indifference" panose="020B0604020202020204" charset="0"/>
              </a:rPr>
              <a:t>Metode</a:t>
            </a:r>
            <a:r>
              <a:rPr lang="en-ID" sz="2800" dirty="0">
                <a:solidFill>
                  <a:srgbClr val="5DA295"/>
                </a:solidFill>
                <a:latin typeface="Glacial Indifference" panose="020B0604020202020204" charset="0"/>
              </a:rPr>
              <a:t> Waterfall </a:t>
            </a:r>
            <a:r>
              <a:rPr lang="en-ID" sz="2800" dirty="0" err="1">
                <a:solidFill>
                  <a:srgbClr val="5DA295"/>
                </a:solidFill>
                <a:latin typeface="Glacial Indifference" panose="020B0604020202020204" charset="0"/>
              </a:rPr>
              <a:t>dalam</a:t>
            </a:r>
            <a:r>
              <a:rPr lang="en-ID" sz="2800" dirty="0">
                <a:solidFill>
                  <a:srgbClr val="5DA295"/>
                </a:solidFill>
                <a:latin typeface="Glacial Indifference" panose="020B0604020202020204" charset="0"/>
              </a:rPr>
              <a:t> </a:t>
            </a:r>
            <a:r>
              <a:rPr lang="en-ID" sz="2800" dirty="0" err="1">
                <a:solidFill>
                  <a:srgbClr val="5DA295"/>
                </a:solidFill>
                <a:latin typeface="Glacial Indifference" panose="020B0604020202020204" charset="0"/>
              </a:rPr>
              <a:t>Pengembangan</a:t>
            </a:r>
            <a:r>
              <a:rPr lang="en-ID" sz="2800" dirty="0">
                <a:solidFill>
                  <a:srgbClr val="5DA295"/>
                </a:solidFill>
                <a:latin typeface="Glacial Indifference" panose="020B0604020202020204" charset="0"/>
              </a:rPr>
              <a:t> </a:t>
            </a:r>
            <a:r>
              <a:rPr lang="en-ID" sz="2800" dirty="0" err="1">
                <a:solidFill>
                  <a:srgbClr val="5DA295"/>
                </a:solidFill>
                <a:latin typeface="Glacial Indifference" panose="020B0604020202020204" charset="0"/>
              </a:rPr>
              <a:t>Sistem</a:t>
            </a:r>
            <a:r>
              <a:rPr lang="en-ID" sz="2800" dirty="0">
                <a:solidFill>
                  <a:srgbClr val="5DA295"/>
                </a:solidFill>
                <a:latin typeface="Glacial Indifference" panose="020B0604020202020204" charset="0"/>
              </a:rPr>
              <a:t> </a:t>
            </a:r>
            <a:r>
              <a:rPr lang="en-ID" sz="2800" dirty="0" err="1">
                <a:solidFill>
                  <a:srgbClr val="5DA295"/>
                </a:solidFill>
                <a:latin typeface="Glacial Indifference" panose="020B0604020202020204" charset="0"/>
              </a:rPr>
              <a:t>Inventaris</a:t>
            </a:r>
            <a:r>
              <a:rPr lang="en-ID" sz="2800" dirty="0">
                <a:solidFill>
                  <a:srgbClr val="5DA295"/>
                </a:solidFill>
                <a:latin typeface="Glacial Indifference" panose="020B0604020202020204" charset="0"/>
              </a:rPr>
              <a:t> Guna </a:t>
            </a:r>
            <a:r>
              <a:rPr lang="en-ID" sz="2800" dirty="0" err="1">
                <a:solidFill>
                  <a:srgbClr val="5DA295"/>
                </a:solidFill>
                <a:latin typeface="Glacial Indifference" panose="020B0604020202020204" charset="0"/>
              </a:rPr>
              <a:t>Meningkatkan</a:t>
            </a:r>
            <a:r>
              <a:rPr lang="en-ID" sz="2800" dirty="0">
                <a:solidFill>
                  <a:srgbClr val="5DA295"/>
                </a:solidFill>
                <a:latin typeface="Glacial Indifference" panose="020B0604020202020204" charset="0"/>
              </a:rPr>
              <a:t> </a:t>
            </a:r>
            <a:r>
              <a:rPr lang="en-ID" sz="2800" dirty="0" err="1">
                <a:solidFill>
                  <a:srgbClr val="5DA295"/>
                </a:solidFill>
                <a:latin typeface="Glacial Indifference" panose="020B0604020202020204" charset="0"/>
              </a:rPr>
              <a:t>Efisiensi</a:t>
            </a:r>
            <a:r>
              <a:rPr lang="en-ID" sz="2800" dirty="0">
                <a:solidFill>
                  <a:srgbClr val="5DA295"/>
                </a:solidFill>
                <a:latin typeface="Glacial Indifference" panose="020B0604020202020204" charset="0"/>
              </a:rPr>
              <a:t> </a:t>
            </a:r>
            <a:r>
              <a:rPr lang="en-ID" sz="2800" dirty="0" err="1">
                <a:solidFill>
                  <a:srgbClr val="5DA295"/>
                </a:solidFill>
                <a:latin typeface="Glacial Indifference" panose="020B0604020202020204" charset="0"/>
              </a:rPr>
              <a:t>Manajemen</a:t>
            </a:r>
            <a:r>
              <a:rPr lang="en-ID" sz="2800" dirty="0">
                <a:solidFill>
                  <a:srgbClr val="5DA295"/>
                </a:solidFill>
                <a:latin typeface="Glacial Indifference" panose="020B0604020202020204" charset="0"/>
              </a:rPr>
              <a:t> Stok </a:t>
            </a:r>
            <a:r>
              <a:rPr lang="en-ID" sz="2800" dirty="0" err="1">
                <a:solidFill>
                  <a:srgbClr val="5DA295"/>
                </a:solidFill>
                <a:latin typeface="Glacial Indifference" panose="020B0604020202020204" charset="0"/>
              </a:rPr>
              <a:t>Barang</a:t>
            </a:r>
            <a:endParaRPr lang="en-ID" sz="2800" dirty="0">
              <a:solidFill>
                <a:srgbClr val="5DA295"/>
              </a:solidFill>
              <a:latin typeface="Glacial Indifference" panose="020B060402020202020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C9D0C2A-F40E-4AE8-B0BA-84CBBB4A45A7}"/>
              </a:ext>
            </a:extLst>
          </p:cNvPr>
          <p:cNvSpPr/>
          <p:nvPr/>
        </p:nvSpPr>
        <p:spPr>
          <a:xfrm>
            <a:off x="1996850" y="3993781"/>
            <a:ext cx="1710606" cy="962937"/>
          </a:xfrm>
          <a:prstGeom prst="rect">
            <a:avLst/>
          </a:prstGeom>
          <a:solidFill>
            <a:srgbClr val="BFDDD2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rgbClr val="5DA295"/>
                </a:solidFill>
                <a:latin typeface="Glacial Indifference" panose="020B0604020202020204" charset="0"/>
              </a:rPr>
              <a:t>2024</a:t>
            </a:r>
            <a:endParaRPr lang="en-ID" sz="3600" dirty="0">
              <a:solidFill>
                <a:srgbClr val="5DA295"/>
              </a:solidFill>
              <a:latin typeface="Glacial Indifference" panose="020B060402020202020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C2668EA-EFDA-4517-90A5-26070E87AA12}"/>
              </a:ext>
            </a:extLst>
          </p:cNvPr>
          <p:cNvSpPr txBox="1"/>
          <p:nvPr/>
        </p:nvSpPr>
        <p:spPr>
          <a:xfrm>
            <a:off x="3824628" y="4452566"/>
            <a:ext cx="60917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400" dirty="0" err="1">
                <a:solidFill>
                  <a:srgbClr val="FFFFFF"/>
                </a:solidFill>
                <a:latin typeface="Glacial Indifference" panose="020B0604020202020204" charset="0"/>
              </a:rPr>
              <a:t>Yunus</a:t>
            </a:r>
            <a:r>
              <a:rPr lang="en-ID" sz="2400" dirty="0">
                <a:solidFill>
                  <a:srgbClr val="FFFFFF"/>
                </a:solidFill>
                <a:latin typeface="Glacial Indifference" panose="020B0604020202020204" charset="0"/>
              </a:rPr>
              <a:t> Anis, </a:t>
            </a:r>
            <a:r>
              <a:rPr lang="en-ID" sz="2400" dirty="0" err="1">
                <a:solidFill>
                  <a:srgbClr val="FFFFFF"/>
                </a:solidFill>
                <a:latin typeface="Glacial Indifference" panose="020B0604020202020204" charset="0"/>
              </a:rPr>
              <a:t>dkk</a:t>
            </a:r>
            <a:endParaRPr lang="en-ID" sz="2400" dirty="0">
              <a:solidFill>
                <a:srgbClr val="FFFFFF"/>
              </a:solidFill>
              <a:latin typeface="Glacial Indifference" panose="020B0604020202020204" charset="0"/>
            </a:endParaRPr>
          </a:p>
        </p:txBody>
      </p:sp>
      <p:sp>
        <p:nvSpPr>
          <p:cNvPr id="46" name="Rectangle: Diagonal Corners Snipped 45">
            <a:extLst>
              <a:ext uri="{FF2B5EF4-FFF2-40B4-BE49-F238E27FC236}">
                <a16:creationId xmlns:a16="http://schemas.microsoft.com/office/drawing/2014/main" id="{EADF282F-067D-4AD9-8D77-D4E3A35DDA48}"/>
              </a:ext>
            </a:extLst>
          </p:cNvPr>
          <p:cNvSpPr/>
          <p:nvPr/>
        </p:nvSpPr>
        <p:spPr>
          <a:xfrm>
            <a:off x="9670910" y="4347204"/>
            <a:ext cx="7052402" cy="2029631"/>
          </a:xfrm>
          <a:prstGeom prst="snip2DiagRect">
            <a:avLst/>
          </a:prstGeom>
          <a:solidFill>
            <a:srgbClr val="5DA2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7" name="Rectangle: Diagonal Corners Snipped 46">
            <a:extLst>
              <a:ext uri="{FF2B5EF4-FFF2-40B4-BE49-F238E27FC236}">
                <a16:creationId xmlns:a16="http://schemas.microsoft.com/office/drawing/2014/main" id="{865E846B-7297-48B1-9B46-25C603557C65}"/>
              </a:ext>
            </a:extLst>
          </p:cNvPr>
          <p:cNvSpPr/>
          <p:nvPr/>
        </p:nvSpPr>
        <p:spPr>
          <a:xfrm>
            <a:off x="9847682" y="5061612"/>
            <a:ext cx="6697434" cy="1153943"/>
          </a:xfrm>
          <a:prstGeom prst="snip2Diag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2800" dirty="0" err="1">
                <a:solidFill>
                  <a:srgbClr val="5DA295"/>
                </a:solidFill>
                <a:latin typeface="Glacial Indifference" panose="020B0604020202020204" charset="0"/>
              </a:rPr>
              <a:t>Metode</a:t>
            </a:r>
            <a:r>
              <a:rPr lang="en-ID" sz="2800" dirty="0">
                <a:solidFill>
                  <a:srgbClr val="5DA295"/>
                </a:solidFill>
                <a:latin typeface="Glacial Indifference" panose="020B0604020202020204" charset="0"/>
              </a:rPr>
              <a:t> Enterprise Architecture Planning </a:t>
            </a:r>
            <a:r>
              <a:rPr lang="en-ID" sz="2800" dirty="0" err="1">
                <a:solidFill>
                  <a:srgbClr val="5DA295"/>
                </a:solidFill>
                <a:latin typeface="Glacial Indifference" panose="020B0604020202020204" charset="0"/>
              </a:rPr>
              <a:t>Dalam</a:t>
            </a:r>
            <a:r>
              <a:rPr lang="en-ID" sz="2800" dirty="0">
                <a:solidFill>
                  <a:srgbClr val="5DA295"/>
                </a:solidFill>
                <a:latin typeface="Glacial Indifference" panose="020B0604020202020204" charset="0"/>
              </a:rPr>
              <a:t> </a:t>
            </a:r>
            <a:r>
              <a:rPr lang="en-ID" sz="2800" dirty="0" err="1">
                <a:solidFill>
                  <a:srgbClr val="5DA295"/>
                </a:solidFill>
                <a:latin typeface="Glacial Indifference" panose="020B0604020202020204" charset="0"/>
              </a:rPr>
              <a:t>Sistem</a:t>
            </a:r>
            <a:r>
              <a:rPr lang="en-ID" sz="2800" dirty="0">
                <a:solidFill>
                  <a:srgbClr val="5DA295"/>
                </a:solidFill>
                <a:latin typeface="Glacial Indifference" panose="020B0604020202020204" charset="0"/>
              </a:rPr>
              <a:t> </a:t>
            </a:r>
            <a:r>
              <a:rPr lang="en-ID" sz="2800" dirty="0" err="1">
                <a:solidFill>
                  <a:srgbClr val="5DA295"/>
                </a:solidFill>
                <a:latin typeface="Glacial Indifference" panose="020B0604020202020204" charset="0"/>
              </a:rPr>
              <a:t>Informasi</a:t>
            </a:r>
            <a:r>
              <a:rPr lang="en-ID" sz="2800" dirty="0">
                <a:solidFill>
                  <a:srgbClr val="5DA295"/>
                </a:solidFill>
                <a:latin typeface="Glacial Indifference" panose="020B0604020202020204" charset="0"/>
              </a:rPr>
              <a:t> </a:t>
            </a:r>
            <a:r>
              <a:rPr lang="en-ID" sz="2800" dirty="0" err="1">
                <a:solidFill>
                  <a:srgbClr val="5DA295"/>
                </a:solidFill>
                <a:latin typeface="Glacial Indifference" panose="020B0604020202020204" charset="0"/>
              </a:rPr>
              <a:t>Pengelolaan</a:t>
            </a:r>
            <a:r>
              <a:rPr lang="en-ID" sz="2800" dirty="0">
                <a:solidFill>
                  <a:srgbClr val="5DA295"/>
                </a:solidFill>
                <a:latin typeface="Glacial Indifference" panose="020B0604020202020204" charset="0"/>
              </a:rPr>
              <a:t> Data </a:t>
            </a:r>
            <a:r>
              <a:rPr lang="en-ID" sz="2800" dirty="0" err="1">
                <a:solidFill>
                  <a:srgbClr val="5DA295"/>
                </a:solidFill>
                <a:latin typeface="Glacial Indifference" panose="020B0604020202020204" charset="0"/>
              </a:rPr>
              <a:t>Inventaris</a:t>
            </a:r>
            <a:endParaRPr lang="en-ID" sz="2800" dirty="0">
              <a:solidFill>
                <a:srgbClr val="5DA295"/>
              </a:solidFill>
              <a:latin typeface="Glacial Indifference" panose="020B0604020202020204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A8DB5F3-8AA3-4A93-A1C8-3B35F169DA10}"/>
              </a:ext>
            </a:extLst>
          </p:cNvPr>
          <p:cNvSpPr/>
          <p:nvPr/>
        </p:nvSpPr>
        <p:spPr>
          <a:xfrm>
            <a:off x="9491142" y="3993781"/>
            <a:ext cx="1710606" cy="962937"/>
          </a:xfrm>
          <a:prstGeom prst="rect">
            <a:avLst/>
          </a:prstGeom>
          <a:solidFill>
            <a:srgbClr val="BFDDD2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rgbClr val="5DA295"/>
                </a:solidFill>
                <a:latin typeface="Glacial Indifference" panose="020B0604020202020204" charset="0"/>
              </a:rPr>
              <a:t>2023</a:t>
            </a:r>
            <a:endParaRPr lang="en-ID" sz="3600" dirty="0">
              <a:solidFill>
                <a:srgbClr val="5DA295"/>
              </a:solidFill>
              <a:latin typeface="Glacial Indifference" panose="020B060402020202020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CCD41A2-CD62-4E5E-8C24-3D36A7D3FB2C}"/>
              </a:ext>
            </a:extLst>
          </p:cNvPr>
          <p:cNvSpPr txBox="1"/>
          <p:nvPr/>
        </p:nvSpPr>
        <p:spPr>
          <a:xfrm>
            <a:off x="11318920" y="4452566"/>
            <a:ext cx="60917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400" dirty="0">
                <a:solidFill>
                  <a:srgbClr val="FFFFFF"/>
                </a:solidFill>
                <a:latin typeface="Glacial Indifference" panose="020B0604020202020204" charset="0"/>
              </a:rPr>
              <a:t>Ahmad </a:t>
            </a:r>
            <a:r>
              <a:rPr lang="en-ID" sz="2400" dirty="0" err="1">
                <a:solidFill>
                  <a:srgbClr val="FFFFFF"/>
                </a:solidFill>
                <a:latin typeface="Glacial Indifference" panose="020B0604020202020204" charset="0"/>
              </a:rPr>
              <a:t>Ashifuddin</a:t>
            </a:r>
            <a:r>
              <a:rPr lang="en-ID" sz="2400" dirty="0">
                <a:solidFill>
                  <a:srgbClr val="FFFFFF"/>
                </a:solidFill>
                <a:latin typeface="Glacial Indifference" panose="020B0604020202020204" charset="0"/>
              </a:rPr>
              <a:t> </a:t>
            </a:r>
            <a:r>
              <a:rPr lang="en-ID" sz="2400" dirty="0" err="1">
                <a:solidFill>
                  <a:srgbClr val="FFFFFF"/>
                </a:solidFill>
                <a:latin typeface="Glacial Indifference" panose="020B0604020202020204" charset="0"/>
              </a:rPr>
              <a:t>Aqham</a:t>
            </a:r>
            <a:r>
              <a:rPr lang="en-ID" sz="2400" dirty="0">
                <a:solidFill>
                  <a:srgbClr val="FFFFFF"/>
                </a:solidFill>
                <a:latin typeface="Glacial Indifference" panose="020B0604020202020204" charset="0"/>
              </a:rPr>
              <a:t>, </a:t>
            </a:r>
            <a:r>
              <a:rPr lang="en-ID" sz="2400" dirty="0" err="1">
                <a:solidFill>
                  <a:srgbClr val="FFFFFF"/>
                </a:solidFill>
                <a:latin typeface="Glacial Indifference" panose="020B0604020202020204" charset="0"/>
              </a:rPr>
              <a:t>dkk</a:t>
            </a:r>
            <a:endParaRPr lang="en-ID" sz="2400" dirty="0">
              <a:solidFill>
                <a:srgbClr val="FFFFFF"/>
              </a:solidFill>
              <a:latin typeface="Glacial Indifference" panose="020B0604020202020204" charset="0"/>
            </a:endParaRPr>
          </a:p>
        </p:txBody>
      </p:sp>
      <p:sp>
        <p:nvSpPr>
          <p:cNvPr id="50" name="Rectangle: Diagonal Corners Snipped 49">
            <a:extLst>
              <a:ext uri="{FF2B5EF4-FFF2-40B4-BE49-F238E27FC236}">
                <a16:creationId xmlns:a16="http://schemas.microsoft.com/office/drawing/2014/main" id="{98EF186E-5D5B-4A15-9727-8BB28DA571FF}"/>
              </a:ext>
            </a:extLst>
          </p:cNvPr>
          <p:cNvSpPr/>
          <p:nvPr/>
        </p:nvSpPr>
        <p:spPr>
          <a:xfrm>
            <a:off x="988697" y="6795395"/>
            <a:ext cx="7052402" cy="2029631"/>
          </a:xfrm>
          <a:prstGeom prst="snip2DiagRect">
            <a:avLst/>
          </a:prstGeom>
          <a:solidFill>
            <a:srgbClr val="5DA2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1" name="Rectangle: Diagonal Corners Snipped 50">
            <a:extLst>
              <a:ext uri="{FF2B5EF4-FFF2-40B4-BE49-F238E27FC236}">
                <a16:creationId xmlns:a16="http://schemas.microsoft.com/office/drawing/2014/main" id="{DB2246F5-2BE2-4E0B-B69A-FC0670E7089A}"/>
              </a:ext>
            </a:extLst>
          </p:cNvPr>
          <p:cNvSpPr/>
          <p:nvPr/>
        </p:nvSpPr>
        <p:spPr>
          <a:xfrm>
            <a:off x="1165469" y="7509803"/>
            <a:ext cx="6697434" cy="1153943"/>
          </a:xfrm>
          <a:prstGeom prst="snip2Diag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2800" dirty="0" err="1">
                <a:solidFill>
                  <a:srgbClr val="5DA295"/>
                </a:solidFill>
                <a:latin typeface="Glacial Indifference" panose="020B0604020202020204" charset="0"/>
              </a:rPr>
              <a:t>Sistem</a:t>
            </a:r>
            <a:r>
              <a:rPr lang="en-ID" sz="2800" dirty="0">
                <a:solidFill>
                  <a:srgbClr val="5DA295"/>
                </a:solidFill>
                <a:latin typeface="Glacial Indifference" panose="020B0604020202020204" charset="0"/>
              </a:rPr>
              <a:t> </a:t>
            </a:r>
            <a:r>
              <a:rPr lang="en-ID" sz="2800" dirty="0" err="1">
                <a:solidFill>
                  <a:srgbClr val="5DA295"/>
                </a:solidFill>
                <a:latin typeface="Glacial Indifference" panose="020B0604020202020204" charset="0"/>
              </a:rPr>
              <a:t>Informasi</a:t>
            </a:r>
            <a:r>
              <a:rPr lang="en-ID" sz="2800" dirty="0">
                <a:solidFill>
                  <a:srgbClr val="5DA295"/>
                </a:solidFill>
                <a:latin typeface="Glacial Indifference" panose="020B0604020202020204" charset="0"/>
              </a:rPr>
              <a:t> </a:t>
            </a:r>
            <a:r>
              <a:rPr lang="en-ID" sz="2800" dirty="0" err="1">
                <a:solidFill>
                  <a:srgbClr val="5DA295"/>
                </a:solidFill>
                <a:latin typeface="Glacial Indifference" panose="020B0604020202020204" charset="0"/>
              </a:rPr>
              <a:t>Inventaris</a:t>
            </a:r>
            <a:r>
              <a:rPr lang="en-ID" sz="2800" dirty="0">
                <a:solidFill>
                  <a:srgbClr val="5DA295"/>
                </a:solidFill>
                <a:latin typeface="Glacial Indifference" panose="020B0604020202020204" charset="0"/>
              </a:rPr>
              <a:t> </a:t>
            </a:r>
            <a:r>
              <a:rPr lang="en-ID" sz="2800" dirty="0" err="1">
                <a:solidFill>
                  <a:srgbClr val="5DA295"/>
                </a:solidFill>
                <a:latin typeface="Glacial Indifference" panose="020B0604020202020204" charset="0"/>
              </a:rPr>
              <a:t>Barang</a:t>
            </a:r>
            <a:r>
              <a:rPr lang="en-ID" sz="2800" dirty="0">
                <a:solidFill>
                  <a:srgbClr val="5DA295"/>
                </a:solidFill>
                <a:latin typeface="Glacial Indifference" panose="020B0604020202020204" charset="0"/>
              </a:rPr>
              <a:t> </a:t>
            </a:r>
            <a:r>
              <a:rPr lang="en-ID" sz="2800" dirty="0" err="1">
                <a:solidFill>
                  <a:srgbClr val="5DA295"/>
                </a:solidFill>
                <a:latin typeface="Glacial Indifference" panose="020B0604020202020204" charset="0"/>
              </a:rPr>
              <a:t>Berbasis</a:t>
            </a:r>
            <a:r>
              <a:rPr lang="en-ID" sz="2800" dirty="0">
                <a:solidFill>
                  <a:srgbClr val="5DA295"/>
                </a:solidFill>
                <a:latin typeface="Glacial Indifference" panose="020B0604020202020204" charset="0"/>
              </a:rPr>
              <a:t> Web </a:t>
            </a:r>
            <a:r>
              <a:rPr lang="en-ID" sz="2800" dirty="0" err="1">
                <a:solidFill>
                  <a:srgbClr val="5DA295"/>
                </a:solidFill>
                <a:latin typeface="Glacial Indifference" panose="020B0604020202020204" charset="0"/>
              </a:rPr>
              <a:t>Menggunakan</a:t>
            </a:r>
            <a:r>
              <a:rPr lang="en-ID" sz="2800" dirty="0">
                <a:solidFill>
                  <a:srgbClr val="5DA295"/>
                </a:solidFill>
                <a:latin typeface="Glacial Indifference" panose="020B0604020202020204" charset="0"/>
              </a:rPr>
              <a:t> Model RAD Pada Kantor </a:t>
            </a:r>
            <a:r>
              <a:rPr lang="en-ID" sz="2800" dirty="0" err="1">
                <a:solidFill>
                  <a:srgbClr val="5DA295"/>
                </a:solidFill>
                <a:latin typeface="Glacial Indifference" panose="020B0604020202020204" charset="0"/>
              </a:rPr>
              <a:t>Kecamatan</a:t>
            </a:r>
            <a:r>
              <a:rPr lang="en-ID" sz="2800" dirty="0">
                <a:solidFill>
                  <a:srgbClr val="5DA295"/>
                </a:solidFill>
                <a:latin typeface="Glacial Indifference" panose="020B0604020202020204" charset="0"/>
              </a:rPr>
              <a:t> </a:t>
            </a:r>
            <a:r>
              <a:rPr lang="en-ID" sz="2800" dirty="0" err="1">
                <a:solidFill>
                  <a:srgbClr val="5DA295"/>
                </a:solidFill>
                <a:latin typeface="Glacial Indifference" panose="020B0604020202020204" charset="0"/>
              </a:rPr>
              <a:t>Sukun</a:t>
            </a:r>
            <a:r>
              <a:rPr lang="en-ID" sz="2800" dirty="0">
                <a:solidFill>
                  <a:srgbClr val="5DA295"/>
                </a:solidFill>
                <a:latin typeface="Glacial Indifference" panose="020B0604020202020204" charset="0"/>
              </a:rPr>
              <a:t> 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2EA12D7-9622-4B11-AF44-D738E501957D}"/>
              </a:ext>
            </a:extLst>
          </p:cNvPr>
          <p:cNvSpPr/>
          <p:nvPr/>
        </p:nvSpPr>
        <p:spPr>
          <a:xfrm>
            <a:off x="808929" y="6441972"/>
            <a:ext cx="1710606" cy="962937"/>
          </a:xfrm>
          <a:prstGeom prst="rect">
            <a:avLst/>
          </a:prstGeom>
          <a:solidFill>
            <a:srgbClr val="BFDDD2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rgbClr val="5DA295"/>
                </a:solidFill>
                <a:latin typeface="Glacial Indifference" panose="020B0604020202020204" charset="0"/>
              </a:rPr>
              <a:t>2025</a:t>
            </a:r>
            <a:endParaRPr lang="en-ID" sz="3600" dirty="0">
              <a:solidFill>
                <a:srgbClr val="5DA295"/>
              </a:solidFill>
              <a:latin typeface="Glacial Indifference" panose="020B060402020202020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2AEC04C-6F91-449D-A13D-0F3EBB940D38}"/>
              </a:ext>
            </a:extLst>
          </p:cNvPr>
          <p:cNvSpPr txBox="1"/>
          <p:nvPr/>
        </p:nvSpPr>
        <p:spPr>
          <a:xfrm>
            <a:off x="2636707" y="6900757"/>
            <a:ext cx="60917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400" dirty="0">
                <a:solidFill>
                  <a:srgbClr val="FFFFFF"/>
                </a:solidFill>
                <a:latin typeface="Glacial Indifference" panose="020B0604020202020204" charset="0"/>
              </a:rPr>
              <a:t>Maria Christa </a:t>
            </a:r>
            <a:r>
              <a:rPr lang="en-ID" sz="2400" dirty="0" err="1">
                <a:solidFill>
                  <a:srgbClr val="FFFFFF"/>
                </a:solidFill>
                <a:latin typeface="Glacial Indifference" panose="020B0604020202020204" charset="0"/>
              </a:rPr>
              <a:t>Uskono</a:t>
            </a:r>
            <a:r>
              <a:rPr lang="en-ID" sz="2400" dirty="0">
                <a:solidFill>
                  <a:srgbClr val="FFFFFF"/>
                </a:solidFill>
                <a:latin typeface="Glacial Indifference" panose="020B0604020202020204" charset="0"/>
              </a:rPr>
              <a:t>, </a:t>
            </a:r>
            <a:r>
              <a:rPr lang="en-ID" sz="2400" dirty="0" err="1">
                <a:solidFill>
                  <a:srgbClr val="FFFFFF"/>
                </a:solidFill>
                <a:latin typeface="Glacial Indifference" panose="020B0604020202020204" charset="0"/>
              </a:rPr>
              <a:t>dkk</a:t>
            </a:r>
            <a:endParaRPr lang="en-ID" sz="2400" dirty="0">
              <a:solidFill>
                <a:srgbClr val="FFFFFF"/>
              </a:solidFill>
              <a:latin typeface="Glacial Indifference" panose="020B0604020202020204" charset="0"/>
            </a:endParaRPr>
          </a:p>
        </p:txBody>
      </p:sp>
      <p:sp>
        <p:nvSpPr>
          <p:cNvPr id="54" name="Rectangle: Diagonal Corners Snipped 53">
            <a:extLst>
              <a:ext uri="{FF2B5EF4-FFF2-40B4-BE49-F238E27FC236}">
                <a16:creationId xmlns:a16="http://schemas.microsoft.com/office/drawing/2014/main" id="{B5D48769-FB8C-47CE-A7A2-BF0B88DC0C3E}"/>
              </a:ext>
            </a:extLst>
          </p:cNvPr>
          <p:cNvSpPr/>
          <p:nvPr/>
        </p:nvSpPr>
        <p:spPr>
          <a:xfrm>
            <a:off x="8482989" y="6795395"/>
            <a:ext cx="7052402" cy="2029631"/>
          </a:xfrm>
          <a:prstGeom prst="snip2DiagRect">
            <a:avLst/>
          </a:prstGeom>
          <a:solidFill>
            <a:srgbClr val="5DA2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5" name="Rectangle: Diagonal Corners Snipped 54">
            <a:extLst>
              <a:ext uri="{FF2B5EF4-FFF2-40B4-BE49-F238E27FC236}">
                <a16:creationId xmlns:a16="http://schemas.microsoft.com/office/drawing/2014/main" id="{CE4ED4D9-087A-4950-84DE-049ED19D24F1}"/>
              </a:ext>
            </a:extLst>
          </p:cNvPr>
          <p:cNvSpPr/>
          <p:nvPr/>
        </p:nvSpPr>
        <p:spPr>
          <a:xfrm>
            <a:off x="8659761" y="7509803"/>
            <a:ext cx="6697434" cy="1153943"/>
          </a:xfrm>
          <a:prstGeom prst="snip2Diag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2800" dirty="0" err="1">
                <a:solidFill>
                  <a:srgbClr val="5DA295"/>
                </a:solidFill>
                <a:latin typeface="Glacial Indifference" panose="020B0604020202020204" charset="0"/>
              </a:rPr>
              <a:t>Aplikasi</a:t>
            </a:r>
            <a:r>
              <a:rPr lang="en-ID" sz="2800" dirty="0">
                <a:solidFill>
                  <a:srgbClr val="5DA295"/>
                </a:solidFill>
                <a:latin typeface="Glacial Indifference" panose="020B0604020202020204" charset="0"/>
              </a:rPr>
              <a:t> </a:t>
            </a:r>
            <a:r>
              <a:rPr lang="en-ID" sz="2800" dirty="0" err="1">
                <a:solidFill>
                  <a:srgbClr val="5DA295"/>
                </a:solidFill>
                <a:latin typeface="Glacial Indifference" panose="020B0604020202020204" charset="0"/>
              </a:rPr>
              <a:t>Sistem</a:t>
            </a:r>
            <a:r>
              <a:rPr lang="en-ID" sz="2800" dirty="0">
                <a:solidFill>
                  <a:srgbClr val="5DA295"/>
                </a:solidFill>
                <a:latin typeface="Glacial Indifference" panose="020B0604020202020204" charset="0"/>
              </a:rPr>
              <a:t> </a:t>
            </a:r>
            <a:r>
              <a:rPr lang="en-ID" sz="2800" dirty="0" err="1">
                <a:solidFill>
                  <a:srgbClr val="5DA295"/>
                </a:solidFill>
                <a:latin typeface="Glacial Indifference" panose="020B0604020202020204" charset="0"/>
              </a:rPr>
              <a:t>Inventaris</a:t>
            </a:r>
            <a:r>
              <a:rPr lang="en-ID" sz="2800" dirty="0">
                <a:solidFill>
                  <a:srgbClr val="5DA295"/>
                </a:solidFill>
                <a:latin typeface="Glacial Indifference" panose="020B0604020202020204" charset="0"/>
              </a:rPr>
              <a:t> </a:t>
            </a:r>
            <a:r>
              <a:rPr lang="en-ID" sz="2800" dirty="0" err="1">
                <a:solidFill>
                  <a:srgbClr val="5DA295"/>
                </a:solidFill>
                <a:latin typeface="Glacial Indifference" panose="020B0604020202020204" charset="0"/>
              </a:rPr>
              <a:t>Barang</a:t>
            </a:r>
            <a:r>
              <a:rPr lang="en-ID" sz="2800" dirty="0">
                <a:solidFill>
                  <a:srgbClr val="5DA295"/>
                </a:solidFill>
                <a:latin typeface="Glacial Indifference" panose="020B0604020202020204" charset="0"/>
              </a:rPr>
              <a:t> Pada Kantor </a:t>
            </a:r>
            <a:r>
              <a:rPr lang="en-ID" sz="2800" dirty="0" err="1">
                <a:solidFill>
                  <a:srgbClr val="5DA295"/>
                </a:solidFill>
                <a:latin typeface="Glacial Indifference" panose="020B0604020202020204" charset="0"/>
              </a:rPr>
              <a:t>Camat</a:t>
            </a:r>
            <a:r>
              <a:rPr lang="en-ID" sz="2800" dirty="0">
                <a:solidFill>
                  <a:srgbClr val="5DA295"/>
                </a:solidFill>
                <a:latin typeface="Glacial Indifference" panose="020B0604020202020204" charset="0"/>
              </a:rPr>
              <a:t> </a:t>
            </a:r>
            <a:r>
              <a:rPr lang="en-ID" sz="2800" dirty="0" err="1">
                <a:solidFill>
                  <a:srgbClr val="5DA295"/>
                </a:solidFill>
                <a:latin typeface="Glacial Indifference" panose="020B0604020202020204" charset="0"/>
              </a:rPr>
              <a:t>Aikmel</a:t>
            </a:r>
            <a:r>
              <a:rPr lang="en-ID" sz="2800" dirty="0">
                <a:solidFill>
                  <a:srgbClr val="5DA295"/>
                </a:solidFill>
                <a:latin typeface="Glacial Indifference" panose="020B0604020202020204" charset="0"/>
              </a:rPr>
              <a:t> 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E02AFFA-D7A0-46A0-A3EC-1939D7DE6D9C}"/>
              </a:ext>
            </a:extLst>
          </p:cNvPr>
          <p:cNvSpPr/>
          <p:nvPr/>
        </p:nvSpPr>
        <p:spPr>
          <a:xfrm>
            <a:off x="8303221" y="6441972"/>
            <a:ext cx="1710606" cy="962937"/>
          </a:xfrm>
          <a:prstGeom prst="rect">
            <a:avLst/>
          </a:prstGeom>
          <a:solidFill>
            <a:srgbClr val="BFDDD2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rgbClr val="5DA295"/>
                </a:solidFill>
                <a:latin typeface="Glacial Indifference" panose="020B0604020202020204" charset="0"/>
              </a:rPr>
              <a:t>2024</a:t>
            </a:r>
            <a:endParaRPr lang="en-ID" sz="3600" dirty="0">
              <a:solidFill>
                <a:srgbClr val="5DA295"/>
              </a:solidFill>
              <a:latin typeface="Glacial Indifference" panose="020B060402020202020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136A568-C5A0-41E3-8AC9-E8D46F52A8AE}"/>
              </a:ext>
            </a:extLst>
          </p:cNvPr>
          <p:cNvSpPr txBox="1"/>
          <p:nvPr/>
        </p:nvSpPr>
        <p:spPr>
          <a:xfrm>
            <a:off x="10130999" y="6900757"/>
            <a:ext cx="60917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400" dirty="0" err="1">
                <a:solidFill>
                  <a:srgbClr val="FFFFFF"/>
                </a:solidFill>
                <a:latin typeface="Glacial Indifference" panose="020B0604020202020204" charset="0"/>
              </a:rPr>
              <a:t>Isinaning</a:t>
            </a:r>
            <a:r>
              <a:rPr lang="en-ID" sz="2400" dirty="0">
                <a:solidFill>
                  <a:srgbClr val="FFFFFF"/>
                </a:solidFill>
                <a:latin typeface="Glacial Indifference" panose="020B0604020202020204" charset="0"/>
              </a:rPr>
              <a:t> </a:t>
            </a:r>
            <a:r>
              <a:rPr lang="en-ID" sz="2400" dirty="0" err="1">
                <a:solidFill>
                  <a:srgbClr val="FFFFFF"/>
                </a:solidFill>
                <a:latin typeface="Glacial Indifference" panose="020B0604020202020204" charset="0"/>
              </a:rPr>
              <a:t>Pujiwalida</a:t>
            </a:r>
            <a:r>
              <a:rPr lang="en-ID" sz="2400" dirty="0">
                <a:solidFill>
                  <a:srgbClr val="FFFFFF"/>
                </a:solidFill>
                <a:latin typeface="Glacial Indifference" panose="020B0604020202020204" charset="0"/>
              </a:rPr>
              <a:t>, </a:t>
            </a:r>
            <a:r>
              <a:rPr lang="en-ID" sz="2400" dirty="0" err="1">
                <a:solidFill>
                  <a:srgbClr val="FFFFFF"/>
                </a:solidFill>
                <a:latin typeface="Glacial Indifference" panose="020B0604020202020204" charset="0"/>
              </a:rPr>
              <a:t>dkk</a:t>
            </a:r>
            <a:endParaRPr lang="en-ID" sz="2400" dirty="0">
              <a:solidFill>
                <a:srgbClr val="FFFFFF"/>
              </a:solidFill>
              <a:latin typeface="Glacial Indifference" panose="020B0604020202020204" charset="0"/>
            </a:endParaRP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FF4246AE-F28C-4274-A6D4-1CAE166F1CDD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505" y="503294"/>
            <a:ext cx="942895" cy="94580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FD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36675" y="2770483"/>
            <a:ext cx="6104024" cy="3943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00"/>
              </a:lnSpc>
            </a:pPr>
            <a:r>
              <a:rPr lang="en-US" sz="6000" b="1" dirty="0" err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Metode</a:t>
            </a:r>
            <a:r>
              <a:rPr lang="en-US" sz="6000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</a:t>
            </a:r>
            <a:r>
              <a:rPr lang="en-US" sz="6000" b="1" dirty="0" err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Pengembangan</a:t>
            </a:r>
            <a:r>
              <a:rPr lang="en-US" sz="6000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</a:t>
            </a:r>
            <a:r>
              <a:rPr lang="en-US" sz="6000" b="1" dirty="0" err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Sistem</a:t>
            </a:r>
            <a:endParaRPr lang="en-US" sz="6000" b="1" dirty="0">
              <a:solidFill>
                <a:srgbClr val="000000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389196" y="7453479"/>
            <a:ext cx="4072345" cy="4066842"/>
          </a:xfrm>
          <a:custGeom>
            <a:avLst/>
            <a:gdLst/>
            <a:ahLst/>
            <a:cxnLst/>
            <a:rect l="l" t="t" r="r" b="b"/>
            <a:pathLst>
              <a:path w="4072345" h="4066842">
                <a:moveTo>
                  <a:pt x="0" y="0"/>
                </a:moveTo>
                <a:lnTo>
                  <a:pt x="4072345" y="0"/>
                </a:lnTo>
                <a:lnTo>
                  <a:pt x="4072345" y="4066842"/>
                </a:lnTo>
                <a:lnTo>
                  <a:pt x="0" y="40668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0" y="10073435"/>
            <a:ext cx="18288000" cy="213565"/>
            <a:chOff x="0" y="0"/>
            <a:chExt cx="4816593" cy="5624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2" cy="56248"/>
            </a:xfrm>
            <a:custGeom>
              <a:avLst/>
              <a:gdLst/>
              <a:ahLst/>
              <a:cxnLst/>
              <a:rect l="l" t="t" r="r" b="b"/>
              <a:pathLst>
                <a:path w="4816592" h="56248">
                  <a:moveTo>
                    <a:pt x="0" y="0"/>
                  </a:moveTo>
                  <a:lnTo>
                    <a:pt x="4816592" y="0"/>
                  </a:lnTo>
                  <a:lnTo>
                    <a:pt x="4816592" y="56248"/>
                  </a:lnTo>
                  <a:lnTo>
                    <a:pt x="0" y="56248"/>
                  </a:lnTo>
                  <a:close/>
                </a:path>
              </a:pathLst>
            </a:custGeom>
            <a:solidFill>
              <a:srgbClr val="5DA295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4816593" cy="943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flipV="1">
            <a:off x="14729434" y="-317609"/>
            <a:ext cx="4180831" cy="3386473"/>
          </a:xfrm>
          <a:custGeom>
            <a:avLst/>
            <a:gdLst/>
            <a:ahLst/>
            <a:cxnLst/>
            <a:rect l="l" t="t" r="r" b="b"/>
            <a:pathLst>
              <a:path w="4180831" h="3386473">
                <a:moveTo>
                  <a:pt x="0" y="3386473"/>
                </a:moveTo>
                <a:lnTo>
                  <a:pt x="4180831" y="3386473"/>
                </a:lnTo>
                <a:lnTo>
                  <a:pt x="4180831" y="0"/>
                </a:lnTo>
                <a:lnTo>
                  <a:pt x="0" y="0"/>
                </a:lnTo>
                <a:lnTo>
                  <a:pt x="0" y="338647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0" y="0"/>
            <a:ext cx="18288000" cy="213565"/>
            <a:chOff x="0" y="0"/>
            <a:chExt cx="4816593" cy="5624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816592" cy="56248"/>
            </a:xfrm>
            <a:custGeom>
              <a:avLst/>
              <a:gdLst/>
              <a:ahLst/>
              <a:cxnLst/>
              <a:rect l="l" t="t" r="r" b="b"/>
              <a:pathLst>
                <a:path w="4816592" h="56248">
                  <a:moveTo>
                    <a:pt x="0" y="0"/>
                  </a:moveTo>
                  <a:lnTo>
                    <a:pt x="4816592" y="0"/>
                  </a:lnTo>
                  <a:lnTo>
                    <a:pt x="4816592" y="56248"/>
                  </a:lnTo>
                  <a:lnTo>
                    <a:pt x="0" y="56248"/>
                  </a:lnTo>
                  <a:close/>
                </a:path>
              </a:pathLst>
            </a:custGeom>
            <a:solidFill>
              <a:srgbClr val="5DA295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4816593" cy="943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389196" y="598254"/>
            <a:ext cx="851704" cy="777374"/>
          </a:xfrm>
          <a:custGeom>
            <a:avLst/>
            <a:gdLst/>
            <a:ahLst/>
            <a:cxnLst/>
            <a:rect l="l" t="t" r="r" b="b"/>
            <a:pathLst>
              <a:path w="851704" h="777374">
                <a:moveTo>
                  <a:pt x="0" y="0"/>
                </a:moveTo>
                <a:lnTo>
                  <a:pt x="851705" y="0"/>
                </a:lnTo>
                <a:lnTo>
                  <a:pt x="851705" y="777374"/>
                </a:lnTo>
                <a:lnTo>
                  <a:pt x="0" y="7773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32097" y="758341"/>
            <a:ext cx="365904" cy="337962"/>
          </a:xfrm>
          <a:custGeom>
            <a:avLst/>
            <a:gdLst/>
            <a:ahLst/>
            <a:cxnLst/>
            <a:rect l="l" t="t" r="r" b="b"/>
            <a:pathLst>
              <a:path w="365904" h="337962">
                <a:moveTo>
                  <a:pt x="0" y="0"/>
                </a:moveTo>
                <a:lnTo>
                  <a:pt x="365903" y="0"/>
                </a:lnTo>
                <a:lnTo>
                  <a:pt x="365903" y="337962"/>
                </a:lnTo>
                <a:lnTo>
                  <a:pt x="0" y="3379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6564000" y="8834437"/>
            <a:ext cx="955170" cy="762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299"/>
              </a:lnSpc>
            </a:pPr>
            <a:r>
              <a:rPr lang="en-US" sz="4499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08</a:t>
            </a:r>
          </a:p>
        </p:txBody>
      </p:sp>
      <p:sp>
        <p:nvSpPr>
          <p:cNvPr id="14" name="AutoShape 14"/>
          <p:cNvSpPr/>
          <p:nvPr/>
        </p:nvSpPr>
        <p:spPr>
          <a:xfrm>
            <a:off x="16564000" y="8877554"/>
            <a:ext cx="0" cy="761492"/>
          </a:xfrm>
          <a:prstGeom prst="line">
            <a:avLst/>
          </a:prstGeom>
          <a:ln w="95250" cap="flat">
            <a:solidFill>
              <a:srgbClr val="5DA29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AutoShape 15"/>
          <p:cNvSpPr/>
          <p:nvPr/>
        </p:nvSpPr>
        <p:spPr>
          <a:xfrm flipV="1">
            <a:off x="8324030" y="2922817"/>
            <a:ext cx="0" cy="4198362"/>
          </a:xfrm>
          <a:prstGeom prst="line">
            <a:avLst/>
          </a:prstGeom>
          <a:ln w="66675" cap="flat">
            <a:solidFill>
              <a:srgbClr val="5DA29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Freeform 16"/>
          <p:cNvSpPr/>
          <p:nvPr/>
        </p:nvSpPr>
        <p:spPr>
          <a:xfrm>
            <a:off x="3679812" y="6770983"/>
            <a:ext cx="1072583" cy="1072583"/>
          </a:xfrm>
          <a:custGeom>
            <a:avLst/>
            <a:gdLst/>
            <a:ahLst/>
            <a:cxnLst/>
            <a:rect l="l" t="t" r="r" b="b"/>
            <a:pathLst>
              <a:path w="1072583" h="1072583">
                <a:moveTo>
                  <a:pt x="0" y="0"/>
                </a:moveTo>
                <a:lnTo>
                  <a:pt x="1072583" y="0"/>
                </a:lnTo>
                <a:lnTo>
                  <a:pt x="1072583" y="1072583"/>
                </a:lnTo>
                <a:lnTo>
                  <a:pt x="0" y="107258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8961631" y="2856208"/>
            <a:ext cx="7351080" cy="30328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i="1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Rapid Application Development (RAD),</a:t>
            </a:r>
          </a:p>
          <a:p>
            <a:pPr algn="l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Metode </a:t>
            </a:r>
            <a:r>
              <a:rPr lang="en-US" sz="33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Pengembangan</a:t>
            </a:r>
            <a:r>
              <a:rPr lang="en-US" sz="33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Aplikasi</a:t>
            </a:r>
            <a:r>
              <a:rPr lang="en-US" sz="33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yang </a:t>
            </a:r>
            <a:r>
              <a:rPr lang="en-US" sz="33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menekankan</a:t>
            </a:r>
            <a:r>
              <a:rPr lang="en-US" sz="33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pada </a:t>
            </a:r>
            <a:r>
              <a:rPr lang="en-US" sz="33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kecepatan</a:t>
            </a:r>
            <a:r>
              <a:rPr lang="en-US" sz="33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dan </a:t>
            </a:r>
            <a:r>
              <a:rPr lang="en-US" sz="33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efisiensi</a:t>
            </a:r>
            <a:r>
              <a:rPr lang="en-US" sz="33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dalam</a:t>
            </a:r>
            <a:r>
              <a:rPr lang="en-US" sz="33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perancangan</a:t>
            </a:r>
            <a:r>
              <a:rPr lang="en-US" sz="33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aplikasi</a:t>
            </a:r>
            <a:r>
              <a:rPr lang="en-US" sz="33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yang </a:t>
            </a:r>
            <a:r>
              <a:rPr lang="en-US" sz="33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berfokus</a:t>
            </a:r>
            <a:r>
              <a:rPr lang="en-US" sz="33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pada user/</a:t>
            </a:r>
            <a:r>
              <a:rPr lang="en-US" sz="33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pengguna</a:t>
            </a:r>
            <a:endParaRPr lang="en-US" sz="3399" dirty="0">
              <a:solidFill>
                <a:srgbClr val="00000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445845" y="567841"/>
            <a:ext cx="3306550" cy="8527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 spc="14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UNIVERSITAS</a:t>
            </a:r>
          </a:p>
          <a:p>
            <a:pPr algn="l">
              <a:lnSpc>
                <a:spcPts val="3360"/>
              </a:lnSpc>
            </a:pPr>
            <a:r>
              <a:rPr lang="en-US" sz="2800" spc="14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NEGERI MANADO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429915" y="8963025"/>
            <a:ext cx="4752692" cy="500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200"/>
              </a:lnSpc>
            </a:pPr>
            <a:r>
              <a:rPr lang="en-US" sz="3000" b="1" spc="300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TEKNIK INFORMATIKA</a:t>
            </a:r>
          </a:p>
        </p:txBody>
      </p:sp>
      <p:sp>
        <p:nvSpPr>
          <p:cNvPr id="21" name="Freeform 21"/>
          <p:cNvSpPr/>
          <p:nvPr/>
        </p:nvSpPr>
        <p:spPr>
          <a:xfrm>
            <a:off x="14023509" y="649617"/>
            <a:ext cx="1792620" cy="1452022"/>
          </a:xfrm>
          <a:custGeom>
            <a:avLst/>
            <a:gdLst/>
            <a:ahLst/>
            <a:cxnLst/>
            <a:rect l="l" t="t" r="r" b="b"/>
            <a:pathLst>
              <a:path w="1792620" h="1452022">
                <a:moveTo>
                  <a:pt x="0" y="0"/>
                </a:moveTo>
                <a:lnTo>
                  <a:pt x="1792620" y="0"/>
                </a:lnTo>
                <a:lnTo>
                  <a:pt x="1792620" y="1452022"/>
                </a:lnTo>
                <a:lnTo>
                  <a:pt x="0" y="145202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A14486E-1F83-32A0-8DC2-5F4112C0B786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505" y="503294"/>
            <a:ext cx="942895" cy="94580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468736" y="7312653"/>
            <a:ext cx="4567570" cy="4567570"/>
          </a:xfrm>
          <a:custGeom>
            <a:avLst/>
            <a:gdLst/>
            <a:ahLst/>
            <a:cxnLst/>
            <a:rect l="l" t="t" r="r" b="b"/>
            <a:pathLst>
              <a:path w="4567570" h="4567570">
                <a:moveTo>
                  <a:pt x="0" y="0"/>
                </a:moveTo>
                <a:lnTo>
                  <a:pt x="4567569" y="0"/>
                </a:lnTo>
                <a:lnTo>
                  <a:pt x="4567569" y="4567570"/>
                </a:lnTo>
                <a:lnTo>
                  <a:pt x="0" y="45675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10073435"/>
            <a:ext cx="18288000" cy="213565"/>
            <a:chOff x="0" y="0"/>
            <a:chExt cx="4816593" cy="5624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56248"/>
            </a:xfrm>
            <a:custGeom>
              <a:avLst/>
              <a:gdLst/>
              <a:ahLst/>
              <a:cxnLst/>
              <a:rect l="l" t="t" r="r" b="b"/>
              <a:pathLst>
                <a:path w="4816592" h="56248">
                  <a:moveTo>
                    <a:pt x="0" y="0"/>
                  </a:moveTo>
                  <a:lnTo>
                    <a:pt x="4816592" y="0"/>
                  </a:lnTo>
                  <a:lnTo>
                    <a:pt x="4816592" y="56248"/>
                  </a:lnTo>
                  <a:lnTo>
                    <a:pt x="0" y="56248"/>
                  </a:lnTo>
                  <a:close/>
                </a:path>
              </a:pathLst>
            </a:custGeom>
            <a:solidFill>
              <a:srgbClr val="5DA295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943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3620519">
            <a:off x="15344460" y="-725042"/>
            <a:ext cx="2439080" cy="4207555"/>
          </a:xfrm>
          <a:custGeom>
            <a:avLst/>
            <a:gdLst/>
            <a:ahLst/>
            <a:cxnLst/>
            <a:rect l="l" t="t" r="r" b="b"/>
            <a:pathLst>
              <a:path w="2439080" h="4207555">
                <a:moveTo>
                  <a:pt x="0" y="0"/>
                </a:moveTo>
                <a:lnTo>
                  <a:pt x="2439080" y="0"/>
                </a:lnTo>
                <a:lnTo>
                  <a:pt x="2439080" y="4207555"/>
                </a:lnTo>
                <a:lnTo>
                  <a:pt x="0" y="42075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0" y="0"/>
            <a:ext cx="18288000" cy="213565"/>
            <a:chOff x="0" y="0"/>
            <a:chExt cx="4816593" cy="5624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816592" cy="56248"/>
            </a:xfrm>
            <a:custGeom>
              <a:avLst/>
              <a:gdLst/>
              <a:ahLst/>
              <a:cxnLst/>
              <a:rect l="l" t="t" r="r" b="b"/>
              <a:pathLst>
                <a:path w="4816592" h="56248">
                  <a:moveTo>
                    <a:pt x="0" y="0"/>
                  </a:moveTo>
                  <a:lnTo>
                    <a:pt x="4816592" y="0"/>
                  </a:lnTo>
                  <a:lnTo>
                    <a:pt x="4816592" y="56248"/>
                  </a:lnTo>
                  <a:lnTo>
                    <a:pt x="0" y="56248"/>
                  </a:lnTo>
                  <a:close/>
                </a:path>
              </a:pathLst>
            </a:custGeom>
            <a:solidFill>
              <a:srgbClr val="BFDDD2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816593" cy="943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389196" y="598254"/>
            <a:ext cx="851704" cy="777374"/>
          </a:xfrm>
          <a:custGeom>
            <a:avLst/>
            <a:gdLst/>
            <a:ahLst/>
            <a:cxnLst/>
            <a:rect l="l" t="t" r="r" b="b"/>
            <a:pathLst>
              <a:path w="851704" h="777374">
                <a:moveTo>
                  <a:pt x="0" y="0"/>
                </a:moveTo>
                <a:lnTo>
                  <a:pt x="851705" y="0"/>
                </a:lnTo>
                <a:lnTo>
                  <a:pt x="851705" y="777374"/>
                </a:lnTo>
                <a:lnTo>
                  <a:pt x="0" y="7773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632097" y="758341"/>
            <a:ext cx="365904" cy="337962"/>
          </a:xfrm>
          <a:custGeom>
            <a:avLst/>
            <a:gdLst/>
            <a:ahLst/>
            <a:cxnLst/>
            <a:rect l="l" t="t" r="r" b="b"/>
            <a:pathLst>
              <a:path w="365904" h="337962">
                <a:moveTo>
                  <a:pt x="0" y="0"/>
                </a:moveTo>
                <a:lnTo>
                  <a:pt x="365903" y="0"/>
                </a:lnTo>
                <a:lnTo>
                  <a:pt x="365903" y="337962"/>
                </a:lnTo>
                <a:lnTo>
                  <a:pt x="0" y="3379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6564000" y="8834437"/>
            <a:ext cx="955170" cy="762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299"/>
              </a:lnSpc>
            </a:pPr>
            <a:r>
              <a:rPr lang="en-US" sz="4499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09</a:t>
            </a:r>
          </a:p>
        </p:txBody>
      </p:sp>
      <p:sp>
        <p:nvSpPr>
          <p:cNvPr id="13" name="AutoShape 13"/>
          <p:cNvSpPr/>
          <p:nvPr/>
        </p:nvSpPr>
        <p:spPr>
          <a:xfrm>
            <a:off x="16564000" y="8877554"/>
            <a:ext cx="0" cy="761492"/>
          </a:xfrm>
          <a:prstGeom prst="line">
            <a:avLst/>
          </a:prstGeom>
          <a:ln w="95250" cap="flat">
            <a:solidFill>
              <a:srgbClr val="5DA295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4" name="Group 14"/>
          <p:cNvGrpSpPr/>
          <p:nvPr/>
        </p:nvGrpSpPr>
        <p:grpSpPr>
          <a:xfrm>
            <a:off x="3488601" y="2799548"/>
            <a:ext cx="4266133" cy="2133067"/>
            <a:chOff x="0" y="0"/>
            <a:chExt cx="812800" cy="4064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DA295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lIns="55976" tIns="55976" rIns="55976" bIns="55976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041173" y="2799548"/>
            <a:ext cx="4266133" cy="2133067"/>
            <a:chOff x="0" y="0"/>
            <a:chExt cx="812800" cy="4064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DDD2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lIns="55976" tIns="55976" rIns="55976" bIns="55976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593744" y="2799548"/>
            <a:ext cx="4266133" cy="2133067"/>
            <a:chOff x="0" y="0"/>
            <a:chExt cx="812800" cy="4064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lIns="55976" tIns="55976" rIns="55976" bIns="55976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>
            <a:off x="3253886" y="8877554"/>
            <a:ext cx="962217" cy="962217"/>
          </a:xfrm>
          <a:custGeom>
            <a:avLst/>
            <a:gdLst/>
            <a:ahLst/>
            <a:cxnLst/>
            <a:rect l="l" t="t" r="r" b="b"/>
            <a:pathLst>
              <a:path w="962217" h="962217">
                <a:moveTo>
                  <a:pt x="0" y="0"/>
                </a:moveTo>
                <a:lnTo>
                  <a:pt x="962217" y="0"/>
                </a:lnTo>
                <a:lnTo>
                  <a:pt x="962217" y="962217"/>
                </a:lnTo>
                <a:lnTo>
                  <a:pt x="0" y="96221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4149357" y="8573149"/>
            <a:ext cx="456551" cy="456551"/>
          </a:xfrm>
          <a:custGeom>
            <a:avLst/>
            <a:gdLst/>
            <a:ahLst/>
            <a:cxnLst/>
            <a:rect l="l" t="t" r="r" b="b"/>
            <a:pathLst>
              <a:path w="456551" h="456551">
                <a:moveTo>
                  <a:pt x="0" y="0"/>
                </a:moveTo>
                <a:lnTo>
                  <a:pt x="456551" y="0"/>
                </a:lnTo>
                <a:lnTo>
                  <a:pt x="456551" y="456551"/>
                </a:lnTo>
                <a:lnTo>
                  <a:pt x="0" y="45655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4936148" y="1091873"/>
            <a:ext cx="8415700" cy="1029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4800" b="1" dirty="0" err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Tahapan</a:t>
            </a:r>
            <a:r>
              <a:rPr lang="en-US" sz="4800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</a:t>
            </a:r>
            <a:r>
              <a:rPr lang="en-US" sz="4800" b="1" dirty="0" err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Pengembangan</a:t>
            </a:r>
            <a:r>
              <a:rPr lang="en-US" sz="4800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RAD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590121" y="3334990"/>
            <a:ext cx="2457406" cy="1000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99"/>
              </a:lnSpc>
            </a:pPr>
            <a:r>
              <a:rPr lang="en-US" sz="2800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Requirements Planning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796427" y="3516119"/>
            <a:ext cx="2654207" cy="4744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99"/>
              </a:lnSpc>
            </a:pPr>
            <a:r>
              <a:rPr lang="en-US" sz="2800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Implementation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445845" y="5730886"/>
            <a:ext cx="4874020" cy="5706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Requirements </a:t>
            </a:r>
            <a:r>
              <a:rPr lang="en-US" sz="3399" b="1" dirty="0" err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Planing</a:t>
            </a:r>
            <a:endParaRPr lang="en-US" sz="3399" b="1" dirty="0">
              <a:solidFill>
                <a:srgbClr val="000000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7312632" y="5777233"/>
            <a:ext cx="4081971" cy="5706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Design Workshop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3072226" y="5730886"/>
            <a:ext cx="3217563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Implementation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445845" y="6371045"/>
            <a:ext cx="3859113" cy="1588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fi-FI" sz="3200" dirty="0">
                <a:latin typeface="Glacial Indifference" panose="020B0604020202020204" charset="0"/>
              </a:rPr>
              <a:t>menentukan kebutuhan dan </a:t>
            </a:r>
          </a:p>
          <a:p>
            <a:pPr algn="ctr">
              <a:lnSpc>
                <a:spcPts val="4200"/>
              </a:lnSpc>
            </a:pPr>
            <a:r>
              <a:rPr lang="fi-FI" sz="3200" dirty="0">
                <a:latin typeface="Glacial Indifference" panose="020B0604020202020204" charset="0"/>
              </a:rPr>
              <a:t>tujuan sistem</a:t>
            </a:r>
            <a:endParaRPr lang="en-US" sz="3000" dirty="0">
              <a:solidFill>
                <a:srgbClr val="000000"/>
              </a:solidFill>
              <a:latin typeface="Glacial Indifference" panose="020B0604020202020204" charset="0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6353842" y="6347902"/>
            <a:ext cx="5640794" cy="15773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ID" sz="3000" dirty="0" err="1">
                <a:latin typeface="Glacial Indifference" panose="020B0604020202020204" charset="0"/>
              </a:rPr>
              <a:t>Pengembangan</a:t>
            </a:r>
            <a:r>
              <a:rPr lang="en-ID" sz="3000" dirty="0">
                <a:latin typeface="Glacial Indifference" panose="020B0604020202020204" charset="0"/>
              </a:rPr>
              <a:t> </a:t>
            </a:r>
            <a:r>
              <a:rPr lang="en-ID" sz="3000" dirty="0" err="1">
                <a:latin typeface="Glacial Indifference" panose="020B0604020202020204" charset="0"/>
              </a:rPr>
              <a:t>sistem</a:t>
            </a:r>
            <a:r>
              <a:rPr lang="en-ID" sz="3000" dirty="0">
                <a:latin typeface="Glacial Indifference" panose="020B0604020202020204" charset="0"/>
              </a:rPr>
              <a:t> </a:t>
            </a:r>
            <a:r>
              <a:rPr lang="en-ID" sz="3000" dirty="0" err="1">
                <a:latin typeface="Glacial Indifference" panose="020B0604020202020204" charset="0"/>
              </a:rPr>
              <a:t>dengan</a:t>
            </a:r>
            <a:r>
              <a:rPr lang="en-ID" sz="3000" dirty="0">
                <a:latin typeface="Glacial Indifference" panose="020B0604020202020204" charset="0"/>
              </a:rPr>
              <a:t> </a:t>
            </a:r>
            <a:r>
              <a:rPr lang="en-ID" sz="3000" dirty="0" err="1">
                <a:latin typeface="Glacial Indifference" panose="020B0604020202020204" charset="0"/>
              </a:rPr>
              <a:t>melibatkan</a:t>
            </a:r>
            <a:r>
              <a:rPr lang="en-ID" sz="3000" dirty="0">
                <a:latin typeface="Glacial Indifference" panose="020B0604020202020204" charset="0"/>
              </a:rPr>
              <a:t> </a:t>
            </a:r>
            <a:r>
              <a:rPr lang="en-ID" sz="3000" dirty="0" err="1">
                <a:latin typeface="Glacial Indifference" panose="020B0604020202020204" charset="0"/>
              </a:rPr>
              <a:t>pengguna</a:t>
            </a:r>
            <a:r>
              <a:rPr lang="en-ID" sz="3000" dirty="0">
                <a:latin typeface="Glacial Indifference" panose="020B0604020202020204" charset="0"/>
              </a:rPr>
              <a:t> </a:t>
            </a:r>
            <a:r>
              <a:rPr lang="en-ID" sz="3000" dirty="0" err="1">
                <a:latin typeface="Glacial Indifference" panose="020B0604020202020204" charset="0"/>
              </a:rPr>
              <a:t>untuk</a:t>
            </a:r>
            <a:r>
              <a:rPr lang="en-ID" sz="3000" dirty="0">
                <a:latin typeface="Glacial Indifference" panose="020B0604020202020204" charset="0"/>
              </a:rPr>
              <a:t> </a:t>
            </a:r>
            <a:r>
              <a:rPr lang="en-ID" sz="3000" dirty="0" err="1">
                <a:latin typeface="Glacial Indifference" panose="020B0604020202020204" charset="0"/>
              </a:rPr>
              <a:t>mendapatkan</a:t>
            </a:r>
            <a:r>
              <a:rPr lang="en-ID" sz="3000" dirty="0">
                <a:latin typeface="Glacial Indifference" panose="020B0604020202020204" charset="0"/>
              </a:rPr>
              <a:t> </a:t>
            </a:r>
            <a:r>
              <a:rPr lang="en-ID" sz="3000" dirty="0" err="1">
                <a:latin typeface="Glacial Indifference" panose="020B0604020202020204" charset="0"/>
              </a:rPr>
              <a:t>masukan</a:t>
            </a:r>
            <a:r>
              <a:rPr lang="en-ID" sz="3000" dirty="0">
                <a:latin typeface="Glacial Indifference" panose="020B0604020202020204" charset="0"/>
              </a:rPr>
              <a:t> </a:t>
            </a:r>
            <a:r>
              <a:rPr lang="en-ID" sz="3000" dirty="0" err="1">
                <a:latin typeface="Glacial Indifference" panose="020B0604020202020204" charset="0"/>
              </a:rPr>
              <a:t>langsung</a:t>
            </a:r>
            <a:r>
              <a:rPr lang="en-ID" sz="3000" dirty="0">
                <a:latin typeface="Glacial Indifference" panose="020B0604020202020204" charset="0"/>
              </a:rPr>
              <a:t>.</a:t>
            </a:r>
            <a:endParaRPr lang="en-US" sz="3000" dirty="0">
              <a:solidFill>
                <a:srgbClr val="000000"/>
              </a:solidFill>
              <a:latin typeface="Glacial Indifference" panose="020B0604020202020204" charset="0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12725401" y="6371045"/>
            <a:ext cx="4079953" cy="15837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ID" sz="3200" dirty="0" err="1">
                <a:latin typeface="Glacial Indifference" panose="020B0604020202020204" charset="0"/>
              </a:rPr>
              <a:t>sistem</a:t>
            </a:r>
            <a:r>
              <a:rPr lang="en-ID" sz="3200" dirty="0">
                <a:latin typeface="Glacial Indifference" panose="020B0604020202020204" charset="0"/>
              </a:rPr>
              <a:t> </a:t>
            </a:r>
            <a:r>
              <a:rPr lang="en-ID" sz="3200" dirty="0" err="1">
                <a:latin typeface="Glacial Indifference" panose="020B0604020202020204" charset="0"/>
              </a:rPr>
              <a:t>dikembangkan</a:t>
            </a:r>
            <a:r>
              <a:rPr lang="en-ID" sz="3200" dirty="0">
                <a:latin typeface="Glacial Indifference" panose="020B0604020202020204" charset="0"/>
              </a:rPr>
              <a:t>, </a:t>
            </a:r>
            <a:r>
              <a:rPr lang="en-ID" sz="3200" dirty="0" err="1">
                <a:latin typeface="Glacial Indifference" panose="020B0604020202020204" charset="0"/>
              </a:rPr>
              <a:t>diuji</a:t>
            </a:r>
            <a:r>
              <a:rPr lang="en-ID" sz="3200" dirty="0">
                <a:latin typeface="Glacial Indifference" panose="020B0604020202020204" charset="0"/>
              </a:rPr>
              <a:t>, </a:t>
            </a:r>
            <a:r>
              <a:rPr lang="en-ID" sz="3200" dirty="0" err="1">
                <a:latin typeface="Glacial Indifference" panose="020B0604020202020204" charset="0"/>
              </a:rPr>
              <a:t>lalu</a:t>
            </a:r>
            <a:r>
              <a:rPr lang="en-ID" sz="3200" dirty="0">
                <a:latin typeface="Glacial Indifference" panose="020B0604020202020204" charset="0"/>
              </a:rPr>
              <a:t> </a:t>
            </a:r>
            <a:r>
              <a:rPr lang="en-ID" sz="3200" dirty="0" err="1">
                <a:latin typeface="Glacial Indifference" panose="020B0604020202020204" charset="0"/>
              </a:rPr>
              <a:t>diterapkan</a:t>
            </a:r>
            <a:r>
              <a:rPr lang="en-ID" sz="3200" dirty="0">
                <a:latin typeface="Glacial Indifference" panose="020B0604020202020204" charset="0"/>
              </a:rPr>
              <a:t> di </a:t>
            </a:r>
            <a:r>
              <a:rPr lang="en-ID" sz="3200" dirty="0" err="1">
                <a:latin typeface="Glacial Indifference" panose="020B0604020202020204" charset="0"/>
              </a:rPr>
              <a:t>lingkungan</a:t>
            </a:r>
            <a:r>
              <a:rPr lang="en-ID" sz="3200" dirty="0">
                <a:latin typeface="Glacial Indifference" panose="020B0604020202020204" charset="0"/>
              </a:rPr>
              <a:t> </a:t>
            </a:r>
            <a:r>
              <a:rPr lang="en-ID" sz="3200" dirty="0" err="1">
                <a:latin typeface="Glacial Indifference" panose="020B0604020202020204" charset="0"/>
              </a:rPr>
              <a:t>kerja</a:t>
            </a:r>
            <a:r>
              <a:rPr lang="en-ID" sz="3200" dirty="0">
                <a:latin typeface="Glacial Indifference" panose="020B0604020202020204" charset="0"/>
              </a:rPr>
              <a:t>.</a:t>
            </a:r>
            <a:endParaRPr lang="en-US" sz="3000" dirty="0">
              <a:solidFill>
                <a:srgbClr val="000000"/>
              </a:solidFill>
              <a:latin typeface="Glacial Indifference" panose="020B0604020202020204" charset="0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1445845" y="567841"/>
            <a:ext cx="3859113" cy="8527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 spc="14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UNIVERSITAS</a:t>
            </a:r>
          </a:p>
          <a:p>
            <a:pPr algn="l">
              <a:lnSpc>
                <a:spcPts val="3360"/>
              </a:lnSpc>
            </a:pPr>
            <a:r>
              <a:rPr lang="en-US" sz="2800" spc="14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NEGERI MANADO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429915" y="8963025"/>
            <a:ext cx="4752692" cy="500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200"/>
              </a:lnSpc>
            </a:pPr>
            <a:r>
              <a:rPr lang="en-US" sz="3000" b="1" spc="300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TEKNIK INFORMATIKA</a:t>
            </a:r>
          </a:p>
        </p:txBody>
      </p:sp>
      <p:sp>
        <p:nvSpPr>
          <p:cNvPr id="43" name="TextBox 29">
            <a:extLst>
              <a:ext uri="{FF2B5EF4-FFF2-40B4-BE49-F238E27FC236}">
                <a16:creationId xmlns:a16="http://schemas.microsoft.com/office/drawing/2014/main" id="{8431A717-017F-51B1-E6BB-E081B12DAC89}"/>
              </a:ext>
            </a:extLst>
          </p:cNvPr>
          <p:cNvSpPr txBox="1"/>
          <p:nvPr/>
        </p:nvSpPr>
        <p:spPr>
          <a:xfrm>
            <a:off x="8157625" y="3365944"/>
            <a:ext cx="2457406" cy="98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99"/>
              </a:lnSpc>
            </a:pPr>
            <a:r>
              <a:rPr lang="en-US" sz="2800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Design Workshop</a:t>
            </a:r>
          </a:p>
        </p:txBody>
      </p:sp>
      <p:sp>
        <p:nvSpPr>
          <p:cNvPr id="47" name="AutoShape 15">
            <a:extLst>
              <a:ext uri="{FF2B5EF4-FFF2-40B4-BE49-F238E27FC236}">
                <a16:creationId xmlns:a16="http://schemas.microsoft.com/office/drawing/2014/main" id="{2830CF9A-BCDF-4079-7D39-2073D7D40318}"/>
              </a:ext>
            </a:extLst>
          </p:cNvPr>
          <p:cNvSpPr/>
          <p:nvPr/>
        </p:nvSpPr>
        <p:spPr>
          <a:xfrm flipH="1" flipV="1">
            <a:off x="6226576" y="5831690"/>
            <a:ext cx="1" cy="2736956"/>
          </a:xfrm>
          <a:prstGeom prst="line">
            <a:avLst/>
          </a:prstGeom>
          <a:ln w="66675" cap="flat">
            <a:solidFill>
              <a:srgbClr val="5DA29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8" name="AutoShape 15">
            <a:extLst>
              <a:ext uri="{FF2B5EF4-FFF2-40B4-BE49-F238E27FC236}">
                <a16:creationId xmlns:a16="http://schemas.microsoft.com/office/drawing/2014/main" id="{ACD73710-25C1-9240-5544-AFBE4ABE58EA}"/>
              </a:ext>
            </a:extLst>
          </p:cNvPr>
          <p:cNvSpPr/>
          <p:nvPr/>
        </p:nvSpPr>
        <p:spPr>
          <a:xfrm flipH="1" flipV="1">
            <a:off x="12387369" y="5721963"/>
            <a:ext cx="1" cy="2736956"/>
          </a:xfrm>
          <a:prstGeom prst="line">
            <a:avLst/>
          </a:prstGeom>
          <a:ln w="66675" cap="flat">
            <a:solidFill>
              <a:srgbClr val="5DA295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2FA7250-CC47-9724-48B0-CAD4CC6BF895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505" y="503294"/>
            <a:ext cx="942895" cy="94580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FDDD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891E24-3346-79F8-CE3F-2ADB86204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7B54BD5-B6C4-06F0-23C8-D0F13082F717}"/>
              </a:ext>
            </a:extLst>
          </p:cNvPr>
          <p:cNvSpPr txBox="1"/>
          <p:nvPr/>
        </p:nvSpPr>
        <p:spPr>
          <a:xfrm>
            <a:off x="2236675" y="2770483"/>
            <a:ext cx="6104024" cy="254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00"/>
              </a:lnSpc>
            </a:pPr>
            <a:r>
              <a:rPr lang="en-US" sz="6000" b="1" dirty="0" err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Algoritma</a:t>
            </a:r>
            <a:r>
              <a:rPr lang="en-US" sz="6000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</a:t>
            </a:r>
          </a:p>
          <a:p>
            <a:pPr algn="l">
              <a:lnSpc>
                <a:spcPts val="10500"/>
              </a:lnSpc>
            </a:pPr>
            <a:r>
              <a:rPr lang="en-US" sz="6000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Linear Search</a:t>
            </a:r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D888483-80FC-EE37-22F8-A9D6477AB088}"/>
              </a:ext>
            </a:extLst>
          </p:cNvPr>
          <p:cNvSpPr/>
          <p:nvPr/>
        </p:nvSpPr>
        <p:spPr>
          <a:xfrm>
            <a:off x="389196" y="7453479"/>
            <a:ext cx="4072345" cy="4066842"/>
          </a:xfrm>
          <a:custGeom>
            <a:avLst/>
            <a:gdLst/>
            <a:ahLst/>
            <a:cxnLst/>
            <a:rect l="l" t="t" r="r" b="b"/>
            <a:pathLst>
              <a:path w="4072345" h="4066842">
                <a:moveTo>
                  <a:pt x="0" y="0"/>
                </a:moveTo>
                <a:lnTo>
                  <a:pt x="4072345" y="0"/>
                </a:lnTo>
                <a:lnTo>
                  <a:pt x="4072345" y="4066842"/>
                </a:lnTo>
                <a:lnTo>
                  <a:pt x="0" y="40668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0773CE31-E54C-8953-B7AF-70D78496C0FB}"/>
              </a:ext>
            </a:extLst>
          </p:cNvPr>
          <p:cNvGrpSpPr/>
          <p:nvPr/>
        </p:nvGrpSpPr>
        <p:grpSpPr>
          <a:xfrm>
            <a:off x="0" y="10073435"/>
            <a:ext cx="18288000" cy="213565"/>
            <a:chOff x="0" y="0"/>
            <a:chExt cx="4816593" cy="56248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1133CA72-2B35-05B8-F7EC-1347BA2DC21D}"/>
                </a:ext>
              </a:extLst>
            </p:cNvPr>
            <p:cNvSpPr/>
            <p:nvPr/>
          </p:nvSpPr>
          <p:spPr>
            <a:xfrm>
              <a:off x="0" y="0"/>
              <a:ext cx="4816592" cy="56248"/>
            </a:xfrm>
            <a:custGeom>
              <a:avLst/>
              <a:gdLst/>
              <a:ahLst/>
              <a:cxnLst/>
              <a:rect l="l" t="t" r="r" b="b"/>
              <a:pathLst>
                <a:path w="4816592" h="56248">
                  <a:moveTo>
                    <a:pt x="0" y="0"/>
                  </a:moveTo>
                  <a:lnTo>
                    <a:pt x="4816592" y="0"/>
                  </a:lnTo>
                  <a:lnTo>
                    <a:pt x="4816592" y="56248"/>
                  </a:lnTo>
                  <a:lnTo>
                    <a:pt x="0" y="56248"/>
                  </a:lnTo>
                  <a:close/>
                </a:path>
              </a:pathLst>
            </a:custGeom>
            <a:solidFill>
              <a:srgbClr val="5DA295"/>
            </a:solidFill>
          </p:spPr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21664627-3EFC-BCBA-A3C7-21C5EEB344E6}"/>
                </a:ext>
              </a:extLst>
            </p:cNvPr>
            <p:cNvSpPr txBox="1"/>
            <p:nvPr/>
          </p:nvSpPr>
          <p:spPr>
            <a:xfrm>
              <a:off x="0" y="-38100"/>
              <a:ext cx="4816593" cy="943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F08030C4-136D-F6FD-51CC-CBA54157A2EE}"/>
              </a:ext>
            </a:extLst>
          </p:cNvPr>
          <p:cNvSpPr/>
          <p:nvPr/>
        </p:nvSpPr>
        <p:spPr>
          <a:xfrm flipV="1">
            <a:off x="14729434" y="-317609"/>
            <a:ext cx="4180831" cy="3386473"/>
          </a:xfrm>
          <a:custGeom>
            <a:avLst/>
            <a:gdLst/>
            <a:ahLst/>
            <a:cxnLst/>
            <a:rect l="l" t="t" r="r" b="b"/>
            <a:pathLst>
              <a:path w="4180831" h="3386473">
                <a:moveTo>
                  <a:pt x="0" y="3386473"/>
                </a:moveTo>
                <a:lnTo>
                  <a:pt x="4180831" y="3386473"/>
                </a:lnTo>
                <a:lnTo>
                  <a:pt x="4180831" y="0"/>
                </a:lnTo>
                <a:lnTo>
                  <a:pt x="0" y="0"/>
                </a:lnTo>
                <a:lnTo>
                  <a:pt x="0" y="338647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5E3307A5-D7B8-E28B-64AD-F3828B6DEEE0}"/>
              </a:ext>
            </a:extLst>
          </p:cNvPr>
          <p:cNvGrpSpPr/>
          <p:nvPr/>
        </p:nvGrpSpPr>
        <p:grpSpPr>
          <a:xfrm>
            <a:off x="0" y="0"/>
            <a:ext cx="18288000" cy="213565"/>
            <a:chOff x="0" y="0"/>
            <a:chExt cx="4816593" cy="56248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80DD80FF-DC4F-6E45-A1E5-83C167916D4E}"/>
                </a:ext>
              </a:extLst>
            </p:cNvPr>
            <p:cNvSpPr/>
            <p:nvPr/>
          </p:nvSpPr>
          <p:spPr>
            <a:xfrm>
              <a:off x="0" y="0"/>
              <a:ext cx="4816592" cy="56248"/>
            </a:xfrm>
            <a:custGeom>
              <a:avLst/>
              <a:gdLst/>
              <a:ahLst/>
              <a:cxnLst/>
              <a:rect l="l" t="t" r="r" b="b"/>
              <a:pathLst>
                <a:path w="4816592" h="56248">
                  <a:moveTo>
                    <a:pt x="0" y="0"/>
                  </a:moveTo>
                  <a:lnTo>
                    <a:pt x="4816592" y="0"/>
                  </a:lnTo>
                  <a:lnTo>
                    <a:pt x="4816592" y="56248"/>
                  </a:lnTo>
                  <a:lnTo>
                    <a:pt x="0" y="56248"/>
                  </a:lnTo>
                  <a:close/>
                </a:path>
              </a:pathLst>
            </a:custGeom>
            <a:solidFill>
              <a:srgbClr val="5DA295"/>
            </a:solidFill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2E6B57BB-9C43-06F2-6E0C-DBB0EBA1F34A}"/>
                </a:ext>
              </a:extLst>
            </p:cNvPr>
            <p:cNvSpPr txBox="1"/>
            <p:nvPr/>
          </p:nvSpPr>
          <p:spPr>
            <a:xfrm>
              <a:off x="0" y="-38100"/>
              <a:ext cx="4816593" cy="943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EDED92E0-CC36-086E-1B54-8CDC08636F17}"/>
              </a:ext>
            </a:extLst>
          </p:cNvPr>
          <p:cNvSpPr/>
          <p:nvPr/>
        </p:nvSpPr>
        <p:spPr>
          <a:xfrm>
            <a:off x="389196" y="598254"/>
            <a:ext cx="851704" cy="777374"/>
          </a:xfrm>
          <a:custGeom>
            <a:avLst/>
            <a:gdLst/>
            <a:ahLst/>
            <a:cxnLst/>
            <a:rect l="l" t="t" r="r" b="b"/>
            <a:pathLst>
              <a:path w="851704" h="777374">
                <a:moveTo>
                  <a:pt x="0" y="0"/>
                </a:moveTo>
                <a:lnTo>
                  <a:pt x="851705" y="0"/>
                </a:lnTo>
                <a:lnTo>
                  <a:pt x="851705" y="777374"/>
                </a:lnTo>
                <a:lnTo>
                  <a:pt x="0" y="7773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11443E72-D816-069E-E4B7-D74F47432E7C}"/>
              </a:ext>
            </a:extLst>
          </p:cNvPr>
          <p:cNvSpPr/>
          <p:nvPr/>
        </p:nvSpPr>
        <p:spPr>
          <a:xfrm>
            <a:off x="632097" y="758341"/>
            <a:ext cx="365904" cy="337962"/>
          </a:xfrm>
          <a:custGeom>
            <a:avLst/>
            <a:gdLst/>
            <a:ahLst/>
            <a:cxnLst/>
            <a:rect l="l" t="t" r="r" b="b"/>
            <a:pathLst>
              <a:path w="365904" h="337962">
                <a:moveTo>
                  <a:pt x="0" y="0"/>
                </a:moveTo>
                <a:lnTo>
                  <a:pt x="365903" y="0"/>
                </a:lnTo>
                <a:lnTo>
                  <a:pt x="365903" y="337962"/>
                </a:lnTo>
                <a:lnTo>
                  <a:pt x="0" y="3379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84DF7191-19BB-66D2-451B-6E3FCA61A441}"/>
              </a:ext>
            </a:extLst>
          </p:cNvPr>
          <p:cNvSpPr txBox="1"/>
          <p:nvPr/>
        </p:nvSpPr>
        <p:spPr>
          <a:xfrm>
            <a:off x="16564000" y="8834437"/>
            <a:ext cx="955170" cy="762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299"/>
              </a:lnSpc>
            </a:pPr>
            <a:r>
              <a:rPr lang="en-US" sz="4499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10</a:t>
            </a:r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7D284E4C-92E7-3CA5-A5C7-07468FD3898E}"/>
              </a:ext>
            </a:extLst>
          </p:cNvPr>
          <p:cNvSpPr/>
          <p:nvPr/>
        </p:nvSpPr>
        <p:spPr>
          <a:xfrm>
            <a:off x="16564000" y="8877554"/>
            <a:ext cx="0" cy="761492"/>
          </a:xfrm>
          <a:prstGeom prst="line">
            <a:avLst/>
          </a:prstGeom>
          <a:ln w="95250" cap="flat">
            <a:solidFill>
              <a:srgbClr val="5DA29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8BDC341B-CA1A-FEF5-892B-113E4687FD91}"/>
              </a:ext>
            </a:extLst>
          </p:cNvPr>
          <p:cNvSpPr/>
          <p:nvPr/>
        </p:nvSpPr>
        <p:spPr>
          <a:xfrm flipV="1">
            <a:off x="8324030" y="2922817"/>
            <a:ext cx="0" cy="4198362"/>
          </a:xfrm>
          <a:prstGeom prst="line">
            <a:avLst/>
          </a:prstGeom>
          <a:ln w="66675" cap="flat">
            <a:solidFill>
              <a:srgbClr val="5DA29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2FEFE5C0-E71F-F701-6572-A67D3CDFD990}"/>
              </a:ext>
            </a:extLst>
          </p:cNvPr>
          <p:cNvSpPr/>
          <p:nvPr/>
        </p:nvSpPr>
        <p:spPr>
          <a:xfrm>
            <a:off x="3679812" y="6770983"/>
            <a:ext cx="1072583" cy="1072583"/>
          </a:xfrm>
          <a:custGeom>
            <a:avLst/>
            <a:gdLst/>
            <a:ahLst/>
            <a:cxnLst/>
            <a:rect l="l" t="t" r="r" b="b"/>
            <a:pathLst>
              <a:path w="1072583" h="1072583">
                <a:moveTo>
                  <a:pt x="0" y="0"/>
                </a:moveTo>
                <a:lnTo>
                  <a:pt x="1072583" y="0"/>
                </a:lnTo>
                <a:lnTo>
                  <a:pt x="1072583" y="1072583"/>
                </a:lnTo>
                <a:lnTo>
                  <a:pt x="0" y="107258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B91E7277-5118-A930-22FD-00CBBB1DAF87}"/>
              </a:ext>
            </a:extLst>
          </p:cNvPr>
          <p:cNvSpPr txBox="1"/>
          <p:nvPr/>
        </p:nvSpPr>
        <p:spPr>
          <a:xfrm>
            <a:off x="8961630" y="2856208"/>
            <a:ext cx="7802363" cy="48795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ID" sz="3600" dirty="0" err="1">
                <a:latin typeface="Glacial Indifference" panose="020B0604020202020204" charset="0"/>
              </a:rPr>
              <a:t>Algoritma</a:t>
            </a:r>
            <a:r>
              <a:rPr lang="en-ID" sz="3600" dirty="0">
                <a:latin typeface="Glacial Indifference" panose="020B0604020202020204" charset="0"/>
              </a:rPr>
              <a:t> </a:t>
            </a:r>
            <a:r>
              <a:rPr lang="en-ID" sz="3600" dirty="0" err="1">
                <a:latin typeface="Glacial Indifference" panose="020B0604020202020204" charset="0"/>
              </a:rPr>
              <a:t>pencarian</a:t>
            </a:r>
            <a:r>
              <a:rPr lang="en-ID" sz="3600" dirty="0">
                <a:latin typeface="Glacial Indifference" panose="020B0604020202020204" charset="0"/>
              </a:rPr>
              <a:t> yang </a:t>
            </a:r>
            <a:r>
              <a:rPr lang="en-ID" sz="3600" dirty="0" err="1">
                <a:latin typeface="Glacial Indifference" panose="020B0604020202020204" charset="0"/>
              </a:rPr>
              <a:t>memeriksa</a:t>
            </a:r>
            <a:r>
              <a:rPr lang="en-ID" sz="3600" dirty="0">
                <a:latin typeface="Glacial Indifference" panose="020B0604020202020204" charset="0"/>
              </a:rPr>
              <a:t> data </a:t>
            </a:r>
            <a:r>
              <a:rPr lang="en-ID" sz="3600" b="1" dirty="0" err="1">
                <a:latin typeface="Glacial Indifference" panose="020B0604020202020204" charset="0"/>
              </a:rPr>
              <a:t>satu</a:t>
            </a:r>
            <a:r>
              <a:rPr lang="en-ID" sz="3600" b="1" dirty="0">
                <a:latin typeface="Glacial Indifference" panose="020B0604020202020204" charset="0"/>
              </a:rPr>
              <a:t> per </a:t>
            </a:r>
            <a:r>
              <a:rPr lang="en-ID" sz="3600" b="1" dirty="0" err="1">
                <a:latin typeface="Glacial Indifference" panose="020B0604020202020204" charset="0"/>
              </a:rPr>
              <a:t>satu</a:t>
            </a:r>
            <a:r>
              <a:rPr lang="en-ID" sz="3600" b="1" dirty="0">
                <a:latin typeface="Glacial Indifference" panose="020B0604020202020204" charset="0"/>
              </a:rPr>
              <a:t> </a:t>
            </a:r>
            <a:r>
              <a:rPr lang="en-ID" sz="3600" b="1" dirty="0" err="1">
                <a:latin typeface="Glacial Indifference" panose="020B0604020202020204" charset="0"/>
              </a:rPr>
              <a:t>dari</a:t>
            </a:r>
            <a:r>
              <a:rPr lang="en-ID" sz="3600" b="1" dirty="0">
                <a:latin typeface="Glacial Indifference" panose="020B0604020202020204" charset="0"/>
              </a:rPr>
              <a:t> </a:t>
            </a:r>
            <a:r>
              <a:rPr lang="en-ID" sz="3600" b="1" dirty="0" err="1">
                <a:latin typeface="Glacial Indifference" panose="020B0604020202020204" charset="0"/>
              </a:rPr>
              <a:t>awal</a:t>
            </a:r>
            <a:r>
              <a:rPr lang="en-ID" sz="3600" b="1" dirty="0">
                <a:latin typeface="Glacial Indifference" panose="020B0604020202020204" charset="0"/>
              </a:rPr>
              <a:t> </a:t>
            </a:r>
            <a:r>
              <a:rPr lang="en-ID" sz="3600" b="1" dirty="0" err="1">
                <a:latin typeface="Glacial Indifference" panose="020B0604020202020204" charset="0"/>
              </a:rPr>
              <a:t>hingga</a:t>
            </a:r>
            <a:r>
              <a:rPr lang="en-ID" sz="3600" b="1" dirty="0">
                <a:latin typeface="Glacial Indifference" panose="020B0604020202020204" charset="0"/>
              </a:rPr>
              <a:t> </a:t>
            </a:r>
            <a:r>
              <a:rPr lang="en-ID" sz="3600" b="1" dirty="0" err="1">
                <a:latin typeface="Glacial Indifference" panose="020B0604020202020204" charset="0"/>
              </a:rPr>
              <a:t>akhir</a:t>
            </a:r>
            <a:r>
              <a:rPr lang="en-ID" sz="3600" dirty="0">
                <a:latin typeface="Glacial Indifference" panose="020B0604020202020204" charset="0"/>
              </a:rPr>
              <a:t>.</a:t>
            </a:r>
          </a:p>
          <a:p>
            <a:pPr marL="457200" indent="-457200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it-IT" sz="3600" dirty="0">
                <a:latin typeface="Glacial Indifference" panose="020B0604020202020204" charset="0"/>
              </a:rPr>
              <a:t>kumpulan data seperti array atau list</a:t>
            </a:r>
          </a:p>
          <a:p>
            <a:pPr marL="457200" indent="-457200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it-IT" sz="3600" dirty="0">
                <a:latin typeface="Glacial Indifference" panose="020B0604020202020204" charset="0"/>
              </a:rPr>
              <a:t>tidak memerlukan pengurutan data</a:t>
            </a:r>
          </a:p>
          <a:p>
            <a:pPr marL="457200" indent="-457200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it-IT" sz="3600" dirty="0">
                <a:solidFill>
                  <a:srgbClr val="000000"/>
                </a:solidFill>
                <a:latin typeface="Glacial Indifference" panose="020B0604020202020204" charset="0"/>
                <a:ea typeface="Glacial Indifference"/>
                <a:cs typeface="Glacial Indifference"/>
                <a:sym typeface="Glacial Indifference"/>
              </a:rPr>
              <a:t>Digunakan dengan jumlah data puluhan – ratusan &gt; kurang efisien</a:t>
            </a:r>
          </a:p>
          <a:p>
            <a:pPr marL="457200" indent="-457200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en-US" sz="3399" dirty="0">
              <a:solidFill>
                <a:srgbClr val="000000"/>
              </a:solidFill>
              <a:latin typeface="Glacial Indifference" panose="020B0604020202020204" charset="0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8CDA1FE-BC77-8689-A204-C45F14CEA052}"/>
              </a:ext>
            </a:extLst>
          </p:cNvPr>
          <p:cNvSpPr txBox="1"/>
          <p:nvPr/>
        </p:nvSpPr>
        <p:spPr>
          <a:xfrm>
            <a:off x="1445845" y="567841"/>
            <a:ext cx="3306550" cy="8527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 spc="14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UNIVERSITAS</a:t>
            </a:r>
          </a:p>
          <a:p>
            <a:pPr algn="l">
              <a:lnSpc>
                <a:spcPts val="3360"/>
              </a:lnSpc>
            </a:pPr>
            <a:r>
              <a:rPr lang="en-US" sz="2800" spc="14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NEGERI MANADO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FE31AE48-AA43-8DB7-2B78-F67E982395EA}"/>
              </a:ext>
            </a:extLst>
          </p:cNvPr>
          <p:cNvSpPr txBox="1"/>
          <p:nvPr/>
        </p:nvSpPr>
        <p:spPr>
          <a:xfrm>
            <a:off x="11429915" y="8963025"/>
            <a:ext cx="4752692" cy="500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200"/>
              </a:lnSpc>
            </a:pPr>
            <a:r>
              <a:rPr lang="en-US" sz="3000" b="1" spc="300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TEKNIK INFORMATIKA</a:t>
            </a:r>
          </a:p>
        </p:txBody>
      </p:sp>
      <p:sp>
        <p:nvSpPr>
          <p:cNvPr id="21" name="Freeform 21">
            <a:extLst>
              <a:ext uri="{FF2B5EF4-FFF2-40B4-BE49-F238E27FC236}">
                <a16:creationId xmlns:a16="http://schemas.microsoft.com/office/drawing/2014/main" id="{493FBCBF-4382-C322-B717-E142E168B142}"/>
              </a:ext>
            </a:extLst>
          </p:cNvPr>
          <p:cNvSpPr/>
          <p:nvPr/>
        </p:nvSpPr>
        <p:spPr>
          <a:xfrm>
            <a:off x="14023509" y="649617"/>
            <a:ext cx="1792620" cy="1452022"/>
          </a:xfrm>
          <a:custGeom>
            <a:avLst/>
            <a:gdLst/>
            <a:ahLst/>
            <a:cxnLst/>
            <a:rect l="l" t="t" r="r" b="b"/>
            <a:pathLst>
              <a:path w="1792620" h="1452022">
                <a:moveTo>
                  <a:pt x="0" y="0"/>
                </a:moveTo>
                <a:lnTo>
                  <a:pt x="1792620" y="0"/>
                </a:lnTo>
                <a:lnTo>
                  <a:pt x="1792620" y="1452022"/>
                </a:lnTo>
                <a:lnTo>
                  <a:pt x="0" y="145202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53509A8-6C9C-7A64-4235-E21E206D7FF4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505" y="503294"/>
            <a:ext cx="942895" cy="945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2007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13273" y="6860445"/>
            <a:ext cx="1084179" cy="1084179"/>
          </a:xfrm>
          <a:custGeom>
            <a:avLst/>
            <a:gdLst/>
            <a:ahLst/>
            <a:cxnLst/>
            <a:rect l="l" t="t" r="r" b="b"/>
            <a:pathLst>
              <a:path w="1084179" h="1084179">
                <a:moveTo>
                  <a:pt x="0" y="0"/>
                </a:moveTo>
                <a:lnTo>
                  <a:pt x="1084179" y="0"/>
                </a:lnTo>
                <a:lnTo>
                  <a:pt x="1084179" y="1084179"/>
                </a:lnTo>
                <a:lnTo>
                  <a:pt x="0" y="10841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7458936"/>
            <a:ext cx="3878430" cy="3141528"/>
          </a:xfrm>
          <a:custGeom>
            <a:avLst/>
            <a:gdLst/>
            <a:ahLst/>
            <a:cxnLst/>
            <a:rect l="l" t="t" r="r" b="b"/>
            <a:pathLst>
              <a:path w="3878430" h="3141528">
                <a:moveTo>
                  <a:pt x="0" y="0"/>
                </a:moveTo>
                <a:lnTo>
                  <a:pt x="3878430" y="0"/>
                </a:lnTo>
                <a:lnTo>
                  <a:pt x="3878430" y="3141528"/>
                </a:lnTo>
                <a:lnTo>
                  <a:pt x="0" y="31415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0" y="10073435"/>
            <a:ext cx="18288000" cy="213565"/>
            <a:chOff x="0" y="0"/>
            <a:chExt cx="4816593" cy="5624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2" cy="56248"/>
            </a:xfrm>
            <a:custGeom>
              <a:avLst/>
              <a:gdLst/>
              <a:ahLst/>
              <a:cxnLst/>
              <a:rect l="l" t="t" r="r" b="b"/>
              <a:pathLst>
                <a:path w="4816592" h="56248">
                  <a:moveTo>
                    <a:pt x="0" y="0"/>
                  </a:moveTo>
                  <a:lnTo>
                    <a:pt x="4816592" y="0"/>
                  </a:lnTo>
                  <a:lnTo>
                    <a:pt x="4816592" y="56248"/>
                  </a:lnTo>
                  <a:lnTo>
                    <a:pt x="0" y="56248"/>
                  </a:lnTo>
                  <a:close/>
                </a:path>
              </a:pathLst>
            </a:custGeom>
            <a:solidFill>
              <a:srgbClr val="5DA295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4816593" cy="943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0"/>
            <a:ext cx="18288000" cy="213565"/>
            <a:chOff x="0" y="0"/>
            <a:chExt cx="4816593" cy="5624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816592" cy="56248"/>
            </a:xfrm>
            <a:custGeom>
              <a:avLst/>
              <a:gdLst/>
              <a:ahLst/>
              <a:cxnLst/>
              <a:rect l="l" t="t" r="r" b="b"/>
              <a:pathLst>
                <a:path w="4816592" h="56248">
                  <a:moveTo>
                    <a:pt x="0" y="0"/>
                  </a:moveTo>
                  <a:lnTo>
                    <a:pt x="4816592" y="0"/>
                  </a:lnTo>
                  <a:lnTo>
                    <a:pt x="4816592" y="56248"/>
                  </a:lnTo>
                  <a:lnTo>
                    <a:pt x="0" y="56248"/>
                  </a:lnTo>
                  <a:close/>
                </a:path>
              </a:pathLst>
            </a:custGeom>
            <a:solidFill>
              <a:srgbClr val="BFDDD2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816593" cy="943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389196" y="598254"/>
            <a:ext cx="851704" cy="777374"/>
          </a:xfrm>
          <a:custGeom>
            <a:avLst/>
            <a:gdLst/>
            <a:ahLst/>
            <a:cxnLst/>
            <a:rect l="l" t="t" r="r" b="b"/>
            <a:pathLst>
              <a:path w="851704" h="777374">
                <a:moveTo>
                  <a:pt x="0" y="0"/>
                </a:moveTo>
                <a:lnTo>
                  <a:pt x="851705" y="0"/>
                </a:lnTo>
                <a:lnTo>
                  <a:pt x="851705" y="777374"/>
                </a:lnTo>
                <a:lnTo>
                  <a:pt x="0" y="7773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632097" y="758341"/>
            <a:ext cx="365904" cy="337962"/>
          </a:xfrm>
          <a:custGeom>
            <a:avLst/>
            <a:gdLst/>
            <a:ahLst/>
            <a:cxnLst/>
            <a:rect l="l" t="t" r="r" b="b"/>
            <a:pathLst>
              <a:path w="365904" h="337962">
                <a:moveTo>
                  <a:pt x="0" y="0"/>
                </a:moveTo>
                <a:lnTo>
                  <a:pt x="365903" y="0"/>
                </a:lnTo>
                <a:lnTo>
                  <a:pt x="365903" y="337962"/>
                </a:lnTo>
                <a:lnTo>
                  <a:pt x="0" y="3379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6564000" y="8834437"/>
            <a:ext cx="955170" cy="762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299"/>
              </a:lnSpc>
            </a:pPr>
            <a:r>
              <a:rPr lang="en-US" sz="4499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11</a:t>
            </a:r>
          </a:p>
        </p:txBody>
      </p:sp>
      <p:sp>
        <p:nvSpPr>
          <p:cNvPr id="13" name="AutoShape 13"/>
          <p:cNvSpPr/>
          <p:nvPr/>
        </p:nvSpPr>
        <p:spPr>
          <a:xfrm>
            <a:off x="16564000" y="8877554"/>
            <a:ext cx="0" cy="761492"/>
          </a:xfrm>
          <a:prstGeom prst="line">
            <a:avLst/>
          </a:prstGeom>
          <a:ln w="95250" cap="flat">
            <a:solidFill>
              <a:srgbClr val="5DA29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Freeform 15"/>
          <p:cNvSpPr/>
          <p:nvPr/>
        </p:nvSpPr>
        <p:spPr>
          <a:xfrm>
            <a:off x="15407088" y="-626487"/>
            <a:ext cx="3268995" cy="3445581"/>
          </a:xfrm>
          <a:custGeom>
            <a:avLst/>
            <a:gdLst/>
            <a:ahLst/>
            <a:cxnLst/>
            <a:rect l="l" t="t" r="r" b="b"/>
            <a:pathLst>
              <a:path w="3268995" h="3445581">
                <a:moveTo>
                  <a:pt x="0" y="0"/>
                </a:moveTo>
                <a:lnTo>
                  <a:pt x="3268994" y="0"/>
                </a:lnTo>
                <a:lnTo>
                  <a:pt x="3268994" y="3445580"/>
                </a:lnTo>
                <a:lnTo>
                  <a:pt x="0" y="344558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6066996" y="2441475"/>
            <a:ext cx="1089258" cy="1089258"/>
          </a:xfrm>
          <a:custGeom>
            <a:avLst/>
            <a:gdLst/>
            <a:ahLst/>
            <a:cxnLst/>
            <a:rect l="l" t="t" r="r" b="b"/>
            <a:pathLst>
              <a:path w="1089258" h="1089258">
                <a:moveTo>
                  <a:pt x="0" y="0"/>
                </a:moveTo>
                <a:lnTo>
                  <a:pt x="1089258" y="0"/>
                </a:lnTo>
                <a:lnTo>
                  <a:pt x="1089258" y="1089258"/>
                </a:lnTo>
                <a:lnTo>
                  <a:pt x="0" y="108925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240901" y="6314379"/>
            <a:ext cx="456551" cy="456551"/>
          </a:xfrm>
          <a:custGeom>
            <a:avLst/>
            <a:gdLst/>
            <a:ahLst/>
            <a:cxnLst/>
            <a:rect l="l" t="t" r="r" b="b"/>
            <a:pathLst>
              <a:path w="456551" h="456551">
                <a:moveTo>
                  <a:pt x="0" y="0"/>
                </a:moveTo>
                <a:lnTo>
                  <a:pt x="456551" y="0"/>
                </a:lnTo>
                <a:lnTo>
                  <a:pt x="456551" y="456551"/>
                </a:lnTo>
                <a:lnTo>
                  <a:pt x="0" y="45655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445845" y="567841"/>
            <a:ext cx="3129058" cy="8527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 spc="14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UNIVERSITAS</a:t>
            </a:r>
          </a:p>
          <a:p>
            <a:pPr algn="l">
              <a:lnSpc>
                <a:spcPts val="3360"/>
              </a:lnSpc>
            </a:pPr>
            <a:r>
              <a:rPr lang="en-US" sz="2800" spc="14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NEGERI MANADO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429915" y="8963025"/>
            <a:ext cx="4752692" cy="500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200"/>
              </a:lnSpc>
            </a:pPr>
            <a:r>
              <a:rPr lang="en-US" sz="3000" b="1" spc="300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TEKNIK INFORMATIKA</a:t>
            </a:r>
          </a:p>
        </p:txBody>
      </p:sp>
      <p:sp>
        <p:nvSpPr>
          <p:cNvPr id="23" name="TextBox 19">
            <a:extLst>
              <a:ext uri="{FF2B5EF4-FFF2-40B4-BE49-F238E27FC236}">
                <a16:creationId xmlns:a16="http://schemas.microsoft.com/office/drawing/2014/main" id="{3706B6E2-2CD2-4B45-A4CA-DD168000A14A}"/>
              </a:ext>
            </a:extLst>
          </p:cNvPr>
          <p:cNvSpPr txBox="1"/>
          <p:nvPr/>
        </p:nvSpPr>
        <p:spPr>
          <a:xfrm>
            <a:off x="4574903" y="688269"/>
            <a:ext cx="9386312" cy="11701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5000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Alur </a:t>
            </a:r>
            <a:r>
              <a:rPr lang="en-US" sz="5000" b="1" dirty="0" err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Algoritma</a:t>
            </a:r>
            <a:r>
              <a:rPr lang="en-US" sz="5000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Linear Search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6456B3A-A691-18AE-5580-3108DE0B71F0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505" y="503294"/>
            <a:ext cx="942895" cy="94580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BD09723-B4FF-2604-1D76-0A61AF1CA2C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3928" y="2248296"/>
            <a:ext cx="4554918" cy="6832377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D000B3D6-1DEA-94EF-A0DB-6C3481154B68}"/>
              </a:ext>
            </a:extLst>
          </p:cNvPr>
          <p:cNvSpPr txBox="1"/>
          <p:nvPr/>
        </p:nvSpPr>
        <p:spPr>
          <a:xfrm>
            <a:off x="8112451" y="2333165"/>
            <a:ext cx="6186302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D" sz="2400" dirty="0">
                <a:latin typeface="Glacial Indifference" panose="020B0604020202020204" charset="0"/>
              </a:rPr>
              <a:t>Mulai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latin typeface="Glacial Indifference" panose="020B0604020202020204" charset="0"/>
              </a:rPr>
              <a:t>Input data array dan </a:t>
            </a:r>
            <a:r>
              <a:rPr lang="en-US" sz="2400" dirty="0" err="1">
                <a:latin typeface="Glacial Indifference" panose="020B0604020202020204" charset="0"/>
              </a:rPr>
              <a:t>nilai</a:t>
            </a:r>
            <a:r>
              <a:rPr lang="en-US" sz="2400" dirty="0">
                <a:latin typeface="Glacial Indifference" panose="020B0604020202020204" charset="0"/>
              </a:rPr>
              <a:t> yang </a:t>
            </a:r>
            <a:r>
              <a:rPr lang="en-US" sz="2400" dirty="0" err="1">
                <a:latin typeface="Glacial Indifference" panose="020B0604020202020204" charset="0"/>
              </a:rPr>
              <a:t>dicari</a:t>
            </a:r>
            <a:r>
              <a:rPr lang="en-US" sz="2400" dirty="0">
                <a:latin typeface="Glacial Indifference" panose="020B0604020202020204" charset="0"/>
              </a:rPr>
              <a:t> (key)</a:t>
            </a:r>
          </a:p>
          <a:p>
            <a:pPr marL="342900" indent="-342900">
              <a:buFont typeface="+mj-lt"/>
              <a:buAutoNum type="arabicPeriod"/>
            </a:pPr>
            <a:r>
              <a:rPr lang="en-ID" sz="2400" dirty="0" err="1">
                <a:latin typeface="Glacial Indifference" panose="020B0604020202020204" charset="0"/>
              </a:rPr>
              <a:t>Inisialisasi</a:t>
            </a:r>
            <a:r>
              <a:rPr lang="en-ID" sz="2400" dirty="0">
                <a:latin typeface="Glacial Indifference" panose="020B0604020202020204" charset="0"/>
              </a:rPr>
              <a:t> </a:t>
            </a:r>
            <a:r>
              <a:rPr lang="en-ID" sz="2400" dirty="0" err="1">
                <a:latin typeface="Glacial Indifference" panose="020B0604020202020204" charset="0"/>
              </a:rPr>
              <a:t>variabel</a:t>
            </a:r>
            <a:r>
              <a:rPr lang="en-ID" sz="2400" dirty="0">
                <a:latin typeface="Glacial Indifference" panose="020B0604020202020204" charset="0"/>
              </a:rPr>
              <a:t> </a:t>
            </a:r>
            <a:r>
              <a:rPr lang="en-ID" sz="2400" dirty="0" err="1">
                <a:latin typeface="Glacial Indifference" panose="020B0604020202020204" charset="0"/>
              </a:rPr>
              <a:t>indeks</a:t>
            </a:r>
            <a:r>
              <a:rPr lang="en-ID" sz="2400" dirty="0">
                <a:latin typeface="Glacial Indifference" panose="020B0604020202020204" charset="0"/>
              </a:rPr>
              <a:t> </a:t>
            </a:r>
            <a:r>
              <a:rPr lang="en-ID" sz="2400" dirty="0" err="1">
                <a:latin typeface="Glacial Indifference" panose="020B0604020202020204" charset="0"/>
              </a:rPr>
              <a:t>i</a:t>
            </a:r>
            <a:r>
              <a:rPr lang="en-ID" sz="2400" dirty="0">
                <a:latin typeface="Glacial Indifference" panose="020B0604020202020204" charset="0"/>
              </a:rPr>
              <a:t> = 0</a:t>
            </a:r>
          </a:p>
          <a:p>
            <a:pPr marL="342900" indent="-342900">
              <a:buFont typeface="+mj-lt"/>
              <a:buAutoNum type="arabicPeriod"/>
            </a:pPr>
            <a:r>
              <a:rPr lang="en-ID" sz="2400" dirty="0" err="1">
                <a:latin typeface="Glacial Indifference" panose="020B0604020202020204" charset="0"/>
              </a:rPr>
              <a:t>Apakah</a:t>
            </a:r>
            <a:r>
              <a:rPr lang="en-ID" sz="2400" dirty="0">
                <a:latin typeface="Glacial Indifference" panose="020B0604020202020204" charset="0"/>
              </a:rPr>
              <a:t> </a:t>
            </a:r>
            <a:r>
              <a:rPr lang="en-ID" sz="2400" dirty="0" err="1">
                <a:latin typeface="Glacial Indifference" panose="020B0604020202020204" charset="0"/>
              </a:rPr>
              <a:t>i</a:t>
            </a:r>
            <a:r>
              <a:rPr lang="en-ID" sz="2400" dirty="0">
                <a:latin typeface="Glacial Indifference" panose="020B0604020202020204" charset="0"/>
              </a:rPr>
              <a:t> &lt; </a:t>
            </a:r>
            <a:r>
              <a:rPr lang="en-ID" sz="2400" dirty="0" err="1">
                <a:latin typeface="Glacial Indifference" panose="020B0604020202020204" charset="0"/>
              </a:rPr>
              <a:t>jumlah</a:t>
            </a:r>
            <a:r>
              <a:rPr lang="en-ID" sz="2400" dirty="0">
                <a:latin typeface="Glacial Indifference" panose="020B0604020202020204" charset="0"/>
              </a:rPr>
              <a:t> </a:t>
            </a:r>
            <a:r>
              <a:rPr lang="en-ID" sz="2400" dirty="0" err="1">
                <a:latin typeface="Glacial Indifference" panose="020B0604020202020204" charset="0"/>
              </a:rPr>
              <a:t>elemen</a:t>
            </a:r>
            <a:r>
              <a:rPr lang="en-ID" sz="2400" dirty="0">
                <a:latin typeface="Glacial Indifference" panose="020B0604020202020204" charset="0"/>
              </a:rPr>
              <a:t> array?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D" sz="2400" dirty="0">
                <a:latin typeface="Glacial Indifference" panose="020B0604020202020204" charset="0"/>
              </a:rPr>
              <a:t>Jika </a:t>
            </a:r>
            <a:r>
              <a:rPr lang="en-ID" sz="2400" b="1" dirty="0" err="1">
                <a:latin typeface="Glacial Indifference" panose="020B0604020202020204" charset="0"/>
              </a:rPr>
              <a:t>tidak</a:t>
            </a:r>
            <a:r>
              <a:rPr lang="en-ID" sz="2400" dirty="0">
                <a:latin typeface="Glacial Indifference" panose="020B0604020202020204" charset="0"/>
              </a:rPr>
              <a:t>, </a:t>
            </a:r>
            <a:r>
              <a:rPr lang="en-ID" sz="2400" dirty="0" err="1">
                <a:latin typeface="Glacial Indifference" panose="020B0604020202020204" charset="0"/>
              </a:rPr>
              <a:t>lanjut</a:t>
            </a:r>
            <a:r>
              <a:rPr lang="en-ID" sz="2400" dirty="0">
                <a:latin typeface="Glacial Indifference" panose="020B0604020202020204" charset="0"/>
              </a:rPr>
              <a:t> </a:t>
            </a:r>
            <a:r>
              <a:rPr lang="en-ID" sz="2400" dirty="0" err="1">
                <a:latin typeface="Glacial Indifference" panose="020B0604020202020204" charset="0"/>
              </a:rPr>
              <a:t>ke</a:t>
            </a:r>
            <a:r>
              <a:rPr lang="en-ID" sz="2400" dirty="0">
                <a:latin typeface="Glacial Indifference" panose="020B0604020202020204" charset="0"/>
              </a:rPr>
              <a:t> </a:t>
            </a:r>
            <a:r>
              <a:rPr lang="en-ID" sz="2400" dirty="0" err="1">
                <a:latin typeface="Glacial Indifference" panose="020B0604020202020204" charset="0"/>
              </a:rPr>
              <a:t>langkah</a:t>
            </a:r>
            <a:r>
              <a:rPr lang="en-ID" sz="2400" dirty="0">
                <a:latin typeface="Glacial Indifference" panose="020B0604020202020204" charset="0"/>
              </a:rPr>
              <a:t> 8 (data </a:t>
            </a:r>
            <a:r>
              <a:rPr lang="en-ID" sz="2400" dirty="0" err="1">
                <a:latin typeface="Glacial Indifference" panose="020B0604020202020204" charset="0"/>
              </a:rPr>
              <a:t>tidak</a:t>
            </a:r>
            <a:r>
              <a:rPr lang="en-ID" sz="2400" dirty="0">
                <a:latin typeface="Glacial Indifference" panose="020B0604020202020204" charset="0"/>
              </a:rPr>
              <a:t> </a:t>
            </a:r>
            <a:r>
              <a:rPr lang="en-ID" sz="2400" dirty="0" err="1">
                <a:latin typeface="Glacial Indifference" panose="020B0604020202020204" charset="0"/>
              </a:rPr>
              <a:t>ditemukan</a:t>
            </a:r>
            <a:r>
              <a:rPr lang="en-ID" sz="2400" dirty="0">
                <a:latin typeface="Glacial Indifference" panose="020B0604020202020204" charset="0"/>
              </a:rPr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400" dirty="0" err="1">
                <a:latin typeface="Glacial Indifference" panose="020B0604020202020204" charset="0"/>
              </a:rPr>
              <a:t>Jika</a:t>
            </a:r>
            <a:r>
              <a:rPr lang="es-ES" sz="2400" dirty="0">
                <a:latin typeface="Glacial Indifference" panose="020B0604020202020204" charset="0"/>
              </a:rPr>
              <a:t> </a:t>
            </a:r>
            <a:r>
              <a:rPr lang="es-ES" sz="2400" b="1" dirty="0">
                <a:latin typeface="Glacial Indifference" panose="020B0604020202020204" charset="0"/>
              </a:rPr>
              <a:t>ya</a:t>
            </a:r>
            <a:r>
              <a:rPr lang="es-ES" sz="2400" dirty="0">
                <a:latin typeface="Glacial Indifference" panose="020B0604020202020204" charset="0"/>
              </a:rPr>
              <a:t>, </a:t>
            </a:r>
            <a:r>
              <a:rPr lang="es-ES" sz="2400" dirty="0" err="1">
                <a:latin typeface="Glacial Indifference" panose="020B0604020202020204" charset="0"/>
              </a:rPr>
              <a:t>lanjut</a:t>
            </a:r>
            <a:r>
              <a:rPr lang="es-ES" sz="2400" dirty="0">
                <a:latin typeface="Glacial Indifference" panose="020B0604020202020204" charset="0"/>
              </a:rPr>
              <a:t> ke </a:t>
            </a:r>
            <a:r>
              <a:rPr lang="es-ES" sz="2400" dirty="0" err="1">
                <a:latin typeface="Glacial Indifference" panose="020B0604020202020204" charset="0"/>
              </a:rPr>
              <a:t>langkah</a:t>
            </a:r>
            <a:r>
              <a:rPr lang="es-ES" sz="2400" dirty="0">
                <a:latin typeface="Glacial Indifference" panose="020B0604020202020204" charset="0"/>
              </a:rPr>
              <a:t> 5</a:t>
            </a:r>
            <a:endParaRPr lang="en-ID" sz="2400" dirty="0">
              <a:latin typeface="Glacial Indifference" panose="020B060402020202020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D" sz="2400" dirty="0" err="1">
                <a:latin typeface="Glacial Indifference" panose="020B0604020202020204" charset="0"/>
              </a:rPr>
              <a:t>Apakah</a:t>
            </a:r>
            <a:r>
              <a:rPr lang="en-ID" sz="2400" dirty="0">
                <a:latin typeface="Glacial Indifference" panose="020B0604020202020204" charset="0"/>
              </a:rPr>
              <a:t> array[</a:t>
            </a:r>
            <a:r>
              <a:rPr lang="en-ID" sz="2400" dirty="0" err="1">
                <a:latin typeface="Glacial Indifference" panose="020B0604020202020204" charset="0"/>
              </a:rPr>
              <a:t>i</a:t>
            </a:r>
            <a:r>
              <a:rPr lang="en-ID" sz="2400" dirty="0">
                <a:latin typeface="Glacial Indifference" panose="020B0604020202020204" charset="0"/>
              </a:rPr>
              <a:t>] == key?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400" dirty="0" err="1">
                <a:latin typeface="Glacial Indifference" panose="020B0604020202020204" charset="0"/>
              </a:rPr>
              <a:t>Jika</a:t>
            </a:r>
            <a:r>
              <a:rPr lang="es-ES" sz="2400" dirty="0">
                <a:latin typeface="Glacial Indifference" panose="020B0604020202020204" charset="0"/>
              </a:rPr>
              <a:t> </a:t>
            </a:r>
            <a:r>
              <a:rPr lang="es-ES" sz="2400" b="1" dirty="0">
                <a:latin typeface="Glacial Indifference" panose="020B0604020202020204" charset="0"/>
              </a:rPr>
              <a:t>ya</a:t>
            </a:r>
            <a:r>
              <a:rPr lang="es-ES" sz="2400" dirty="0">
                <a:latin typeface="Glacial Indifference" panose="020B0604020202020204" charset="0"/>
              </a:rPr>
              <a:t>, </a:t>
            </a:r>
            <a:r>
              <a:rPr lang="es-ES" sz="2400" dirty="0" err="1">
                <a:latin typeface="Glacial Indifference" panose="020B0604020202020204" charset="0"/>
              </a:rPr>
              <a:t>lanjut</a:t>
            </a:r>
            <a:r>
              <a:rPr lang="es-ES" sz="2400" dirty="0">
                <a:latin typeface="Glacial Indifference" panose="020B0604020202020204" charset="0"/>
              </a:rPr>
              <a:t> ke </a:t>
            </a:r>
            <a:r>
              <a:rPr lang="es-ES" sz="2400" dirty="0" err="1">
                <a:latin typeface="Glacial Indifference" panose="020B0604020202020204" charset="0"/>
              </a:rPr>
              <a:t>langkah</a:t>
            </a:r>
            <a:r>
              <a:rPr lang="es-ES" sz="2400" dirty="0">
                <a:latin typeface="Glacial Indifference" panose="020B0604020202020204" charset="0"/>
              </a:rPr>
              <a:t> 6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nn-NO" sz="2400" dirty="0">
                <a:latin typeface="Glacial Indifference" panose="020B0604020202020204" charset="0"/>
              </a:rPr>
              <a:t>Jika </a:t>
            </a:r>
            <a:r>
              <a:rPr lang="nn-NO" sz="2400" b="1" dirty="0">
                <a:latin typeface="Glacial Indifference" panose="020B0604020202020204" charset="0"/>
              </a:rPr>
              <a:t>tidak</a:t>
            </a:r>
            <a:r>
              <a:rPr lang="nn-NO" sz="2400" dirty="0">
                <a:latin typeface="Glacial Indifference" panose="020B0604020202020204" charset="0"/>
              </a:rPr>
              <a:t>, lanjut ke langkah 7</a:t>
            </a:r>
            <a:endParaRPr lang="en-ID" sz="2400" dirty="0">
              <a:latin typeface="Glacial Indifference" panose="020B060402020202020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D" sz="2400" dirty="0" err="1">
                <a:latin typeface="Glacial Indifference" panose="020B0604020202020204" charset="0"/>
              </a:rPr>
              <a:t>Tampilkan</a:t>
            </a:r>
            <a:r>
              <a:rPr lang="en-ID" sz="2400" dirty="0">
                <a:latin typeface="Glacial Indifference" panose="020B0604020202020204" charset="0"/>
              </a:rPr>
              <a:t> "Data </a:t>
            </a:r>
            <a:r>
              <a:rPr lang="en-ID" sz="2400" dirty="0" err="1">
                <a:latin typeface="Glacial Indifference" panose="020B0604020202020204" charset="0"/>
              </a:rPr>
              <a:t>ditemukan</a:t>
            </a:r>
            <a:r>
              <a:rPr lang="en-ID" sz="2400" dirty="0">
                <a:latin typeface="Glacial Indifference" panose="020B0604020202020204" charset="0"/>
              </a:rPr>
              <a:t> pada </a:t>
            </a:r>
            <a:r>
              <a:rPr lang="en-ID" sz="2400" dirty="0" err="1">
                <a:latin typeface="Glacial Indifference" panose="020B0604020202020204" charset="0"/>
              </a:rPr>
              <a:t>indeks</a:t>
            </a:r>
            <a:r>
              <a:rPr lang="en-ID" sz="2400" dirty="0">
                <a:latin typeface="Glacial Indifference" panose="020B0604020202020204" charset="0"/>
              </a:rPr>
              <a:t> </a:t>
            </a:r>
            <a:r>
              <a:rPr lang="en-ID" sz="2400" dirty="0" err="1">
                <a:latin typeface="Glacial Indifference" panose="020B0604020202020204" charset="0"/>
              </a:rPr>
              <a:t>ke-i</a:t>
            </a:r>
            <a:r>
              <a:rPr lang="en-ID" sz="2400" dirty="0">
                <a:latin typeface="Glacial Indifference" panose="020B0604020202020204" charset="0"/>
              </a:rPr>
              <a:t>“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a-DK" sz="2400" dirty="0">
                <a:latin typeface="Glacial Indifference" panose="020B0604020202020204" charset="0"/>
              </a:rPr>
              <a:t>Lanjut ke langkah 9 (selesai)</a:t>
            </a:r>
            <a:endParaRPr lang="en-ID" sz="2400" dirty="0">
              <a:latin typeface="Glacial Indifference" panose="020B060402020202020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nn-NO" sz="2400" dirty="0">
                <a:latin typeface="Glacial Indifference" panose="020B0604020202020204" charset="0"/>
              </a:rPr>
              <a:t>Tambah nilai i = i + 1, lalu kembali ke langkah 4</a:t>
            </a:r>
          </a:p>
          <a:p>
            <a:pPr marL="342900" indent="-342900">
              <a:buFont typeface="+mj-lt"/>
              <a:buAutoNum type="arabicPeriod"/>
            </a:pPr>
            <a:r>
              <a:rPr lang="en-ID" sz="2400" dirty="0" err="1">
                <a:latin typeface="Glacial Indifference" panose="020B0604020202020204" charset="0"/>
              </a:rPr>
              <a:t>Tampilkan</a:t>
            </a:r>
            <a:r>
              <a:rPr lang="en-ID" sz="2400" dirty="0">
                <a:latin typeface="Glacial Indifference" panose="020B0604020202020204" charset="0"/>
              </a:rPr>
              <a:t> "Data </a:t>
            </a:r>
            <a:r>
              <a:rPr lang="en-ID" sz="2400" dirty="0" err="1">
                <a:latin typeface="Glacial Indifference" panose="020B0604020202020204" charset="0"/>
              </a:rPr>
              <a:t>tidak</a:t>
            </a:r>
            <a:r>
              <a:rPr lang="en-ID" sz="2400" dirty="0">
                <a:latin typeface="Glacial Indifference" panose="020B0604020202020204" charset="0"/>
              </a:rPr>
              <a:t> </a:t>
            </a:r>
            <a:r>
              <a:rPr lang="en-ID" sz="2400" dirty="0" err="1">
                <a:latin typeface="Glacial Indifference" panose="020B0604020202020204" charset="0"/>
              </a:rPr>
              <a:t>ditemukan</a:t>
            </a:r>
            <a:r>
              <a:rPr lang="en-ID" sz="2400" dirty="0">
                <a:latin typeface="Glacial Indifference" panose="020B0604020202020204" charset="0"/>
              </a:rPr>
              <a:t>“</a:t>
            </a:r>
          </a:p>
          <a:p>
            <a:pPr marL="342900" indent="-342900">
              <a:buFont typeface="+mj-lt"/>
              <a:buAutoNum type="arabicPeriod"/>
            </a:pPr>
            <a:r>
              <a:rPr lang="en-ID" sz="2400" dirty="0" err="1">
                <a:latin typeface="Glacial Indifference" panose="020B0604020202020204" charset="0"/>
              </a:rPr>
              <a:t>Selesai</a:t>
            </a:r>
            <a:endParaRPr lang="en-ID" sz="2400" dirty="0">
              <a:latin typeface="Glacial Indifference" panose="020B0604020202020204" charset="0"/>
            </a:endParaRPr>
          </a:p>
        </p:txBody>
      </p:sp>
      <p:sp>
        <p:nvSpPr>
          <p:cNvPr id="29" name="AutoShape 15">
            <a:extLst>
              <a:ext uri="{FF2B5EF4-FFF2-40B4-BE49-F238E27FC236}">
                <a16:creationId xmlns:a16="http://schemas.microsoft.com/office/drawing/2014/main" id="{A6144344-9DF2-881E-0549-F2B50C19CD98}"/>
              </a:ext>
            </a:extLst>
          </p:cNvPr>
          <p:cNvSpPr/>
          <p:nvPr/>
        </p:nvSpPr>
        <p:spPr>
          <a:xfrm flipV="1">
            <a:off x="7157282" y="2372203"/>
            <a:ext cx="5518" cy="6590821"/>
          </a:xfrm>
          <a:prstGeom prst="line">
            <a:avLst/>
          </a:prstGeom>
          <a:ln w="66675" cap="flat">
            <a:solidFill>
              <a:srgbClr val="5DA295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FD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85341" y="1679079"/>
            <a:ext cx="14717318" cy="6928841"/>
            <a:chOff x="0" y="0"/>
            <a:chExt cx="3876166" cy="18248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76166" cy="1824880"/>
            </a:xfrm>
            <a:custGeom>
              <a:avLst/>
              <a:gdLst/>
              <a:ahLst/>
              <a:cxnLst/>
              <a:rect l="l" t="t" r="r" b="b"/>
              <a:pathLst>
                <a:path w="3876166" h="1824880">
                  <a:moveTo>
                    <a:pt x="0" y="0"/>
                  </a:moveTo>
                  <a:lnTo>
                    <a:pt x="3876166" y="0"/>
                  </a:lnTo>
                  <a:lnTo>
                    <a:pt x="3876166" y="1824880"/>
                  </a:lnTo>
                  <a:lnTo>
                    <a:pt x="0" y="1824880"/>
                  </a:lnTo>
                  <a:close/>
                </a:path>
              </a:pathLst>
            </a:custGeom>
            <a:solidFill>
              <a:srgbClr val="5DA29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876166" cy="1862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3061903" y="-1566138"/>
            <a:ext cx="4761674" cy="4761674"/>
          </a:xfrm>
          <a:custGeom>
            <a:avLst/>
            <a:gdLst/>
            <a:ahLst/>
            <a:cxnLst/>
            <a:rect l="l" t="t" r="r" b="b"/>
            <a:pathLst>
              <a:path w="4761674" h="4761674">
                <a:moveTo>
                  <a:pt x="0" y="0"/>
                </a:moveTo>
                <a:lnTo>
                  <a:pt x="4761674" y="0"/>
                </a:lnTo>
                <a:lnTo>
                  <a:pt x="4761674" y="4761675"/>
                </a:lnTo>
                <a:lnTo>
                  <a:pt x="0" y="47616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5442740" y="2842069"/>
            <a:ext cx="1413018" cy="1236391"/>
            <a:chOff x="0" y="0"/>
            <a:chExt cx="812800" cy="711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1313694"/>
            <a:ext cx="1528376" cy="1528376"/>
          </a:xfrm>
          <a:custGeom>
            <a:avLst/>
            <a:gdLst/>
            <a:ahLst/>
            <a:cxnLst/>
            <a:rect l="l" t="t" r="r" b="b"/>
            <a:pathLst>
              <a:path w="1528376" h="1528376">
                <a:moveTo>
                  <a:pt x="0" y="0"/>
                </a:moveTo>
                <a:lnTo>
                  <a:pt x="1528376" y="0"/>
                </a:lnTo>
                <a:lnTo>
                  <a:pt x="1528376" y="1528375"/>
                </a:lnTo>
                <a:lnTo>
                  <a:pt x="0" y="15283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624221" y="7272116"/>
            <a:ext cx="4777529" cy="4771073"/>
          </a:xfrm>
          <a:custGeom>
            <a:avLst/>
            <a:gdLst/>
            <a:ahLst/>
            <a:cxnLst/>
            <a:rect l="l" t="t" r="r" b="b"/>
            <a:pathLst>
              <a:path w="4777529" h="4771073">
                <a:moveTo>
                  <a:pt x="0" y="0"/>
                </a:moveTo>
                <a:lnTo>
                  <a:pt x="4777529" y="0"/>
                </a:lnTo>
                <a:lnTo>
                  <a:pt x="4777529" y="4771073"/>
                </a:lnTo>
                <a:lnTo>
                  <a:pt x="0" y="47710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2386547" y="3908425"/>
            <a:ext cx="13514906" cy="2222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99"/>
              </a:lnSpc>
            </a:pPr>
            <a:r>
              <a:rPr lang="en-US" sz="12999" b="1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Terima Kasih</a:t>
            </a:r>
          </a:p>
        </p:txBody>
      </p:sp>
      <p:sp>
        <p:nvSpPr>
          <p:cNvPr id="12" name="Freeform 12"/>
          <p:cNvSpPr/>
          <p:nvPr/>
        </p:nvSpPr>
        <p:spPr>
          <a:xfrm>
            <a:off x="4317571" y="7272116"/>
            <a:ext cx="1084179" cy="1084179"/>
          </a:xfrm>
          <a:custGeom>
            <a:avLst/>
            <a:gdLst/>
            <a:ahLst/>
            <a:cxnLst/>
            <a:rect l="l" t="t" r="r" b="b"/>
            <a:pathLst>
              <a:path w="1084179" h="1084179">
                <a:moveTo>
                  <a:pt x="0" y="0"/>
                </a:moveTo>
                <a:lnTo>
                  <a:pt x="1084179" y="0"/>
                </a:lnTo>
                <a:lnTo>
                  <a:pt x="1084179" y="1084179"/>
                </a:lnTo>
                <a:lnTo>
                  <a:pt x="0" y="10841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815905C-4B28-E313-C585-5043FA4A05FF}"/>
              </a:ext>
            </a:extLst>
          </p:cNvPr>
          <p:cNvSpPr/>
          <p:nvPr/>
        </p:nvSpPr>
        <p:spPr>
          <a:xfrm>
            <a:off x="-304800" y="-95250"/>
            <a:ext cx="18592800" cy="104775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218435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0073435"/>
            <a:ext cx="18288000" cy="213565"/>
            <a:chOff x="0" y="0"/>
            <a:chExt cx="4816593" cy="562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56248"/>
            </a:xfrm>
            <a:custGeom>
              <a:avLst/>
              <a:gdLst/>
              <a:ahLst/>
              <a:cxnLst/>
              <a:rect l="l" t="t" r="r" b="b"/>
              <a:pathLst>
                <a:path w="4816592" h="56248">
                  <a:moveTo>
                    <a:pt x="0" y="0"/>
                  </a:moveTo>
                  <a:lnTo>
                    <a:pt x="4816592" y="0"/>
                  </a:lnTo>
                  <a:lnTo>
                    <a:pt x="4816592" y="56248"/>
                  </a:lnTo>
                  <a:lnTo>
                    <a:pt x="0" y="56248"/>
                  </a:lnTo>
                  <a:close/>
                </a:path>
              </a:pathLst>
            </a:custGeom>
            <a:solidFill>
              <a:srgbClr val="5DA29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943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18288000" cy="213565"/>
            <a:chOff x="0" y="0"/>
            <a:chExt cx="4816593" cy="562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16592" cy="56248"/>
            </a:xfrm>
            <a:custGeom>
              <a:avLst/>
              <a:gdLst/>
              <a:ahLst/>
              <a:cxnLst/>
              <a:rect l="l" t="t" r="r" b="b"/>
              <a:pathLst>
                <a:path w="4816592" h="56248">
                  <a:moveTo>
                    <a:pt x="0" y="0"/>
                  </a:moveTo>
                  <a:lnTo>
                    <a:pt x="4816592" y="0"/>
                  </a:lnTo>
                  <a:lnTo>
                    <a:pt x="4816592" y="56248"/>
                  </a:lnTo>
                  <a:lnTo>
                    <a:pt x="0" y="56248"/>
                  </a:lnTo>
                  <a:close/>
                </a:path>
              </a:pathLst>
            </a:custGeom>
            <a:solidFill>
              <a:srgbClr val="BFDDD2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816593" cy="943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389196" y="598254"/>
            <a:ext cx="851704" cy="777374"/>
          </a:xfrm>
          <a:custGeom>
            <a:avLst/>
            <a:gdLst/>
            <a:ahLst/>
            <a:cxnLst/>
            <a:rect l="l" t="t" r="r" b="b"/>
            <a:pathLst>
              <a:path w="851704" h="777374">
                <a:moveTo>
                  <a:pt x="0" y="0"/>
                </a:moveTo>
                <a:lnTo>
                  <a:pt x="851705" y="0"/>
                </a:lnTo>
                <a:lnTo>
                  <a:pt x="851705" y="777374"/>
                </a:lnTo>
                <a:lnTo>
                  <a:pt x="0" y="7773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632097" y="758341"/>
            <a:ext cx="365904" cy="337962"/>
          </a:xfrm>
          <a:custGeom>
            <a:avLst/>
            <a:gdLst/>
            <a:ahLst/>
            <a:cxnLst/>
            <a:rect l="l" t="t" r="r" b="b"/>
            <a:pathLst>
              <a:path w="365904" h="337962">
                <a:moveTo>
                  <a:pt x="0" y="0"/>
                </a:moveTo>
                <a:lnTo>
                  <a:pt x="365903" y="0"/>
                </a:lnTo>
                <a:lnTo>
                  <a:pt x="365903" y="337962"/>
                </a:lnTo>
                <a:lnTo>
                  <a:pt x="0" y="3379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6564000" y="8834437"/>
            <a:ext cx="955170" cy="762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299"/>
              </a:lnSpc>
            </a:pPr>
            <a:r>
              <a:rPr lang="en-US" sz="4499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07</a:t>
            </a:r>
          </a:p>
        </p:txBody>
      </p:sp>
      <p:sp>
        <p:nvSpPr>
          <p:cNvPr id="11" name="AutoShape 11"/>
          <p:cNvSpPr/>
          <p:nvPr/>
        </p:nvSpPr>
        <p:spPr>
          <a:xfrm>
            <a:off x="16564000" y="8877554"/>
            <a:ext cx="0" cy="761492"/>
          </a:xfrm>
          <a:prstGeom prst="line">
            <a:avLst/>
          </a:prstGeom>
          <a:ln w="95250" cap="flat">
            <a:solidFill>
              <a:srgbClr val="5DA29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>
            <a:off x="1219263" y="8370503"/>
            <a:ext cx="15849473" cy="0"/>
          </a:xfrm>
          <a:prstGeom prst="line">
            <a:avLst/>
          </a:prstGeom>
          <a:ln w="38100" cap="flat">
            <a:solidFill>
              <a:srgbClr val="5DA29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AutoShape 13"/>
          <p:cNvSpPr/>
          <p:nvPr/>
        </p:nvSpPr>
        <p:spPr>
          <a:xfrm>
            <a:off x="1219263" y="3102381"/>
            <a:ext cx="15849473" cy="0"/>
          </a:xfrm>
          <a:prstGeom prst="line">
            <a:avLst/>
          </a:prstGeom>
          <a:ln w="38100" cap="flat">
            <a:solidFill>
              <a:srgbClr val="5DA29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/>
          <p:cNvSpPr/>
          <p:nvPr/>
        </p:nvSpPr>
        <p:spPr>
          <a:xfrm flipV="1">
            <a:off x="1238313" y="3083200"/>
            <a:ext cx="2587" cy="5306222"/>
          </a:xfrm>
          <a:prstGeom prst="line">
            <a:avLst/>
          </a:prstGeom>
          <a:ln w="38100" cap="flat">
            <a:solidFill>
              <a:srgbClr val="5DA29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AutoShape 15"/>
          <p:cNvSpPr/>
          <p:nvPr/>
        </p:nvSpPr>
        <p:spPr>
          <a:xfrm flipH="1" flipV="1">
            <a:off x="5193097" y="3092590"/>
            <a:ext cx="0" cy="5287443"/>
          </a:xfrm>
          <a:prstGeom prst="line">
            <a:avLst/>
          </a:prstGeom>
          <a:ln w="38100" cap="flat">
            <a:solidFill>
              <a:srgbClr val="5DA29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AutoShape 16"/>
          <p:cNvSpPr/>
          <p:nvPr/>
        </p:nvSpPr>
        <p:spPr>
          <a:xfrm flipH="1" flipV="1">
            <a:off x="9145294" y="3092590"/>
            <a:ext cx="0" cy="5287443"/>
          </a:xfrm>
          <a:prstGeom prst="line">
            <a:avLst/>
          </a:prstGeom>
          <a:ln w="38100" cap="flat">
            <a:solidFill>
              <a:srgbClr val="5DA29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AutoShape 17"/>
          <p:cNvSpPr/>
          <p:nvPr/>
        </p:nvSpPr>
        <p:spPr>
          <a:xfrm flipV="1">
            <a:off x="13097490" y="3092590"/>
            <a:ext cx="0" cy="5287443"/>
          </a:xfrm>
          <a:prstGeom prst="line">
            <a:avLst/>
          </a:prstGeom>
          <a:ln w="38100" cap="flat">
            <a:solidFill>
              <a:srgbClr val="5DA29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AutoShape 18"/>
          <p:cNvSpPr/>
          <p:nvPr/>
        </p:nvSpPr>
        <p:spPr>
          <a:xfrm flipV="1">
            <a:off x="17049687" y="3092590"/>
            <a:ext cx="0" cy="5287443"/>
          </a:xfrm>
          <a:prstGeom prst="line">
            <a:avLst/>
          </a:prstGeom>
          <a:ln w="38100" cap="flat">
            <a:solidFill>
              <a:srgbClr val="5DA295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9" name="Group 19"/>
          <p:cNvGrpSpPr/>
          <p:nvPr/>
        </p:nvGrpSpPr>
        <p:grpSpPr>
          <a:xfrm>
            <a:off x="6457175" y="3092590"/>
            <a:ext cx="1465528" cy="1491803"/>
            <a:chOff x="0" y="0"/>
            <a:chExt cx="798484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798484" cy="812800"/>
            </a:xfrm>
            <a:custGeom>
              <a:avLst/>
              <a:gdLst/>
              <a:ahLst/>
              <a:cxnLst/>
              <a:rect l="l" t="t" r="r" b="b"/>
              <a:pathLst>
                <a:path w="798484" h="812800">
                  <a:moveTo>
                    <a:pt x="798484" y="0"/>
                  </a:moveTo>
                  <a:lnTo>
                    <a:pt x="798484" y="698500"/>
                  </a:lnTo>
                  <a:lnTo>
                    <a:pt x="399242" y="812800"/>
                  </a:lnTo>
                  <a:lnTo>
                    <a:pt x="0" y="698500"/>
                  </a:lnTo>
                  <a:lnTo>
                    <a:pt x="0" y="0"/>
                  </a:lnTo>
                  <a:lnTo>
                    <a:pt x="798484" y="0"/>
                  </a:lnTo>
                  <a:close/>
                </a:path>
              </a:pathLst>
            </a:custGeom>
            <a:solidFill>
              <a:srgbClr val="5DA295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798484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2469462" y="3092590"/>
            <a:ext cx="1465528" cy="1491803"/>
            <a:chOff x="0" y="0"/>
            <a:chExt cx="798484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98484" cy="812800"/>
            </a:xfrm>
            <a:custGeom>
              <a:avLst/>
              <a:gdLst/>
              <a:ahLst/>
              <a:cxnLst/>
              <a:rect l="l" t="t" r="r" b="b"/>
              <a:pathLst>
                <a:path w="798484" h="812800">
                  <a:moveTo>
                    <a:pt x="798484" y="0"/>
                  </a:moveTo>
                  <a:lnTo>
                    <a:pt x="798484" y="698500"/>
                  </a:lnTo>
                  <a:lnTo>
                    <a:pt x="399242" y="812800"/>
                  </a:lnTo>
                  <a:lnTo>
                    <a:pt x="0" y="698500"/>
                  </a:lnTo>
                  <a:lnTo>
                    <a:pt x="0" y="0"/>
                  </a:lnTo>
                  <a:lnTo>
                    <a:pt x="798484" y="0"/>
                  </a:lnTo>
                  <a:close/>
                </a:path>
              </a:pathLst>
            </a:custGeom>
            <a:solidFill>
              <a:srgbClr val="5DA295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798484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0430002" y="3083191"/>
            <a:ext cx="1465528" cy="1491803"/>
            <a:chOff x="0" y="0"/>
            <a:chExt cx="798484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798484" cy="812800"/>
            </a:xfrm>
            <a:custGeom>
              <a:avLst/>
              <a:gdLst/>
              <a:ahLst/>
              <a:cxnLst/>
              <a:rect l="l" t="t" r="r" b="b"/>
              <a:pathLst>
                <a:path w="798484" h="812800">
                  <a:moveTo>
                    <a:pt x="798484" y="0"/>
                  </a:moveTo>
                  <a:lnTo>
                    <a:pt x="798484" y="698500"/>
                  </a:lnTo>
                  <a:lnTo>
                    <a:pt x="399242" y="812800"/>
                  </a:lnTo>
                  <a:lnTo>
                    <a:pt x="0" y="698500"/>
                  </a:lnTo>
                  <a:lnTo>
                    <a:pt x="0" y="0"/>
                  </a:lnTo>
                  <a:lnTo>
                    <a:pt x="798484" y="0"/>
                  </a:lnTo>
                  <a:close/>
                </a:path>
              </a:pathLst>
            </a:custGeom>
            <a:solidFill>
              <a:srgbClr val="5DA295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798484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4229868" y="3083191"/>
            <a:ext cx="1465528" cy="1491803"/>
            <a:chOff x="0" y="0"/>
            <a:chExt cx="798484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798484" cy="812800"/>
            </a:xfrm>
            <a:custGeom>
              <a:avLst/>
              <a:gdLst/>
              <a:ahLst/>
              <a:cxnLst/>
              <a:rect l="l" t="t" r="r" b="b"/>
              <a:pathLst>
                <a:path w="798484" h="812800">
                  <a:moveTo>
                    <a:pt x="798484" y="0"/>
                  </a:moveTo>
                  <a:lnTo>
                    <a:pt x="798484" y="698500"/>
                  </a:lnTo>
                  <a:lnTo>
                    <a:pt x="399242" y="812800"/>
                  </a:lnTo>
                  <a:lnTo>
                    <a:pt x="0" y="698500"/>
                  </a:lnTo>
                  <a:lnTo>
                    <a:pt x="0" y="0"/>
                  </a:lnTo>
                  <a:lnTo>
                    <a:pt x="798484" y="0"/>
                  </a:lnTo>
                  <a:close/>
                </a:path>
              </a:pathLst>
            </a:custGeom>
            <a:solidFill>
              <a:srgbClr val="5DA295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798484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1" name="Freeform 31"/>
          <p:cNvSpPr/>
          <p:nvPr/>
        </p:nvSpPr>
        <p:spPr>
          <a:xfrm>
            <a:off x="2822742" y="3417335"/>
            <a:ext cx="744393" cy="842312"/>
          </a:xfrm>
          <a:custGeom>
            <a:avLst/>
            <a:gdLst/>
            <a:ahLst/>
            <a:cxnLst/>
            <a:rect l="l" t="t" r="r" b="b"/>
            <a:pathLst>
              <a:path w="744393" h="842312">
                <a:moveTo>
                  <a:pt x="0" y="0"/>
                </a:moveTo>
                <a:lnTo>
                  <a:pt x="744393" y="0"/>
                </a:lnTo>
                <a:lnTo>
                  <a:pt x="744393" y="842312"/>
                </a:lnTo>
                <a:lnTo>
                  <a:pt x="0" y="8423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6745030" y="3426749"/>
            <a:ext cx="889817" cy="823485"/>
          </a:xfrm>
          <a:custGeom>
            <a:avLst/>
            <a:gdLst/>
            <a:ahLst/>
            <a:cxnLst/>
            <a:rect l="l" t="t" r="r" b="b"/>
            <a:pathLst>
              <a:path w="889817" h="823485">
                <a:moveTo>
                  <a:pt x="0" y="0"/>
                </a:moveTo>
                <a:lnTo>
                  <a:pt x="889817" y="0"/>
                </a:lnTo>
                <a:lnTo>
                  <a:pt x="889817" y="823485"/>
                </a:lnTo>
                <a:lnTo>
                  <a:pt x="0" y="8234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10757966" y="3416025"/>
            <a:ext cx="809600" cy="844933"/>
          </a:xfrm>
          <a:custGeom>
            <a:avLst/>
            <a:gdLst/>
            <a:ahLst/>
            <a:cxnLst/>
            <a:rect l="l" t="t" r="r" b="b"/>
            <a:pathLst>
              <a:path w="809600" h="844933">
                <a:moveTo>
                  <a:pt x="0" y="0"/>
                </a:moveTo>
                <a:lnTo>
                  <a:pt x="809600" y="0"/>
                </a:lnTo>
                <a:lnTo>
                  <a:pt x="809600" y="844933"/>
                </a:lnTo>
                <a:lnTo>
                  <a:pt x="0" y="84493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>
            <a:off x="14622394" y="3417973"/>
            <a:ext cx="680475" cy="841037"/>
          </a:xfrm>
          <a:custGeom>
            <a:avLst/>
            <a:gdLst/>
            <a:ahLst/>
            <a:cxnLst/>
            <a:rect l="l" t="t" r="r" b="b"/>
            <a:pathLst>
              <a:path w="680475" h="841037">
                <a:moveTo>
                  <a:pt x="0" y="0"/>
                </a:moveTo>
                <a:lnTo>
                  <a:pt x="680476" y="0"/>
                </a:lnTo>
                <a:lnTo>
                  <a:pt x="680476" y="841037"/>
                </a:lnTo>
                <a:lnTo>
                  <a:pt x="0" y="84103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14869273" y="-2098748"/>
            <a:ext cx="3705427" cy="3905589"/>
          </a:xfrm>
          <a:custGeom>
            <a:avLst/>
            <a:gdLst/>
            <a:ahLst/>
            <a:cxnLst/>
            <a:rect l="l" t="t" r="r" b="b"/>
            <a:pathLst>
              <a:path w="3705427" h="3905589">
                <a:moveTo>
                  <a:pt x="0" y="0"/>
                </a:moveTo>
                <a:lnTo>
                  <a:pt x="3705427" y="0"/>
                </a:lnTo>
                <a:lnTo>
                  <a:pt x="3705427" y="3905589"/>
                </a:lnTo>
                <a:lnTo>
                  <a:pt x="0" y="390558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15302870" y="1279101"/>
            <a:ext cx="1073337" cy="1073337"/>
          </a:xfrm>
          <a:custGeom>
            <a:avLst/>
            <a:gdLst/>
            <a:ahLst/>
            <a:cxnLst/>
            <a:rect l="l" t="t" r="r" b="b"/>
            <a:pathLst>
              <a:path w="1073337" h="1073337">
                <a:moveTo>
                  <a:pt x="0" y="0"/>
                </a:moveTo>
                <a:lnTo>
                  <a:pt x="1073336" y="0"/>
                </a:lnTo>
                <a:lnTo>
                  <a:pt x="1073336" y="1073337"/>
                </a:lnTo>
                <a:lnTo>
                  <a:pt x="0" y="107333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16147931" y="2273854"/>
            <a:ext cx="456551" cy="456551"/>
          </a:xfrm>
          <a:custGeom>
            <a:avLst/>
            <a:gdLst/>
            <a:ahLst/>
            <a:cxnLst/>
            <a:rect l="l" t="t" r="r" b="b"/>
            <a:pathLst>
              <a:path w="456551" h="456551">
                <a:moveTo>
                  <a:pt x="0" y="0"/>
                </a:moveTo>
                <a:lnTo>
                  <a:pt x="456551" y="0"/>
                </a:lnTo>
                <a:lnTo>
                  <a:pt x="456551" y="456551"/>
                </a:lnTo>
                <a:lnTo>
                  <a:pt x="0" y="456551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38" name="Freeform 38"/>
          <p:cNvSpPr/>
          <p:nvPr/>
        </p:nvSpPr>
        <p:spPr>
          <a:xfrm>
            <a:off x="560067" y="8446709"/>
            <a:ext cx="659197" cy="659197"/>
          </a:xfrm>
          <a:custGeom>
            <a:avLst/>
            <a:gdLst/>
            <a:ahLst/>
            <a:cxnLst/>
            <a:rect l="l" t="t" r="r" b="b"/>
            <a:pathLst>
              <a:path w="659197" h="659197">
                <a:moveTo>
                  <a:pt x="0" y="0"/>
                </a:moveTo>
                <a:lnTo>
                  <a:pt x="659196" y="0"/>
                </a:lnTo>
                <a:lnTo>
                  <a:pt x="659196" y="659197"/>
                </a:lnTo>
                <a:lnTo>
                  <a:pt x="0" y="659197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39" name="TextBox 39"/>
          <p:cNvSpPr txBox="1"/>
          <p:nvPr/>
        </p:nvSpPr>
        <p:spPr>
          <a:xfrm>
            <a:off x="4075378" y="1551020"/>
            <a:ext cx="10137245" cy="1111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99"/>
              </a:lnSpc>
            </a:pPr>
            <a:r>
              <a:rPr lang="en-US" sz="6499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Metode Penelitian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580589" y="4787420"/>
            <a:ext cx="3243274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Metode Satu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592936" y="4787420"/>
            <a:ext cx="3194006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Metode Dua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614327" y="4754400"/>
            <a:ext cx="3096878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Metode Tiga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3203278" y="4787420"/>
            <a:ext cx="3518708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Metode Empat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566014" y="5466822"/>
            <a:ext cx="3257849" cy="2657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Metode</a:t>
            </a:r>
          </a:p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penelitian</a:t>
            </a:r>
          </a:p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dapat anda</a:t>
            </a:r>
          </a:p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tuliskan pada</a:t>
            </a:r>
          </a:p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halaman ini 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516668" y="5466822"/>
            <a:ext cx="3346542" cy="2657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Metode</a:t>
            </a:r>
          </a:p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penelitian</a:t>
            </a:r>
          </a:p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dapat anda</a:t>
            </a:r>
          </a:p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tuliskan pada</a:t>
            </a:r>
          </a:p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halaman ini 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9556014" y="5466822"/>
            <a:ext cx="3213503" cy="2657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Metode</a:t>
            </a:r>
          </a:p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penelitian</a:t>
            </a:r>
          </a:p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dapat anda</a:t>
            </a:r>
          </a:p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tuliskan pada</a:t>
            </a:r>
          </a:p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halaman ini 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3462322" y="5466822"/>
            <a:ext cx="3000620" cy="2657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Metode</a:t>
            </a:r>
          </a:p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penelitian</a:t>
            </a:r>
          </a:p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dapat anda</a:t>
            </a:r>
          </a:p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tuliskan pada</a:t>
            </a:r>
          </a:p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halaman ini 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445845" y="567841"/>
            <a:ext cx="2770259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 spc="14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UNIVERSITAS</a:t>
            </a:r>
          </a:p>
          <a:p>
            <a:pPr algn="l">
              <a:lnSpc>
                <a:spcPts val="3360"/>
              </a:lnSpc>
            </a:pPr>
            <a:r>
              <a:rPr lang="en-US" sz="2800" spc="14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TIMMERMAN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1429915" y="8963025"/>
            <a:ext cx="4752692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200"/>
              </a:lnSpc>
            </a:pPr>
            <a:r>
              <a:rPr lang="en-US" sz="3000" b="1" spc="30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SEMINAR PROPOSAL</a:t>
            </a:r>
          </a:p>
        </p:txBody>
      </p:sp>
      <p:sp>
        <p:nvSpPr>
          <p:cNvPr id="50" name="Freeform 50"/>
          <p:cNvSpPr/>
          <p:nvPr/>
        </p:nvSpPr>
        <p:spPr>
          <a:xfrm>
            <a:off x="1250990" y="9157302"/>
            <a:ext cx="659197" cy="659197"/>
          </a:xfrm>
          <a:custGeom>
            <a:avLst/>
            <a:gdLst/>
            <a:ahLst/>
            <a:cxnLst/>
            <a:rect l="l" t="t" r="r" b="b"/>
            <a:pathLst>
              <a:path w="659197" h="659197">
                <a:moveTo>
                  <a:pt x="0" y="0"/>
                </a:moveTo>
                <a:lnTo>
                  <a:pt x="659197" y="0"/>
                </a:lnTo>
                <a:lnTo>
                  <a:pt x="659197" y="659196"/>
                </a:lnTo>
                <a:lnTo>
                  <a:pt x="0" y="65919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77032" y="8227689"/>
            <a:ext cx="3304243" cy="3304243"/>
          </a:xfrm>
          <a:custGeom>
            <a:avLst/>
            <a:gdLst/>
            <a:ahLst/>
            <a:cxnLst/>
            <a:rect l="l" t="t" r="r" b="b"/>
            <a:pathLst>
              <a:path w="3304243" h="3304243">
                <a:moveTo>
                  <a:pt x="0" y="0"/>
                </a:moveTo>
                <a:lnTo>
                  <a:pt x="3304244" y="0"/>
                </a:lnTo>
                <a:lnTo>
                  <a:pt x="3304244" y="3304243"/>
                </a:lnTo>
                <a:lnTo>
                  <a:pt x="0" y="33042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857121" y="6106625"/>
            <a:ext cx="3380275" cy="3380275"/>
          </a:xfrm>
          <a:custGeom>
            <a:avLst/>
            <a:gdLst/>
            <a:ahLst/>
            <a:cxnLst/>
            <a:rect l="l" t="t" r="r" b="b"/>
            <a:pathLst>
              <a:path w="3380275" h="3380275">
                <a:moveTo>
                  <a:pt x="0" y="0"/>
                </a:moveTo>
                <a:lnTo>
                  <a:pt x="3380276" y="0"/>
                </a:lnTo>
                <a:lnTo>
                  <a:pt x="3380276" y="3380275"/>
                </a:lnTo>
                <a:lnTo>
                  <a:pt x="0" y="33802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0" y="10073435"/>
            <a:ext cx="18288000" cy="213565"/>
            <a:chOff x="0" y="0"/>
            <a:chExt cx="4816593" cy="5624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2" cy="56248"/>
            </a:xfrm>
            <a:custGeom>
              <a:avLst/>
              <a:gdLst/>
              <a:ahLst/>
              <a:cxnLst/>
              <a:rect l="l" t="t" r="r" b="b"/>
              <a:pathLst>
                <a:path w="4816592" h="56248">
                  <a:moveTo>
                    <a:pt x="0" y="0"/>
                  </a:moveTo>
                  <a:lnTo>
                    <a:pt x="4816592" y="0"/>
                  </a:lnTo>
                  <a:lnTo>
                    <a:pt x="4816592" y="56248"/>
                  </a:lnTo>
                  <a:lnTo>
                    <a:pt x="0" y="56248"/>
                  </a:lnTo>
                  <a:close/>
                </a:path>
              </a:pathLst>
            </a:custGeom>
            <a:solidFill>
              <a:srgbClr val="5DA295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4816593" cy="943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flipV="1">
            <a:off x="14380637" y="-611753"/>
            <a:ext cx="4271475" cy="3459895"/>
          </a:xfrm>
          <a:custGeom>
            <a:avLst/>
            <a:gdLst/>
            <a:ahLst/>
            <a:cxnLst/>
            <a:rect l="l" t="t" r="r" b="b"/>
            <a:pathLst>
              <a:path w="4271475" h="3459895">
                <a:moveTo>
                  <a:pt x="0" y="3459895"/>
                </a:moveTo>
                <a:lnTo>
                  <a:pt x="4271475" y="3459895"/>
                </a:lnTo>
                <a:lnTo>
                  <a:pt x="4271475" y="0"/>
                </a:lnTo>
                <a:lnTo>
                  <a:pt x="0" y="0"/>
                </a:lnTo>
                <a:lnTo>
                  <a:pt x="0" y="3459895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0" y="0"/>
            <a:ext cx="18288000" cy="213565"/>
            <a:chOff x="0" y="0"/>
            <a:chExt cx="4816593" cy="5624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816592" cy="56248"/>
            </a:xfrm>
            <a:custGeom>
              <a:avLst/>
              <a:gdLst/>
              <a:ahLst/>
              <a:cxnLst/>
              <a:rect l="l" t="t" r="r" b="b"/>
              <a:pathLst>
                <a:path w="4816592" h="56248">
                  <a:moveTo>
                    <a:pt x="0" y="0"/>
                  </a:moveTo>
                  <a:lnTo>
                    <a:pt x="4816592" y="0"/>
                  </a:lnTo>
                  <a:lnTo>
                    <a:pt x="4816592" y="56248"/>
                  </a:lnTo>
                  <a:lnTo>
                    <a:pt x="0" y="56248"/>
                  </a:lnTo>
                  <a:close/>
                </a:path>
              </a:pathLst>
            </a:custGeom>
            <a:solidFill>
              <a:srgbClr val="BFDDD2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4816593" cy="943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389196" y="598254"/>
            <a:ext cx="851704" cy="777374"/>
          </a:xfrm>
          <a:custGeom>
            <a:avLst/>
            <a:gdLst/>
            <a:ahLst/>
            <a:cxnLst/>
            <a:rect l="l" t="t" r="r" b="b"/>
            <a:pathLst>
              <a:path w="851704" h="777374">
                <a:moveTo>
                  <a:pt x="0" y="0"/>
                </a:moveTo>
                <a:lnTo>
                  <a:pt x="851705" y="0"/>
                </a:lnTo>
                <a:lnTo>
                  <a:pt x="851705" y="777374"/>
                </a:lnTo>
                <a:lnTo>
                  <a:pt x="0" y="77737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32097" y="758341"/>
            <a:ext cx="365904" cy="337962"/>
          </a:xfrm>
          <a:custGeom>
            <a:avLst/>
            <a:gdLst/>
            <a:ahLst/>
            <a:cxnLst/>
            <a:rect l="l" t="t" r="r" b="b"/>
            <a:pathLst>
              <a:path w="365904" h="337962">
                <a:moveTo>
                  <a:pt x="0" y="0"/>
                </a:moveTo>
                <a:lnTo>
                  <a:pt x="365903" y="0"/>
                </a:lnTo>
                <a:lnTo>
                  <a:pt x="365903" y="337962"/>
                </a:lnTo>
                <a:lnTo>
                  <a:pt x="0" y="33796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6564000" y="8834437"/>
            <a:ext cx="955170" cy="762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299"/>
              </a:lnSpc>
            </a:pPr>
            <a:r>
              <a:rPr lang="en-US" sz="4499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09</a:t>
            </a:r>
          </a:p>
        </p:txBody>
      </p:sp>
      <p:sp>
        <p:nvSpPr>
          <p:cNvPr id="14" name="AutoShape 14"/>
          <p:cNvSpPr/>
          <p:nvPr/>
        </p:nvSpPr>
        <p:spPr>
          <a:xfrm>
            <a:off x="16564000" y="8877554"/>
            <a:ext cx="0" cy="761492"/>
          </a:xfrm>
          <a:prstGeom prst="line">
            <a:avLst/>
          </a:prstGeom>
          <a:ln w="95250" cap="flat">
            <a:solidFill>
              <a:srgbClr val="5DA29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Freeform 15"/>
          <p:cNvSpPr/>
          <p:nvPr/>
        </p:nvSpPr>
        <p:spPr>
          <a:xfrm>
            <a:off x="2904155" y="3351495"/>
            <a:ext cx="6405070" cy="4495194"/>
          </a:xfrm>
          <a:custGeom>
            <a:avLst/>
            <a:gdLst/>
            <a:ahLst/>
            <a:cxnLst/>
            <a:rect l="l" t="t" r="r" b="b"/>
            <a:pathLst>
              <a:path w="6405070" h="4495194">
                <a:moveTo>
                  <a:pt x="0" y="0"/>
                </a:moveTo>
                <a:lnTo>
                  <a:pt x="6405069" y="0"/>
                </a:lnTo>
                <a:lnTo>
                  <a:pt x="6405069" y="4495194"/>
                </a:lnTo>
                <a:lnTo>
                  <a:pt x="0" y="449519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16368649" y="2629502"/>
            <a:ext cx="1150521" cy="1006706"/>
            <a:chOff x="0" y="0"/>
            <a:chExt cx="812800" cy="7112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BFDDD2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4710688" y="1465545"/>
            <a:ext cx="8866624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Hasil </a:t>
            </a:r>
            <a:r>
              <a:rPr lang="en-US" sz="7500" b="1" dirty="0" err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Penelitian</a:t>
            </a:r>
            <a:endParaRPr lang="en-US" sz="7500" b="1" dirty="0">
              <a:solidFill>
                <a:srgbClr val="000000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0536617" y="3569532"/>
            <a:ext cx="4847228" cy="1780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Hasil penelitian dapat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anda tuliskan pada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halaman ini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536617" y="5781437"/>
            <a:ext cx="4847228" cy="1780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Hasil penelitian dapat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anda tuliskan pada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halaman ini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45845" y="567841"/>
            <a:ext cx="2770259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 spc="14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UNIVERSITAS</a:t>
            </a:r>
          </a:p>
          <a:p>
            <a:pPr algn="l">
              <a:lnSpc>
                <a:spcPts val="3360"/>
              </a:lnSpc>
            </a:pPr>
            <a:r>
              <a:rPr lang="en-US" sz="2800" spc="14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TIMMERMAN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429915" y="8963025"/>
            <a:ext cx="4752692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200"/>
              </a:lnSpc>
            </a:pPr>
            <a:r>
              <a:rPr lang="en-US" sz="3000" b="1" spc="30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SEMINAR PROPOSAL</a:t>
            </a:r>
          </a:p>
        </p:txBody>
      </p:sp>
    </p:spTree>
    <p:extLst>
      <p:ext uri="{BB962C8B-B14F-4D97-AF65-F5344CB8AC3E}">
        <p14:creationId xmlns:p14="http://schemas.microsoft.com/office/powerpoint/2010/main" val="15446767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13273" y="6860445"/>
            <a:ext cx="1084179" cy="1084179"/>
          </a:xfrm>
          <a:custGeom>
            <a:avLst/>
            <a:gdLst/>
            <a:ahLst/>
            <a:cxnLst/>
            <a:rect l="l" t="t" r="r" b="b"/>
            <a:pathLst>
              <a:path w="1084179" h="1084179">
                <a:moveTo>
                  <a:pt x="0" y="0"/>
                </a:moveTo>
                <a:lnTo>
                  <a:pt x="1084179" y="0"/>
                </a:lnTo>
                <a:lnTo>
                  <a:pt x="1084179" y="1084179"/>
                </a:lnTo>
                <a:lnTo>
                  <a:pt x="0" y="10841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7458936"/>
            <a:ext cx="3878430" cy="3141528"/>
          </a:xfrm>
          <a:custGeom>
            <a:avLst/>
            <a:gdLst/>
            <a:ahLst/>
            <a:cxnLst/>
            <a:rect l="l" t="t" r="r" b="b"/>
            <a:pathLst>
              <a:path w="3878430" h="3141528">
                <a:moveTo>
                  <a:pt x="0" y="0"/>
                </a:moveTo>
                <a:lnTo>
                  <a:pt x="3878430" y="0"/>
                </a:lnTo>
                <a:lnTo>
                  <a:pt x="3878430" y="3141528"/>
                </a:lnTo>
                <a:lnTo>
                  <a:pt x="0" y="31415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0" y="10073435"/>
            <a:ext cx="18288000" cy="213565"/>
            <a:chOff x="0" y="0"/>
            <a:chExt cx="4816593" cy="5624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2" cy="56248"/>
            </a:xfrm>
            <a:custGeom>
              <a:avLst/>
              <a:gdLst/>
              <a:ahLst/>
              <a:cxnLst/>
              <a:rect l="l" t="t" r="r" b="b"/>
              <a:pathLst>
                <a:path w="4816592" h="56248">
                  <a:moveTo>
                    <a:pt x="0" y="0"/>
                  </a:moveTo>
                  <a:lnTo>
                    <a:pt x="4816592" y="0"/>
                  </a:lnTo>
                  <a:lnTo>
                    <a:pt x="4816592" y="56248"/>
                  </a:lnTo>
                  <a:lnTo>
                    <a:pt x="0" y="56248"/>
                  </a:lnTo>
                  <a:close/>
                </a:path>
              </a:pathLst>
            </a:custGeom>
            <a:solidFill>
              <a:srgbClr val="5DA295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4816593" cy="943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0"/>
            <a:ext cx="18288000" cy="213565"/>
            <a:chOff x="0" y="0"/>
            <a:chExt cx="4816593" cy="5624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816592" cy="56248"/>
            </a:xfrm>
            <a:custGeom>
              <a:avLst/>
              <a:gdLst/>
              <a:ahLst/>
              <a:cxnLst/>
              <a:rect l="l" t="t" r="r" b="b"/>
              <a:pathLst>
                <a:path w="4816592" h="56248">
                  <a:moveTo>
                    <a:pt x="0" y="0"/>
                  </a:moveTo>
                  <a:lnTo>
                    <a:pt x="4816592" y="0"/>
                  </a:lnTo>
                  <a:lnTo>
                    <a:pt x="4816592" y="56248"/>
                  </a:lnTo>
                  <a:lnTo>
                    <a:pt x="0" y="56248"/>
                  </a:lnTo>
                  <a:close/>
                </a:path>
              </a:pathLst>
            </a:custGeom>
            <a:solidFill>
              <a:srgbClr val="BFDDD2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816593" cy="943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389196" y="598254"/>
            <a:ext cx="851704" cy="777374"/>
          </a:xfrm>
          <a:custGeom>
            <a:avLst/>
            <a:gdLst/>
            <a:ahLst/>
            <a:cxnLst/>
            <a:rect l="l" t="t" r="r" b="b"/>
            <a:pathLst>
              <a:path w="851704" h="777374">
                <a:moveTo>
                  <a:pt x="0" y="0"/>
                </a:moveTo>
                <a:lnTo>
                  <a:pt x="851705" y="0"/>
                </a:lnTo>
                <a:lnTo>
                  <a:pt x="851705" y="777374"/>
                </a:lnTo>
                <a:lnTo>
                  <a:pt x="0" y="7773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632097" y="758341"/>
            <a:ext cx="365904" cy="337962"/>
          </a:xfrm>
          <a:custGeom>
            <a:avLst/>
            <a:gdLst/>
            <a:ahLst/>
            <a:cxnLst/>
            <a:rect l="l" t="t" r="r" b="b"/>
            <a:pathLst>
              <a:path w="365904" h="337962">
                <a:moveTo>
                  <a:pt x="0" y="0"/>
                </a:moveTo>
                <a:lnTo>
                  <a:pt x="365903" y="0"/>
                </a:lnTo>
                <a:lnTo>
                  <a:pt x="365903" y="337962"/>
                </a:lnTo>
                <a:lnTo>
                  <a:pt x="0" y="3379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6564000" y="8834437"/>
            <a:ext cx="955170" cy="762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299"/>
              </a:lnSpc>
            </a:pPr>
            <a:r>
              <a:rPr lang="en-US" sz="4499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10</a:t>
            </a:r>
          </a:p>
        </p:txBody>
      </p:sp>
      <p:sp>
        <p:nvSpPr>
          <p:cNvPr id="13" name="AutoShape 13"/>
          <p:cNvSpPr/>
          <p:nvPr/>
        </p:nvSpPr>
        <p:spPr>
          <a:xfrm>
            <a:off x="16564000" y="8877554"/>
            <a:ext cx="0" cy="761492"/>
          </a:xfrm>
          <a:prstGeom prst="line">
            <a:avLst/>
          </a:prstGeom>
          <a:ln w="95250" cap="flat">
            <a:solidFill>
              <a:srgbClr val="5DA29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Freeform 14"/>
          <p:cNvSpPr/>
          <p:nvPr/>
        </p:nvSpPr>
        <p:spPr>
          <a:xfrm>
            <a:off x="3198978" y="2441475"/>
            <a:ext cx="4845072" cy="4845072"/>
          </a:xfrm>
          <a:custGeom>
            <a:avLst/>
            <a:gdLst/>
            <a:ahLst/>
            <a:cxnLst/>
            <a:rect l="l" t="t" r="r" b="b"/>
            <a:pathLst>
              <a:path w="4845072" h="4845072">
                <a:moveTo>
                  <a:pt x="0" y="0"/>
                </a:moveTo>
                <a:lnTo>
                  <a:pt x="4845071" y="0"/>
                </a:lnTo>
                <a:lnTo>
                  <a:pt x="4845071" y="4845071"/>
                </a:lnTo>
                <a:lnTo>
                  <a:pt x="0" y="484507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5407088" y="-626487"/>
            <a:ext cx="3268995" cy="3445581"/>
          </a:xfrm>
          <a:custGeom>
            <a:avLst/>
            <a:gdLst/>
            <a:ahLst/>
            <a:cxnLst/>
            <a:rect l="l" t="t" r="r" b="b"/>
            <a:pathLst>
              <a:path w="3268995" h="3445581">
                <a:moveTo>
                  <a:pt x="0" y="0"/>
                </a:moveTo>
                <a:lnTo>
                  <a:pt x="3268994" y="0"/>
                </a:lnTo>
                <a:lnTo>
                  <a:pt x="3268994" y="3445580"/>
                </a:lnTo>
                <a:lnTo>
                  <a:pt x="0" y="344558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6066996" y="2441475"/>
            <a:ext cx="1089258" cy="1089258"/>
          </a:xfrm>
          <a:custGeom>
            <a:avLst/>
            <a:gdLst/>
            <a:ahLst/>
            <a:cxnLst/>
            <a:rect l="l" t="t" r="r" b="b"/>
            <a:pathLst>
              <a:path w="1089258" h="1089258">
                <a:moveTo>
                  <a:pt x="0" y="0"/>
                </a:moveTo>
                <a:lnTo>
                  <a:pt x="1089258" y="0"/>
                </a:lnTo>
                <a:lnTo>
                  <a:pt x="1089258" y="1089258"/>
                </a:lnTo>
                <a:lnTo>
                  <a:pt x="0" y="108925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240901" y="6314379"/>
            <a:ext cx="456551" cy="456551"/>
          </a:xfrm>
          <a:custGeom>
            <a:avLst/>
            <a:gdLst/>
            <a:ahLst/>
            <a:cxnLst/>
            <a:rect l="l" t="t" r="r" b="b"/>
            <a:pathLst>
              <a:path w="456551" h="456551">
                <a:moveTo>
                  <a:pt x="0" y="0"/>
                </a:moveTo>
                <a:lnTo>
                  <a:pt x="456551" y="0"/>
                </a:lnTo>
                <a:lnTo>
                  <a:pt x="456551" y="456551"/>
                </a:lnTo>
                <a:lnTo>
                  <a:pt x="0" y="45655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9803773" y="3359880"/>
            <a:ext cx="4864014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Grafik</a:t>
            </a:r>
            <a:r>
              <a:rPr lang="en-US" sz="33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&amp; </a:t>
            </a:r>
            <a:r>
              <a:rPr lang="en-US" sz="33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Penelitian</a:t>
            </a:r>
            <a:endParaRPr lang="en-US" sz="3399" dirty="0">
              <a:solidFill>
                <a:srgbClr val="00000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algn="l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Hasil </a:t>
            </a:r>
            <a:r>
              <a:rPr lang="en-US" sz="33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Penelitian</a:t>
            </a:r>
            <a:endParaRPr lang="en-US" sz="3399" dirty="0">
              <a:solidFill>
                <a:srgbClr val="00000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9760788" y="5079905"/>
            <a:ext cx="4906999" cy="1780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Hasil </a:t>
            </a:r>
            <a:r>
              <a:rPr lang="en-US" sz="33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penelitian</a:t>
            </a:r>
            <a:r>
              <a:rPr lang="en-US" sz="33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dapat</a:t>
            </a:r>
            <a:endParaRPr lang="en-US" sz="3399" dirty="0">
              <a:solidFill>
                <a:srgbClr val="00000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algn="l">
              <a:lnSpc>
                <a:spcPts val="4759"/>
              </a:lnSpc>
            </a:pPr>
            <a:r>
              <a:rPr lang="en-US" sz="33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anda</a:t>
            </a:r>
            <a:r>
              <a:rPr lang="en-US" sz="33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tuliskan</a:t>
            </a:r>
            <a:r>
              <a:rPr lang="en-US" sz="33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pada</a:t>
            </a:r>
          </a:p>
          <a:p>
            <a:pPr algn="l">
              <a:lnSpc>
                <a:spcPts val="4759"/>
              </a:lnSpc>
            </a:pPr>
            <a:r>
              <a:rPr lang="en-US" sz="33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halaman</a:t>
            </a:r>
            <a:r>
              <a:rPr lang="en-US" sz="33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ini</a:t>
            </a:r>
            <a:endParaRPr lang="en-US" sz="3399" dirty="0">
              <a:solidFill>
                <a:srgbClr val="00000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445845" y="567841"/>
            <a:ext cx="2770259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 spc="14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UNIVERSITAS</a:t>
            </a:r>
          </a:p>
          <a:p>
            <a:pPr algn="l">
              <a:lnSpc>
                <a:spcPts val="3360"/>
              </a:lnSpc>
            </a:pPr>
            <a:r>
              <a:rPr lang="en-US" sz="2800" spc="14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TIMMERMAN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429915" y="8963025"/>
            <a:ext cx="4752692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200"/>
              </a:lnSpc>
            </a:pPr>
            <a:r>
              <a:rPr lang="en-US" sz="3000" b="1" spc="30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SEMINAR PROPOSAL</a:t>
            </a:r>
          </a:p>
        </p:txBody>
      </p:sp>
    </p:spTree>
    <p:extLst>
      <p:ext uri="{BB962C8B-B14F-4D97-AF65-F5344CB8AC3E}">
        <p14:creationId xmlns:p14="http://schemas.microsoft.com/office/powerpoint/2010/main" val="42349227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0073435"/>
            <a:ext cx="18288000" cy="213565"/>
            <a:chOff x="0" y="0"/>
            <a:chExt cx="4816593" cy="562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56248"/>
            </a:xfrm>
            <a:custGeom>
              <a:avLst/>
              <a:gdLst/>
              <a:ahLst/>
              <a:cxnLst/>
              <a:rect l="l" t="t" r="r" b="b"/>
              <a:pathLst>
                <a:path w="4816592" h="56248">
                  <a:moveTo>
                    <a:pt x="0" y="0"/>
                  </a:moveTo>
                  <a:lnTo>
                    <a:pt x="4816592" y="0"/>
                  </a:lnTo>
                  <a:lnTo>
                    <a:pt x="4816592" y="56248"/>
                  </a:lnTo>
                  <a:lnTo>
                    <a:pt x="0" y="56248"/>
                  </a:lnTo>
                  <a:close/>
                </a:path>
              </a:pathLst>
            </a:custGeom>
            <a:solidFill>
              <a:srgbClr val="5DA29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943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4827940" y="-1590389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0" y="0"/>
            <a:ext cx="18288000" cy="213565"/>
            <a:chOff x="0" y="0"/>
            <a:chExt cx="4816593" cy="5624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56248"/>
            </a:xfrm>
            <a:custGeom>
              <a:avLst/>
              <a:gdLst/>
              <a:ahLst/>
              <a:cxnLst/>
              <a:rect l="l" t="t" r="r" b="b"/>
              <a:pathLst>
                <a:path w="4816592" h="56248">
                  <a:moveTo>
                    <a:pt x="0" y="0"/>
                  </a:moveTo>
                  <a:lnTo>
                    <a:pt x="4816592" y="0"/>
                  </a:lnTo>
                  <a:lnTo>
                    <a:pt x="4816592" y="56248"/>
                  </a:lnTo>
                  <a:lnTo>
                    <a:pt x="0" y="56248"/>
                  </a:lnTo>
                  <a:close/>
                </a:path>
              </a:pathLst>
            </a:custGeom>
            <a:solidFill>
              <a:srgbClr val="BFDDD2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816593" cy="943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389196" y="598254"/>
            <a:ext cx="851704" cy="777374"/>
          </a:xfrm>
          <a:custGeom>
            <a:avLst/>
            <a:gdLst/>
            <a:ahLst/>
            <a:cxnLst/>
            <a:rect l="l" t="t" r="r" b="b"/>
            <a:pathLst>
              <a:path w="851704" h="777374">
                <a:moveTo>
                  <a:pt x="0" y="0"/>
                </a:moveTo>
                <a:lnTo>
                  <a:pt x="851705" y="0"/>
                </a:lnTo>
                <a:lnTo>
                  <a:pt x="851705" y="777374"/>
                </a:lnTo>
                <a:lnTo>
                  <a:pt x="0" y="7773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632097" y="758341"/>
            <a:ext cx="365904" cy="337962"/>
          </a:xfrm>
          <a:custGeom>
            <a:avLst/>
            <a:gdLst/>
            <a:ahLst/>
            <a:cxnLst/>
            <a:rect l="l" t="t" r="r" b="b"/>
            <a:pathLst>
              <a:path w="365904" h="337962">
                <a:moveTo>
                  <a:pt x="0" y="0"/>
                </a:moveTo>
                <a:lnTo>
                  <a:pt x="365903" y="0"/>
                </a:lnTo>
                <a:lnTo>
                  <a:pt x="365903" y="337962"/>
                </a:lnTo>
                <a:lnTo>
                  <a:pt x="0" y="3379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6564000" y="8834437"/>
            <a:ext cx="955170" cy="762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299"/>
              </a:lnSpc>
            </a:pPr>
            <a:r>
              <a:rPr lang="en-US" sz="4499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11</a:t>
            </a:r>
          </a:p>
        </p:txBody>
      </p:sp>
      <p:sp>
        <p:nvSpPr>
          <p:cNvPr id="12" name="AutoShape 12"/>
          <p:cNvSpPr/>
          <p:nvPr/>
        </p:nvSpPr>
        <p:spPr>
          <a:xfrm>
            <a:off x="16564000" y="8877554"/>
            <a:ext cx="0" cy="761492"/>
          </a:xfrm>
          <a:prstGeom prst="line">
            <a:avLst/>
          </a:prstGeom>
          <a:ln w="95250" cap="flat">
            <a:solidFill>
              <a:srgbClr val="5DA29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Freeform 13"/>
          <p:cNvSpPr/>
          <p:nvPr/>
        </p:nvSpPr>
        <p:spPr>
          <a:xfrm>
            <a:off x="2613995" y="2710511"/>
            <a:ext cx="5223803" cy="5223803"/>
          </a:xfrm>
          <a:custGeom>
            <a:avLst/>
            <a:gdLst/>
            <a:ahLst/>
            <a:cxnLst/>
            <a:rect l="l" t="t" r="r" b="b"/>
            <a:pathLst>
              <a:path w="5223803" h="5223803">
                <a:moveTo>
                  <a:pt x="0" y="0"/>
                </a:moveTo>
                <a:lnTo>
                  <a:pt x="5223803" y="0"/>
                </a:lnTo>
                <a:lnTo>
                  <a:pt x="5223803" y="5223803"/>
                </a:lnTo>
                <a:lnTo>
                  <a:pt x="0" y="52238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 dirty="0"/>
          </a:p>
        </p:txBody>
      </p:sp>
      <p:sp>
        <p:nvSpPr>
          <p:cNvPr id="14" name="Freeform 14"/>
          <p:cNvSpPr/>
          <p:nvPr/>
        </p:nvSpPr>
        <p:spPr>
          <a:xfrm rot="-2095306">
            <a:off x="2142521" y="6039150"/>
            <a:ext cx="923622" cy="491829"/>
          </a:xfrm>
          <a:custGeom>
            <a:avLst/>
            <a:gdLst/>
            <a:ahLst/>
            <a:cxnLst/>
            <a:rect l="l" t="t" r="r" b="b"/>
            <a:pathLst>
              <a:path w="923622" h="491829">
                <a:moveTo>
                  <a:pt x="0" y="0"/>
                </a:moveTo>
                <a:lnTo>
                  <a:pt x="923622" y="0"/>
                </a:lnTo>
                <a:lnTo>
                  <a:pt x="923622" y="491829"/>
                </a:lnTo>
                <a:lnTo>
                  <a:pt x="0" y="49182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rot="-164999" flipH="1">
            <a:off x="7000403" y="6306938"/>
            <a:ext cx="923622" cy="491829"/>
          </a:xfrm>
          <a:custGeom>
            <a:avLst/>
            <a:gdLst/>
            <a:ahLst/>
            <a:cxnLst/>
            <a:rect l="l" t="t" r="r" b="b"/>
            <a:pathLst>
              <a:path w="923622" h="491829">
                <a:moveTo>
                  <a:pt x="923622" y="0"/>
                </a:moveTo>
                <a:lnTo>
                  <a:pt x="0" y="0"/>
                </a:lnTo>
                <a:lnTo>
                  <a:pt x="0" y="491829"/>
                </a:lnTo>
                <a:lnTo>
                  <a:pt x="923622" y="491829"/>
                </a:lnTo>
                <a:lnTo>
                  <a:pt x="923622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rot="-3447596" flipH="1">
            <a:off x="3754293" y="2464596"/>
            <a:ext cx="923622" cy="491829"/>
          </a:xfrm>
          <a:custGeom>
            <a:avLst/>
            <a:gdLst/>
            <a:ahLst/>
            <a:cxnLst/>
            <a:rect l="l" t="t" r="r" b="b"/>
            <a:pathLst>
              <a:path w="923622" h="491829">
                <a:moveTo>
                  <a:pt x="923621" y="0"/>
                </a:moveTo>
                <a:lnTo>
                  <a:pt x="0" y="0"/>
                </a:lnTo>
                <a:lnTo>
                  <a:pt x="0" y="491829"/>
                </a:lnTo>
                <a:lnTo>
                  <a:pt x="923621" y="491829"/>
                </a:lnTo>
                <a:lnTo>
                  <a:pt x="92362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17" name="Group 17"/>
          <p:cNvGrpSpPr/>
          <p:nvPr/>
        </p:nvGrpSpPr>
        <p:grpSpPr>
          <a:xfrm>
            <a:off x="16072216" y="2095786"/>
            <a:ext cx="1078817" cy="943965"/>
            <a:chOff x="0" y="0"/>
            <a:chExt cx="812800" cy="7112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E4E4E4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6885340" y="3108053"/>
            <a:ext cx="695300" cy="608388"/>
            <a:chOff x="0" y="0"/>
            <a:chExt cx="812800" cy="7112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BFDDD2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3" name="Freeform 23"/>
          <p:cNvSpPr/>
          <p:nvPr/>
        </p:nvSpPr>
        <p:spPr>
          <a:xfrm>
            <a:off x="338804" y="8877554"/>
            <a:ext cx="934267" cy="934267"/>
          </a:xfrm>
          <a:custGeom>
            <a:avLst/>
            <a:gdLst/>
            <a:ahLst/>
            <a:cxnLst/>
            <a:rect l="l" t="t" r="r" b="b"/>
            <a:pathLst>
              <a:path w="934267" h="934267">
                <a:moveTo>
                  <a:pt x="0" y="0"/>
                </a:moveTo>
                <a:lnTo>
                  <a:pt x="934266" y="0"/>
                </a:lnTo>
                <a:lnTo>
                  <a:pt x="934266" y="934267"/>
                </a:lnTo>
                <a:lnTo>
                  <a:pt x="0" y="93426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9809668" y="1515396"/>
            <a:ext cx="2042352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Hasil A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809668" y="3862356"/>
            <a:ext cx="2042352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Hasil B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809668" y="6339077"/>
            <a:ext cx="2042352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Hasil C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809668" y="2238661"/>
            <a:ext cx="5741723" cy="1099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Hasil penelitian dapat anda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tuliskan pada halaman ini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809668" y="4581011"/>
            <a:ext cx="5741723" cy="1099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Hasil penelitian dapat anda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tuliskan pada halaman ini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809668" y="7062342"/>
            <a:ext cx="5741723" cy="1099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Hasil penelitian dapat anda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tuliskan pada halaman ini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445845" y="567841"/>
            <a:ext cx="2770259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 spc="14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UNIVERSITAS</a:t>
            </a:r>
          </a:p>
          <a:p>
            <a:pPr algn="l">
              <a:lnSpc>
                <a:spcPts val="3360"/>
              </a:lnSpc>
            </a:pPr>
            <a:r>
              <a:rPr lang="en-US" sz="2800" spc="14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TIMMERMAN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429915" y="8963025"/>
            <a:ext cx="4752692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200"/>
              </a:lnSpc>
            </a:pPr>
            <a:r>
              <a:rPr lang="en-US" sz="3000" b="1" spc="30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SEMINAR PROPOSAL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364859" y="6753965"/>
            <a:ext cx="1681786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Hasil A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441976" y="6753965"/>
            <a:ext cx="1681786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Hasil B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531036" y="2000536"/>
            <a:ext cx="1681786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Hasil C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FD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36675" y="2770483"/>
            <a:ext cx="6104024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00"/>
              </a:lnSpc>
            </a:pPr>
            <a:r>
              <a:rPr lang="en-US" sz="7500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Kesimpulan</a:t>
            </a:r>
          </a:p>
        </p:txBody>
      </p:sp>
      <p:sp>
        <p:nvSpPr>
          <p:cNvPr id="3" name="Freeform 3"/>
          <p:cNvSpPr/>
          <p:nvPr/>
        </p:nvSpPr>
        <p:spPr>
          <a:xfrm>
            <a:off x="389196" y="7453479"/>
            <a:ext cx="4072345" cy="4066842"/>
          </a:xfrm>
          <a:custGeom>
            <a:avLst/>
            <a:gdLst/>
            <a:ahLst/>
            <a:cxnLst/>
            <a:rect l="l" t="t" r="r" b="b"/>
            <a:pathLst>
              <a:path w="4072345" h="4066842">
                <a:moveTo>
                  <a:pt x="0" y="0"/>
                </a:moveTo>
                <a:lnTo>
                  <a:pt x="4072345" y="0"/>
                </a:lnTo>
                <a:lnTo>
                  <a:pt x="4072345" y="4066842"/>
                </a:lnTo>
                <a:lnTo>
                  <a:pt x="0" y="40668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0" y="10073435"/>
            <a:ext cx="18288000" cy="213565"/>
            <a:chOff x="0" y="0"/>
            <a:chExt cx="4816593" cy="5624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2" cy="56248"/>
            </a:xfrm>
            <a:custGeom>
              <a:avLst/>
              <a:gdLst/>
              <a:ahLst/>
              <a:cxnLst/>
              <a:rect l="l" t="t" r="r" b="b"/>
              <a:pathLst>
                <a:path w="4816592" h="56248">
                  <a:moveTo>
                    <a:pt x="0" y="0"/>
                  </a:moveTo>
                  <a:lnTo>
                    <a:pt x="4816592" y="0"/>
                  </a:lnTo>
                  <a:lnTo>
                    <a:pt x="4816592" y="56248"/>
                  </a:lnTo>
                  <a:lnTo>
                    <a:pt x="0" y="56248"/>
                  </a:lnTo>
                  <a:close/>
                </a:path>
              </a:pathLst>
            </a:custGeom>
            <a:solidFill>
              <a:srgbClr val="5DA295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4816593" cy="943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flipV="1">
            <a:off x="14729434" y="-317609"/>
            <a:ext cx="4180831" cy="3386473"/>
          </a:xfrm>
          <a:custGeom>
            <a:avLst/>
            <a:gdLst/>
            <a:ahLst/>
            <a:cxnLst/>
            <a:rect l="l" t="t" r="r" b="b"/>
            <a:pathLst>
              <a:path w="4180831" h="3386473">
                <a:moveTo>
                  <a:pt x="0" y="3386473"/>
                </a:moveTo>
                <a:lnTo>
                  <a:pt x="4180831" y="3386473"/>
                </a:lnTo>
                <a:lnTo>
                  <a:pt x="4180831" y="0"/>
                </a:lnTo>
                <a:lnTo>
                  <a:pt x="0" y="0"/>
                </a:lnTo>
                <a:lnTo>
                  <a:pt x="0" y="338647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0" y="0"/>
            <a:ext cx="18288000" cy="213565"/>
            <a:chOff x="0" y="0"/>
            <a:chExt cx="4816593" cy="5624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816592" cy="56248"/>
            </a:xfrm>
            <a:custGeom>
              <a:avLst/>
              <a:gdLst/>
              <a:ahLst/>
              <a:cxnLst/>
              <a:rect l="l" t="t" r="r" b="b"/>
              <a:pathLst>
                <a:path w="4816592" h="56248">
                  <a:moveTo>
                    <a:pt x="0" y="0"/>
                  </a:moveTo>
                  <a:lnTo>
                    <a:pt x="4816592" y="0"/>
                  </a:lnTo>
                  <a:lnTo>
                    <a:pt x="4816592" y="56248"/>
                  </a:lnTo>
                  <a:lnTo>
                    <a:pt x="0" y="56248"/>
                  </a:lnTo>
                  <a:close/>
                </a:path>
              </a:pathLst>
            </a:custGeom>
            <a:solidFill>
              <a:srgbClr val="5DA295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4816593" cy="943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389196" y="598254"/>
            <a:ext cx="851704" cy="777374"/>
          </a:xfrm>
          <a:custGeom>
            <a:avLst/>
            <a:gdLst/>
            <a:ahLst/>
            <a:cxnLst/>
            <a:rect l="l" t="t" r="r" b="b"/>
            <a:pathLst>
              <a:path w="851704" h="777374">
                <a:moveTo>
                  <a:pt x="0" y="0"/>
                </a:moveTo>
                <a:lnTo>
                  <a:pt x="851705" y="0"/>
                </a:lnTo>
                <a:lnTo>
                  <a:pt x="851705" y="777374"/>
                </a:lnTo>
                <a:lnTo>
                  <a:pt x="0" y="7773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32097" y="758341"/>
            <a:ext cx="365904" cy="337962"/>
          </a:xfrm>
          <a:custGeom>
            <a:avLst/>
            <a:gdLst/>
            <a:ahLst/>
            <a:cxnLst/>
            <a:rect l="l" t="t" r="r" b="b"/>
            <a:pathLst>
              <a:path w="365904" h="337962">
                <a:moveTo>
                  <a:pt x="0" y="0"/>
                </a:moveTo>
                <a:lnTo>
                  <a:pt x="365903" y="0"/>
                </a:lnTo>
                <a:lnTo>
                  <a:pt x="365903" y="337962"/>
                </a:lnTo>
                <a:lnTo>
                  <a:pt x="0" y="3379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6564000" y="8834437"/>
            <a:ext cx="955170" cy="762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299"/>
              </a:lnSpc>
            </a:pPr>
            <a:r>
              <a:rPr lang="en-US" sz="4499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12</a:t>
            </a:r>
          </a:p>
        </p:txBody>
      </p:sp>
      <p:sp>
        <p:nvSpPr>
          <p:cNvPr id="14" name="AutoShape 14"/>
          <p:cNvSpPr/>
          <p:nvPr/>
        </p:nvSpPr>
        <p:spPr>
          <a:xfrm>
            <a:off x="16564000" y="8877554"/>
            <a:ext cx="0" cy="761492"/>
          </a:xfrm>
          <a:prstGeom prst="line">
            <a:avLst/>
          </a:prstGeom>
          <a:ln w="95250" cap="flat">
            <a:solidFill>
              <a:srgbClr val="5DA29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AutoShape 15"/>
          <p:cNvSpPr/>
          <p:nvPr/>
        </p:nvSpPr>
        <p:spPr>
          <a:xfrm flipV="1">
            <a:off x="8324030" y="2922817"/>
            <a:ext cx="0" cy="4198362"/>
          </a:xfrm>
          <a:prstGeom prst="line">
            <a:avLst/>
          </a:prstGeom>
          <a:ln w="66675" cap="flat">
            <a:solidFill>
              <a:srgbClr val="5DA29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Freeform 16"/>
          <p:cNvSpPr/>
          <p:nvPr/>
        </p:nvSpPr>
        <p:spPr>
          <a:xfrm>
            <a:off x="3679812" y="6770983"/>
            <a:ext cx="1072583" cy="1072583"/>
          </a:xfrm>
          <a:custGeom>
            <a:avLst/>
            <a:gdLst/>
            <a:ahLst/>
            <a:cxnLst/>
            <a:rect l="l" t="t" r="r" b="b"/>
            <a:pathLst>
              <a:path w="1072583" h="1072583">
                <a:moveTo>
                  <a:pt x="0" y="0"/>
                </a:moveTo>
                <a:lnTo>
                  <a:pt x="1072583" y="0"/>
                </a:lnTo>
                <a:lnTo>
                  <a:pt x="1072583" y="1072583"/>
                </a:lnTo>
                <a:lnTo>
                  <a:pt x="0" y="107258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8961631" y="2856208"/>
            <a:ext cx="7351080" cy="2380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Kesimpulan merupakan hasil dari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penelitian yang telah dilakukan,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penjabarannya dapat anda tuliskan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dihalaman ini.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961631" y="5522573"/>
            <a:ext cx="7351080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Hal tersebut menjadi kesimpulan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penelitian ini dilakukan.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45845" y="567841"/>
            <a:ext cx="2770259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 spc="14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UNIVERSITAS</a:t>
            </a:r>
          </a:p>
          <a:p>
            <a:pPr algn="l">
              <a:lnSpc>
                <a:spcPts val="3360"/>
              </a:lnSpc>
            </a:pPr>
            <a:r>
              <a:rPr lang="en-US" sz="2800" spc="14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TIMMERMAN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429915" y="8963025"/>
            <a:ext cx="4752692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200"/>
              </a:lnSpc>
            </a:pPr>
            <a:r>
              <a:rPr lang="en-US" sz="3000" b="1" spc="30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SEMINAR PROPOSAL</a:t>
            </a:r>
          </a:p>
        </p:txBody>
      </p:sp>
      <p:sp>
        <p:nvSpPr>
          <p:cNvPr id="21" name="Freeform 21"/>
          <p:cNvSpPr/>
          <p:nvPr/>
        </p:nvSpPr>
        <p:spPr>
          <a:xfrm>
            <a:off x="14023509" y="649617"/>
            <a:ext cx="1792620" cy="1452022"/>
          </a:xfrm>
          <a:custGeom>
            <a:avLst/>
            <a:gdLst/>
            <a:ahLst/>
            <a:cxnLst/>
            <a:rect l="l" t="t" r="r" b="b"/>
            <a:pathLst>
              <a:path w="1792620" h="1452022">
                <a:moveTo>
                  <a:pt x="0" y="0"/>
                </a:moveTo>
                <a:lnTo>
                  <a:pt x="1792620" y="0"/>
                </a:lnTo>
                <a:lnTo>
                  <a:pt x="1792620" y="1452022"/>
                </a:lnTo>
                <a:lnTo>
                  <a:pt x="0" y="145202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9317540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5143500"/>
            <a:chOff x="0" y="0"/>
            <a:chExt cx="4816593" cy="13546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1354667"/>
            </a:xfrm>
            <a:custGeom>
              <a:avLst/>
              <a:gdLst/>
              <a:ahLst/>
              <a:cxnLst/>
              <a:rect l="l" t="t" r="r" b="b"/>
              <a:pathLst>
                <a:path w="4816592" h="1354667">
                  <a:moveTo>
                    <a:pt x="0" y="0"/>
                  </a:moveTo>
                  <a:lnTo>
                    <a:pt x="4816592" y="0"/>
                  </a:lnTo>
                  <a:lnTo>
                    <a:pt x="4816592" y="1354667"/>
                  </a:lnTo>
                  <a:lnTo>
                    <a:pt x="0" y="1354667"/>
                  </a:lnTo>
                  <a:close/>
                </a:path>
              </a:pathLst>
            </a:custGeom>
            <a:solidFill>
              <a:srgbClr val="BFDDD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13927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-1793761" y="6435839"/>
            <a:ext cx="5644923" cy="5644923"/>
          </a:xfrm>
          <a:custGeom>
            <a:avLst/>
            <a:gdLst/>
            <a:ahLst/>
            <a:cxnLst/>
            <a:rect l="l" t="t" r="r" b="b"/>
            <a:pathLst>
              <a:path w="5644923" h="5644923">
                <a:moveTo>
                  <a:pt x="0" y="0"/>
                </a:moveTo>
                <a:lnTo>
                  <a:pt x="5644922" y="0"/>
                </a:lnTo>
                <a:lnTo>
                  <a:pt x="5644922" y="5644922"/>
                </a:lnTo>
                <a:lnTo>
                  <a:pt x="0" y="56449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0" y="10073435"/>
            <a:ext cx="18288000" cy="213565"/>
            <a:chOff x="0" y="0"/>
            <a:chExt cx="4816593" cy="5624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56248"/>
            </a:xfrm>
            <a:custGeom>
              <a:avLst/>
              <a:gdLst/>
              <a:ahLst/>
              <a:cxnLst/>
              <a:rect l="l" t="t" r="r" b="b"/>
              <a:pathLst>
                <a:path w="4816592" h="56248">
                  <a:moveTo>
                    <a:pt x="0" y="0"/>
                  </a:moveTo>
                  <a:lnTo>
                    <a:pt x="4816592" y="0"/>
                  </a:lnTo>
                  <a:lnTo>
                    <a:pt x="4816592" y="56248"/>
                  </a:lnTo>
                  <a:lnTo>
                    <a:pt x="0" y="56248"/>
                  </a:lnTo>
                  <a:close/>
                </a:path>
              </a:pathLst>
            </a:custGeom>
            <a:solidFill>
              <a:srgbClr val="5DA295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816593" cy="943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389196" y="598254"/>
            <a:ext cx="851704" cy="777374"/>
          </a:xfrm>
          <a:custGeom>
            <a:avLst/>
            <a:gdLst/>
            <a:ahLst/>
            <a:cxnLst/>
            <a:rect l="l" t="t" r="r" b="b"/>
            <a:pathLst>
              <a:path w="851704" h="777374">
                <a:moveTo>
                  <a:pt x="0" y="0"/>
                </a:moveTo>
                <a:lnTo>
                  <a:pt x="851705" y="0"/>
                </a:lnTo>
                <a:lnTo>
                  <a:pt x="851705" y="777374"/>
                </a:lnTo>
                <a:lnTo>
                  <a:pt x="0" y="7773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632097" y="758341"/>
            <a:ext cx="365904" cy="337962"/>
          </a:xfrm>
          <a:custGeom>
            <a:avLst/>
            <a:gdLst/>
            <a:ahLst/>
            <a:cxnLst/>
            <a:rect l="l" t="t" r="r" b="b"/>
            <a:pathLst>
              <a:path w="365904" h="337962">
                <a:moveTo>
                  <a:pt x="0" y="0"/>
                </a:moveTo>
                <a:lnTo>
                  <a:pt x="365903" y="0"/>
                </a:lnTo>
                <a:lnTo>
                  <a:pt x="365903" y="337962"/>
                </a:lnTo>
                <a:lnTo>
                  <a:pt x="0" y="3379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6564000" y="8834437"/>
            <a:ext cx="955170" cy="762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299"/>
              </a:lnSpc>
            </a:pPr>
            <a:r>
              <a:rPr lang="en-US" sz="4499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13</a:t>
            </a:r>
          </a:p>
        </p:txBody>
      </p:sp>
      <p:sp>
        <p:nvSpPr>
          <p:cNvPr id="12" name="AutoShape 12"/>
          <p:cNvSpPr/>
          <p:nvPr/>
        </p:nvSpPr>
        <p:spPr>
          <a:xfrm>
            <a:off x="16564000" y="8877554"/>
            <a:ext cx="0" cy="761492"/>
          </a:xfrm>
          <a:prstGeom prst="line">
            <a:avLst/>
          </a:prstGeom>
          <a:ln w="95250" cap="flat">
            <a:solidFill>
              <a:srgbClr val="5DA295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2589302" y="2571750"/>
            <a:ext cx="3214911" cy="5803986"/>
            <a:chOff x="0" y="0"/>
            <a:chExt cx="4762500" cy="85979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762500" cy="8597900"/>
            </a:xfrm>
            <a:custGeom>
              <a:avLst/>
              <a:gdLst/>
              <a:ahLst/>
              <a:cxnLst/>
              <a:rect l="l" t="t" r="r" b="b"/>
              <a:pathLst>
                <a:path w="4762500" h="8597900">
                  <a:moveTo>
                    <a:pt x="4762500" y="254000"/>
                  </a:moveTo>
                  <a:lnTo>
                    <a:pt x="4762500" y="8343900"/>
                  </a:lnTo>
                  <a:cubicBezTo>
                    <a:pt x="4762500" y="8484235"/>
                    <a:pt x="4648835" y="8597900"/>
                    <a:pt x="4508500" y="8597900"/>
                  </a:cubicBezTo>
                  <a:lnTo>
                    <a:pt x="254000" y="8597900"/>
                  </a:lnTo>
                  <a:cubicBezTo>
                    <a:pt x="113665" y="8597900"/>
                    <a:pt x="0" y="8484235"/>
                    <a:pt x="0" y="8343900"/>
                  </a:cubicBezTo>
                  <a:lnTo>
                    <a:pt x="0" y="254000"/>
                  </a:lnTo>
                  <a:cubicBezTo>
                    <a:pt x="0" y="113665"/>
                    <a:pt x="113665" y="0"/>
                    <a:pt x="254000" y="0"/>
                  </a:cubicBezTo>
                  <a:lnTo>
                    <a:pt x="4508500" y="0"/>
                  </a:lnTo>
                  <a:cubicBezTo>
                    <a:pt x="4648835" y="0"/>
                    <a:pt x="4762500" y="113665"/>
                    <a:pt x="4762500" y="254000"/>
                  </a:cubicBezTo>
                  <a:close/>
                </a:path>
              </a:pathLst>
            </a:custGeom>
            <a:blipFill>
              <a:blip r:embed="rId8"/>
              <a:stretch>
                <a:fillRect l="-85484" r="-85484"/>
              </a:stretch>
            </a:blipFill>
          </p:spPr>
        </p:sp>
      </p:grp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12483787" y="2571750"/>
            <a:ext cx="3214911" cy="5803986"/>
            <a:chOff x="0" y="0"/>
            <a:chExt cx="4762500" cy="85979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762500" cy="8597900"/>
            </a:xfrm>
            <a:custGeom>
              <a:avLst/>
              <a:gdLst/>
              <a:ahLst/>
              <a:cxnLst/>
              <a:rect l="l" t="t" r="r" b="b"/>
              <a:pathLst>
                <a:path w="4762500" h="8597900">
                  <a:moveTo>
                    <a:pt x="4762500" y="254000"/>
                  </a:moveTo>
                  <a:lnTo>
                    <a:pt x="4762500" y="8343900"/>
                  </a:lnTo>
                  <a:cubicBezTo>
                    <a:pt x="4762500" y="8484235"/>
                    <a:pt x="4648835" y="8597900"/>
                    <a:pt x="4508500" y="8597900"/>
                  </a:cubicBezTo>
                  <a:lnTo>
                    <a:pt x="254000" y="8597900"/>
                  </a:lnTo>
                  <a:cubicBezTo>
                    <a:pt x="113665" y="8597900"/>
                    <a:pt x="0" y="8484235"/>
                    <a:pt x="0" y="8343900"/>
                  </a:cubicBezTo>
                  <a:lnTo>
                    <a:pt x="0" y="254000"/>
                  </a:lnTo>
                  <a:cubicBezTo>
                    <a:pt x="0" y="113665"/>
                    <a:pt x="113665" y="0"/>
                    <a:pt x="254000" y="0"/>
                  </a:cubicBezTo>
                  <a:lnTo>
                    <a:pt x="4508500" y="0"/>
                  </a:lnTo>
                  <a:cubicBezTo>
                    <a:pt x="4648835" y="0"/>
                    <a:pt x="4762500" y="113665"/>
                    <a:pt x="4762500" y="254000"/>
                  </a:cubicBezTo>
                  <a:close/>
                </a:path>
              </a:pathLst>
            </a:custGeom>
            <a:blipFill>
              <a:blip r:embed="rId9"/>
              <a:stretch>
                <a:fillRect l="-18368" r="-1911"/>
              </a:stretch>
            </a:blipFill>
          </p:spPr>
        </p:sp>
      </p:grpSp>
      <p:grpSp>
        <p:nvGrpSpPr>
          <p:cNvPr id="17" name="Group 17"/>
          <p:cNvGrpSpPr>
            <a:grpSpLocks noChangeAspect="1"/>
          </p:cNvGrpSpPr>
          <p:nvPr/>
        </p:nvGrpSpPr>
        <p:grpSpPr>
          <a:xfrm>
            <a:off x="6004081" y="5874258"/>
            <a:ext cx="6253695" cy="2501478"/>
            <a:chOff x="0" y="0"/>
            <a:chExt cx="6350000" cy="25400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350000" cy="2540000"/>
            </a:xfrm>
            <a:custGeom>
              <a:avLst/>
              <a:gdLst/>
              <a:ahLst/>
              <a:cxnLst/>
              <a:rect l="l" t="t" r="r" b="b"/>
              <a:pathLst>
                <a:path w="6350000" h="2540000">
                  <a:moveTo>
                    <a:pt x="0" y="2159000"/>
                  </a:moveTo>
                  <a:lnTo>
                    <a:pt x="0" y="381000"/>
                  </a:lnTo>
                  <a:cubicBezTo>
                    <a:pt x="0" y="170180"/>
                    <a:pt x="170180" y="0"/>
                    <a:pt x="381000" y="0"/>
                  </a:cubicBezTo>
                  <a:lnTo>
                    <a:pt x="5969000" y="0"/>
                  </a:lnTo>
                  <a:cubicBezTo>
                    <a:pt x="6179820" y="0"/>
                    <a:pt x="6350000" y="170180"/>
                    <a:pt x="6350000" y="381000"/>
                  </a:cubicBezTo>
                  <a:lnTo>
                    <a:pt x="6350000" y="2159000"/>
                  </a:lnTo>
                  <a:cubicBezTo>
                    <a:pt x="6350000" y="2369820"/>
                    <a:pt x="6179820" y="2540000"/>
                    <a:pt x="5969000" y="2540000"/>
                  </a:cubicBezTo>
                  <a:lnTo>
                    <a:pt x="381000" y="2540000"/>
                  </a:lnTo>
                  <a:cubicBezTo>
                    <a:pt x="170180" y="2540000"/>
                    <a:pt x="0" y="2369820"/>
                    <a:pt x="0" y="2159000"/>
                  </a:cubicBezTo>
                  <a:close/>
                </a:path>
              </a:pathLst>
            </a:custGeom>
            <a:blipFill>
              <a:blip r:embed="rId10"/>
              <a:stretch>
                <a:fillRect t="-33437" b="-33437"/>
              </a:stretch>
            </a:blipFill>
          </p:spPr>
        </p:sp>
      </p:grpSp>
      <p:grpSp>
        <p:nvGrpSpPr>
          <p:cNvPr id="19" name="Group 19"/>
          <p:cNvGrpSpPr>
            <a:grpSpLocks noChangeAspect="1"/>
          </p:cNvGrpSpPr>
          <p:nvPr/>
        </p:nvGrpSpPr>
        <p:grpSpPr>
          <a:xfrm>
            <a:off x="6065796" y="2579012"/>
            <a:ext cx="2983184" cy="2983184"/>
            <a:chOff x="0" y="0"/>
            <a:chExt cx="6350000" cy="63500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5715000" y="6350000"/>
                  </a:moveTo>
                  <a:lnTo>
                    <a:pt x="635000" y="6350000"/>
                  </a:lnTo>
                  <a:cubicBezTo>
                    <a:pt x="284480" y="6350000"/>
                    <a:pt x="0" y="6065520"/>
                    <a:pt x="0" y="5715000"/>
                  </a:cubicBezTo>
                  <a:lnTo>
                    <a:pt x="0" y="635000"/>
                  </a:lnTo>
                  <a:cubicBezTo>
                    <a:pt x="0" y="284480"/>
                    <a:pt x="284480" y="0"/>
                    <a:pt x="635000" y="0"/>
                  </a:cubicBezTo>
                  <a:lnTo>
                    <a:pt x="5715000" y="0"/>
                  </a:lnTo>
                  <a:cubicBezTo>
                    <a:pt x="6065520" y="0"/>
                    <a:pt x="6350000" y="284480"/>
                    <a:pt x="6350000" y="635000"/>
                  </a:cubicBezTo>
                  <a:lnTo>
                    <a:pt x="6350000" y="5715000"/>
                  </a:lnTo>
                  <a:cubicBezTo>
                    <a:pt x="6350000" y="6065520"/>
                    <a:pt x="6065520" y="6350000"/>
                    <a:pt x="5715000" y="6350000"/>
                  </a:cubicBezTo>
                  <a:close/>
                </a:path>
              </a:pathLst>
            </a:custGeom>
            <a:blipFill>
              <a:blip r:embed="rId11"/>
              <a:stretch>
                <a:fillRect l="-24906" r="-24906"/>
              </a:stretch>
            </a:blipFill>
          </p:spPr>
        </p:sp>
      </p:grpSp>
      <p:grpSp>
        <p:nvGrpSpPr>
          <p:cNvPr id="21" name="Group 21"/>
          <p:cNvGrpSpPr>
            <a:grpSpLocks noChangeAspect="1"/>
          </p:cNvGrpSpPr>
          <p:nvPr/>
        </p:nvGrpSpPr>
        <p:grpSpPr>
          <a:xfrm>
            <a:off x="9239020" y="2579012"/>
            <a:ext cx="2983184" cy="2983184"/>
            <a:chOff x="0" y="0"/>
            <a:chExt cx="6350000" cy="63500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5715000" y="6350000"/>
                  </a:moveTo>
                  <a:lnTo>
                    <a:pt x="635000" y="6350000"/>
                  </a:lnTo>
                  <a:cubicBezTo>
                    <a:pt x="284480" y="6350000"/>
                    <a:pt x="0" y="6065520"/>
                    <a:pt x="0" y="5715000"/>
                  </a:cubicBezTo>
                  <a:lnTo>
                    <a:pt x="0" y="635000"/>
                  </a:lnTo>
                  <a:cubicBezTo>
                    <a:pt x="0" y="284480"/>
                    <a:pt x="284480" y="0"/>
                    <a:pt x="635000" y="0"/>
                  </a:cubicBezTo>
                  <a:lnTo>
                    <a:pt x="5715000" y="0"/>
                  </a:lnTo>
                  <a:cubicBezTo>
                    <a:pt x="6065520" y="0"/>
                    <a:pt x="6350000" y="284480"/>
                    <a:pt x="6350000" y="635000"/>
                  </a:cubicBezTo>
                  <a:lnTo>
                    <a:pt x="6350000" y="5715000"/>
                  </a:lnTo>
                  <a:cubicBezTo>
                    <a:pt x="6350000" y="6065520"/>
                    <a:pt x="6065520" y="6350000"/>
                    <a:pt x="5715000" y="6350000"/>
                  </a:cubicBezTo>
                  <a:close/>
                </a:path>
              </a:pathLst>
            </a:custGeom>
            <a:blipFill>
              <a:blip r:embed="rId12"/>
              <a:stretch>
                <a:fillRect l="-18225" r="-31868"/>
              </a:stretch>
            </a:blipFill>
          </p:spPr>
        </p:sp>
      </p:grpSp>
      <p:sp>
        <p:nvSpPr>
          <p:cNvPr id="23" name="Freeform 23"/>
          <p:cNvSpPr/>
          <p:nvPr/>
        </p:nvSpPr>
        <p:spPr>
          <a:xfrm>
            <a:off x="14553697" y="-2162787"/>
            <a:ext cx="3734303" cy="3936024"/>
          </a:xfrm>
          <a:custGeom>
            <a:avLst/>
            <a:gdLst/>
            <a:ahLst/>
            <a:cxnLst/>
            <a:rect l="l" t="t" r="r" b="b"/>
            <a:pathLst>
              <a:path w="3734303" h="3936024">
                <a:moveTo>
                  <a:pt x="0" y="0"/>
                </a:moveTo>
                <a:lnTo>
                  <a:pt x="3734303" y="0"/>
                </a:lnTo>
                <a:lnTo>
                  <a:pt x="3734303" y="3936024"/>
                </a:lnTo>
                <a:lnTo>
                  <a:pt x="0" y="393602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6293048" y="1377223"/>
            <a:ext cx="966252" cy="966252"/>
          </a:xfrm>
          <a:custGeom>
            <a:avLst/>
            <a:gdLst/>
            <a:ahLst/>
            <a:cxnLst/>
            <a:rect l="l" t="t" r="r" b="b"/>
            <a:pathLst>
              <a:path w="966252" h="966252">
                <a:moveTo>
                  <a:pt x="0" y="0"/>
                </a:moveTo>
                <a:lnTo>
                  <a:pt x="966252" y="0"/>
                </a:lnTo>
                <a:lnTo>
                  <a:pt x="966252" y="966251"/>
                </a:lnTo>
                <a:lnTo>
                  <a:pt x="0" y="96625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7031024" y="2343474"/>
            <a:ext cx="456551" cy="456551"/>
          </a:xfrm>
          <a:custGeom>
            <a:avLst/>
            <a:gdLst/>
            <a:ahLst/>
            <a:cxnLst/>
            <a:rect l="l" t="t" r="r" b="b"/>
            <a:pathLst>
              <a:path w="456551" h="456551">
                <a:moveTo>
                  <a:pt x="0" y="0"/>
                </a:moveTo>
                <a:lnTo>
                  <a:pt x="456552" y="0"/>
                </a:lnTo>
                <a:lnTo>
                  <a:pt x="456552" y="456552"/>
                </a:lnTo>
                <a:lnTo>
                  <a:pt x="0" y="456552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5041246" y="1155700"/>
            <a:ext cx="8205508" cy="1111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99"/>
              </a:lnSpc>
            </a:pPr>
            <a:r>
              <a:rPr lang="en-US" sz="6499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Galeri Penelitian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445845" y="567841"/>
            <a:ext cx="2770259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 spc="14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UNIVERSITAS</a:t>
            </a:r>
          </a:p>
          <a:p>
            <a:pPr algn="l">
              <a:lnSpc>
                <a:spcPts val="3360"/>
              </a:lnSpc>
            </a:pPr>
            <a:r>
              <a:rPr lang="en-US" sz="2800" spc="14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TIMMERMAN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429915" y="8963025"/>
            <a:ext cx="4752692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200"/>
              </a:lnSpc>
            </a:pPr>
            <a:r>
              <a:rPr lang="en-US" sz="3000" b="1" spc="30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SEMINAR PROPOSAL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247856" y="1873356"/>
            <a:ext cx="5384322" cy="3425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sz="6500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Referensi</a:t>
            </a:r>
          </a:p>
          <a:p>
            <a:pPr algn="l">
              <a:lnSpc>
                <a:spcPts val="9100"/>
              </a:lnSpc>
            </a:pPr>
            <a:r>
              <a:rPr lang="en-US" sz="6500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Sumber</a:t>
            </a:r>
          </a:p>
          <a:p>
            <a:pPr algn="l">
              <a:lnSpc>
                <a:spcPts val="9100"/>
              </a:lnSpc>
            </a:pPr>
            <a:r>
              <a:rPr lang="en-US" sz="6500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Penelitian</a:t>
            </a:r>
          </a:p>
        </p:txBody>
      </p:sp>
      <p:sp>
        <p:nvSpPr>
          <p:cNvPr id="3" name="Freeform 3"/>
          <p:cNvSpPr/>
          <p:nvPr/>
        </p:nvSpPr>
        <p:spPr>
          <a:xfrm>
            <a:off x="-325912" y="6736891"/>
            <a:ext cx="4384217" cy="3551216"/>
          </a:xfrm>
          <a:custGeom>
            <a:avLst/>
            <a:gdLst/>
            <a:ahLst/>
            <a:cxnLst/>
            <a:rect l="l" t="t" r="r" b="b"/>
            <a:pathLst>
              <a:path w="4384217" h="3551216">
                <a:moveTo>
                  <a:pt x="0" y="0"/>
                </a:moveTo>
                <a:lnTo>
                  <a:pt x="4384216" y="0"/>
                </a:lnTo>
                <a:lnTo>
                  <a:pt x="4384216" y="3551216"/>
                </a:lnTo>
                <a:lnTo>
                  <a:pt x="0" y="35512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0" y="10073435"/>
            <a:ext cx="18288000" cy="213565"/>
            <a:chOff x="0" y="0"/>
            <a:chExt cx="4816593" cy="5624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2" cy="56248"/>
            </a:xfrm>
            <a:custGeom>
              <a:avLst/>
              <a:gdLst/>
              <a:ahLst/>
              <a:cxnLst/>
              <a:rect l="l" t="t" r="r" b="b"/>
              <a:pathLst>
                <a:path w="4816592" h="56248">
                  <a:moveTo>
                    <a:pt x="0" y="0"/>
                  </a:moveTo>
                  <a:lnTo>
                    <a:pt x="4816592" y="0"/>
                  </a:lnTo>
                  <a:lnTo>
                    <a:pt x="4816592" y="56248"/>
                  </a:lnTo>
                  <a:lnTo>
                    <a:pt x="0" y="56248"/>
                  </a:lnTo>
                  <a:close/>
                </a:path>
              </a:pathLst>
            </a:custGeom>
            <a:solidFill>
              <a:srgbClr val="5DA295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4816593" cy="943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0"/>
            <a:ext cx="18288000" cy="213565"/>
            <a:chOff x="0" y="0"/>
            <a:chExt cx="4816593" cy="5624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816592" cy="56248"/>
            </a:xfrm>
            <a:custGeom>
              <a:avLst/>
              <a:gdLst/>
              <a:ahLst/>
              <a:cxnLst/>
              <a:rect l="l" t="t" r="r" b="b"/>
              <a:pathLst>
                <a:path w="4816592" h="56248">
                  <a:moveTo>
                    <a:pt x="0" y="0"/>
                  </a:moveTo>
                  <a:lnTo>
                    <a:pt x="4816592" y="0"/>
                  </a:lnTo>
                  <a:lnTo>
                    <a:pt x="4816592" y="56248"/>
                  </a:lnTo>
                  <a:lnTo>
                    <a:pt x="0" y="56248"/>
                  </a:lnTo>
                  <a:close/>
                </a:path>
              </a:pathLst>
            </a:custGeom>
            <a:solidFill>
              <a:srgbClr val="BFDDD2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816593" cy="943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389196" y="598254"/>
            <a:ext cx="851704" cy="777374"/>
          </a:xfrm>
          <a:custGeom>
            <a:avLst/>
            <a:gdLst/>
            <a:ahLst/>
            <a:cxnLst/>
            <a:rect l="l" t="t" r="r" b="b"/>
            <a:pathLst>
              <a:path w="851704" h="777374">
                <a:moveTo>
                  <a:pt x="0" y="0"/>
                </a:moveTo>
                <a:lnTo>
                  <a:pt x="851705" y="0"/>
                </a:lnTo>
                <a:lnTo>
                  <a:pt x="851705" y="777374"/>
                </a:lnTo>
                <a:lnTo>
                  <a:pt x="0" y="7773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632097" y="758341"/>
            <a:ext cx="365904" cy="337962"/>
          </a:xfrm>
          <a:custGeom>
            <a:avLst/>
            <a:gdLst/>
            <a:ahLst/>
            <a:cxnLst/>
            <a:rect l="l" t="t" r="r" b="b"/>
            <a:pathLst>
              <a:path w="365904" h="337962">
                <a:moveTo>
                  <a:pt x="0" y="0"/>
                </a:moveTo>
                <a:lnTo>
                  <a:pt x="365903" y="0"/>
                </a:lnTo>
                <a:lnTo>
                  <a:pt x="365903" y="337962"/>
                </a:lnTo>
                <a:lnTo>
                  <a:pt x="0" y="3379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6564000" y="8834437"/>
            <a:ext cx="955170" cy="762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299"/>
              </a:lnSpc>
            </a:pPr>
            <a:r>
              <a:rPr lang="en-US" sz="4499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14</a:t>
            </a:r>
          </a:p>
        </p:txBody>
      </p:sp>
      <p:sp>
        <p:nvSpPr>
          <p:cNvPr id="13" name="AutoShape 13"/>
          <p:cNvSpPr/>
          <p:nvPr/>
        </p:nvSpPr>
        <p:spPr>
          <a:xfrm>
            <a:off x="16564000" y="8877554"/>
            <a:ext cx="0" cy="761492"/>
          </a:xfrm>
          <a:prstGeom prst="line">
            <a:avLst/>
          </a:prstGeom>
          <a:ln w="95250" cap="flat">
            <a:solidFill>
              <a:srgbClr val="5DA29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/>
          <p:cNvSpPr/>
          <p:nvPr/>
        </p:nvSpPr>
        <p:spPr>
          <a:xfrm flipV="1">
            <a:off x="8598840" y="1828349"/>
            <a:ext cx="0" cy="6630302"/>
          </a:xfrm>
          <a:prstGeom prst="line">
            <a:avLst/>
          </a:prstGeom>
          <a:ln w="66675" cap="flat">
            <a:solidFill>
              <a:srgbClr val="5DA29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Freeform 15"/>
          <p:cNvSpPr/>
          <p:nvPr/>
        </p:nvSpPr>
        <p:spPr>
          <a:xfrm>
            <a:off x="16611625" y="599086"/>
            <a:ext cx="1206502" cy="1206502"/>
          </a:xfrm>
          <a:custGeom>
            <a:avLst/>
            <a:gdLst/>
            <a:ahLst/>
            <a:cxnLst/>
            <a:rect l="l" t="t" r="r" b="b"/>
            <a:pathLst>
              <a:path w="1206502" h="1206502">
                <a:moveTo>
                  <a:pt x="0" y="0"/>
                </a:moveTo>
                <a:lnTo>
                  <a:pt x="1206501" y="0"/>
                </a:lnTo>
                <a:lnTo>
                  <a:pt x="1206501" y="1206502"/>
                </a:lnTo>
                <a:lnTo>
                  <a:pt x="0" y="12065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2414780" y="7736953"/>
            <a:ext cx="1140601" cy="1140601"/>
          </a:xfrm>
          <a:custGeom>
            <a:avLst/>
            <a:gdLst/>
            <a:ahLst/>
            <a:cxnLst/>
            <a:rect l="l" t="t" r="r" b="b"/>
            <a:pathLst>
              <a:path w="1140601" h="1140601">
                <a:moveTo>
                  <a:pt x="0" y="0"/>
                </a:moveTo>
                <a:lnTo>
                  <a:pt x="1140601" y="0"/>
                </a:lnTo>
                <a:lnTo>
                  <a:pt x="1140601" y="1140601"/>
                </a:lnTo>
                <a:lnTo>
                  <a:pt x="0" y="11406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3327105" y="7258226"/>
            <a:ext cx="456551" cy="456551"/>
          </a:xfrm>
          <a:custGeom>
            <a:avLst/>
            <a:gdLst/>
            <a:ahLst/>
            <a:cxnLst/>
            <a:rect l="l" t="t" r="r" b="b"/>
            <a:pathLst>
              <a:path w="456551" h="456551">
                <a:moveTo>
                  <a:pt x="0" y="0"/>
                </a:moveTo>
                <a:lnTo>
                  <a:pt x="456551" y="0"/>
                </a:lnTo>
                <a:lnTo>
                  <a:pt x="456551" y="456551"/>
                </a:lnTo>
                <a:lnTo>
                  <a:pt x="0" y="45655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9223506" y="1949556"/>
            <a:ext cx="5816638" cy="1099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Referensi sumber penelitian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dapat anda tuliskan di sini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223506" y="3527601"/>
            <a:ext cx="5816638" cy="1099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Referensi sumber penelitian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dapat anda tuliskan di sini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223506" y="5103671"/>
            <a:ext cx="5816638" cy="1099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Referensi sumber penelitian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dapat anda tuliskan di sini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223506" y="6679741"/>
            <a:ext cx="5816638" cy="1099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Referensi sumber penelitian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dapat anda tuliskan di sini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45845" y="567841"/>
            <a:ext cx="2770259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 spc="14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UNIVERSITAS</a:t>
            </a:r>
          </a:p>
          <a:p>
            <a:pPr algn="l">
              <a:lnSpc>
                <a:spcPts val="3360"/>
              </a:lnSpc>
            </a:pPr>
            <a:r>
              <a:rPr lang="en-US" sz="2800" spc="14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TIMMERMAN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429915" y="8963025"/>
            <a:ext cx="4752692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200"/>
              </a:lnSpc>
            </a:pPr>
            <a:r>
              <a:rPr lang="en-US" sz="3000" b="1" spc="30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SEMINAR PROPOSAL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834</TotalTime>
  <Words>988</Words>
  <Application>Microsoft Office PowerPoint</Application>
  <PresentationFormat>Custom</PresentationFormat>
  <Paragraphs>245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Glacial Indifference Bold</vt:lpstr>
      <vt:lpstr>Arial</vt:lpstr>
      <vt:lpstr>Glacial Indifference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Hijau minimalis formal seminar proposal presentasi</dc:title>
  <dc:creator>PAUL WENNY</dc:creator>
  <cp:lastModifiedBy>faustinus rahangiar</cp:lastModifiedBy>
  <cp:revision>33</cp:revision>
  <dcterms:created xsi:type="dcterms:W3CDTF">2006-08-16T00:00:00Z</dcterms:created>
  <dcterms:modified xsi:type="dcterms:W3CDTF">2025-10-22T06:43:21Z</dcterms:modified>
  <dc:identifier>DAG2W5842iE</dc:identifier>
</cp:coreProperties>
</file>